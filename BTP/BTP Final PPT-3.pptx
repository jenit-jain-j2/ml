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rchivo Black" charset="1" panose="020B0A03020202020B04"/>
      <p:regular r:id="rId25"/>
    </p:embeddedFont>
    <p:embeddedFont>
      <p:font typeface="Garet Bold" charset="1" panose="00000000000000000000"/>
      <p:regular r:id="rId26"/>
    </p:embeddedFont>
    <p:embeddedFont>
      <p:font typeface="Garet" charset="1" panose="00000000000000000000"/>
      <p:regular r:id="rId27"/>
    </p:embeddedFont>
    <p:embeddedFont>
      <p:font typeface="Canva Sans Bold" charset="1" panose="020B08030305010401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afternoon everyone. We are Jay Kumar and Rishit Jaiswal, and today we are presenting the End Term Review of our B.Tech Project." </a:t>
            </a:r>
          </a:p>
          <a:p>
            <a:r>
              <a:rPr lang="en-US"/>
              <a:t/>
            </a:r>
          </a:p>
          <a:p>
            <a:r>
              <a:rPr lang="en-US"/>
              <a:t>"Our project is titled 'RTI Enhancement with CNN Post-Processing'." </a:t>
            </a:r>
          </a:p>
          <a:p>
            <a:r>
              <a:rPr lang="en-US"/>
              <a:t/>
            </a:r>
          </a:p>
          <a:p>
            <a:r>
              <a:rPr lang="en-US"/>
              <a:t>"We have been working under the supervision of Prof. Amartansh Dubey at the Indian Institute of Technology Delhi." </a:t>
            </a:r>
          </a:p>
          <a:p>
            <a:r>
              <a:rPr lang="en-US"/>
              <a:t/>
            </a:r>
          </a:p>
          <a:p>
            <a:r>
              <a:rPr lang="en-US"/>
              <a:t/>
            </a:r>
          </a:p>
          <a:p>
            <a:r>
              <a:rPr lang="en-US"/>
              <a:t>"The core objective of our work is to improve the image quality of Radio Tomographic Imaging systems by integrating deep learning techniques with classical electromagnetic solvers.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is the roadmap for our presentation today</a:t>
            </a:r>
          </a:p>
          <a:p>
            <a:r>
              <a:rPr lang="en-US"/>
              <a:t/>
            </a:r>
          </a:p>
          <a:p>
            <a:r>
              <a:rPr lang="en-US"/>
              <a:t>This is how we are going to proceed with the presentation today.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is RTI?: "So, what is Radio Tomographic Imaging? It is a device-free imaging technique. Unlike traditional tracking where a user wears a tag, RTI maps how physical objects attenuate wireless signals (like WiFi) in a network." </a:t>
            </a:r>
          </a:p>
          <a:p>
            <a:r>
              <a:rPr lang="en-US"/>
              <a:t/>
            </a:r>
          </a:p>
          <a:p>
            <a:r>
              <a:rPr lang="en-US"/>
              <a:t>Analogy: "Think of it conceptually like a CT scanner, but instead of using harmful X-rays, we use safe Radio-Frequency (RF) signals at 2.4 GHz."</a:t>
            </a:r>
          </a:p>
          <a:p>
            <a:r>
              <a:rPr lang="en-US"/>
              <a:t/>
            </a:r>
          </a:p>
          <a:p>
            <a:r>
              <a:rPr lang="en-US"/>
              <a:t>Mathematical Model: "To implement this, we use a Linear RTI Measurement Model." 12"</a:t>
            </a:r>
          </a:p>
          <a:p>
            <a:r>
              <a:rPr lang="en-US"/>
              <a:t>The received signal strength (RSS), denoted as $y_i(t)$, is the transmit power minus various losses: static path loss $L_i$, shadowing loss $S_i(t)$ (which is what we care about), fading $F_i(t)$, and noise $v_i(t)$." 13"</a:t>
            </a:r>
          </a:p>
          <a:p>
            <a:r>
              <a:rPr lang="en-US"/>
              <a:t>We model the shadowing $S_i(t)$ as a weighted sum of attenuation in discrete pixels, or voxels." </a:t>
            </a:r>
          </a:p>
          <a:p>
            <a:r>
              <a:rPr lang="en-US"/>
              <a:t/>
            </a:r>
          </a:p>
          <a:p>
            <a:r>
              <a:rPr lang="en-US"/>
              <a:t>The Imaging Equation: "By taking the difference in RSS measurements ($\Delta y$) over time, we eliminate static terms and arrive at the matrix form: $\Delta y = W \Delta x + n$." 15151515"</a:t>
            </a:r>
          </a:p>
          <a:p>
            <a:r>
              <a:rPr lang="en-US"/>
              <a:t>Here, $W$ is our weighting matrix based on the geometry, and $\Delta x$ is the image we are trying to solve for.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Motivation: "To train a Neural Network, we needed a large amount of clean ground-truth data, which is difficult to capture manually. Therefore, we built a rigorous Forward Simulation Code."</a:t>
            </a:r>
          </a:p>
          <a:p>
            <a:r>
              <a:rPr lang="en-US"/>
              <a:t/>
            </a:r>
          </a:p>
          <a:p>
            <a:r>
              <a:rPr lang="en-US"/>
              <a:t>Physics Setup: "We simulate 2D Electromagnetic scattering at 2.4 GHz ($\lambda \approx 0.125$ m). Our Domain of Interest (DOI) is a $3m \times 3m$ area discretized into 40,000 cells." </a:t>
            </a:r>
          </a:p>
          <a:p>
            <a:r>
              <a:rPr lang="en-US"/>
              <a:t/>
            </a:r>
          </a:p>
          <a:p>
            <a:r>
              <a:rPr lang="en-US"/>
              <a:t>The Object: "We place dielectric objects with a relative permittivity of $\epsilon_r^{obj} = 10+j1$ into free space." </a:t>
            </a:r>
          </a:p>
          <a:p>
            <a:r>
              <a:rPr lang="en-US"/>
              <a:t/>
            </a:r>
          </a:p>
          <a:p>
            <a:r>
              <a:rPr lang="en-US"/>
              <a:t>Field Computation: "We solve for the electric fields rigorously.</a:t>
            </a:r>
          </a:p>
          <a:p>
            <a:r>
              <a:rPr lang="en-US"/>
              <a:t>The Incident Field ($E_{inc}$) is calculated using Hankel functions ($H_0^{(1)}$)." 20"</a:t>
            </a:r>
          </a:p>
          <a:p>
            <a:r>
              <a:rPr lang="en-US"/>
              <a:t>The Total Field ($E_{tot}$) is the sum of the direct incident field and the scattered field produced by the object." </a:t>
            </a:r>
          </a:p>
          <a:p>
            <a:r>
              <a:rPr lang="en-US"/>
              <a:t/>
            </a:r>
          </a:p>
          <a:p>
            <a:r>
              <a:rPr lang="en-US"/>
              <a:t>Output: "Finally, we convert these electric fields into Power (dBm) to match the RSS measurements used in real hardware setups. This solver provides our 'Ground Truth' data." </a:t>
            </a:r>
          </a:p>
          <a:p>
            <a:r>
              <a:rPr lang="en-US"/>
              <a:t>---------</a:t>
            </a:r>
          </a:p>
          <a:p>
            <a:r>
              <a:rPr lang="en-US"/>
              <a:t/>
            </a:r>
          </a:p>
          <a:p>
            <a:r>
              <a:rPr lang="en-US"/>
              <a:t>Introduction to the Solver: "Moving on to our Forward Simulation Code. To train our Neural Network, we needed high-fidelity data that mimics real-world physics. We didn't want to rely on simple ray-tracing, so we implemented a rigorous 2D electromagnetic solver at 2.4 GHz." </a:t>
            </a:r>
          </a:p>
          <a:p>
            <a:r>
              <a:rPr lang="en-US"/>
              <a:t/>
            </a:r>
          </a:p>
          <a:p>
            <a:r>
              <a:rPr lang="en-US"/>
              <a:t>Modeling the Transmitter (The Hankel Function): "Let's look at how we calculate the Incident Field (E </a:t>
            </a:r>
          </a:p>
          <a:p>
            <a:r>
              <a:rPr lang="en-US"/>
              <a:t>inc</a:t>
            </a:r>
          </a:p>
          <a:p>
            <a:r>
              <a:rPr lang="en-US"/>
              <a:t>​</a:t>
            </a:r>
          </a:p>
          <a:p>
            <a:r>
              <a:rPr lang="en-US"/>
              <a:t> ).</a:t>
            </a:r>
          </a:p>
          <a:p>
            <a:r>
              <a:rPr lang="en-US"/>
              <a:t/>
            </a:r>
          </a:p>
          <a:p>
            <a:r>
              <a:rPr lang="en-US"/>
              <a:t>In a 2D environment, we model our wireless nodes as infinite line sources perpendicular to the plane.</a:t>
            </a:r>
          </a:p>
          <a:p>
            <a:r>
              <a:rPr lang="en-US"/>
              <a:t/>
            </a:r>
          </a:p>
          <a:p>
            <a:r>
              <a:rPr lang="en-US"/>
              <a:t>The solution to the wave equation for an outgoing cylindrical wave from a line source is given by the Hankel Function of the first kind, zeroth order, denoted here as H </a:t>
            </a:r>
          </a:p>
          <a:p>
            <a:r>
              <a:rPr lang="en-US"/>
              <a:t>0</a:t>
            </a:r>
          </a:p>
          <a:p>
            <a:r>
              <a:rPr lang="en-US"/>
              <a:t>(1)</a:t>
            </a:r>
          </a:p>
          <a:p>
            <a:r>
              <a:rPr lang="en-US"/>
              <a:t>​</a:t>
            </a:r>
          </a:p>
          <a:p>
            <a:r>
              <a:rPr lang="en-US"/>
              <a:t> .</a:t>
            </a:r>
          </a:p>
          <a:p>
            <a:r>
              <a:rPr lang="en-US"/>
              <a:t/>
            </a:r>
          </a:p>
          <a:p>
            <a:r>
              <a:rPr lang="en-US"/>
              <a:t>Physically, this function describes how the wave amplitude decays and the phase shifts as the signal travels distance r from the transmitter (Tx) to any pixel in the grid. It forms the 'baseline' signal in empty space."</a:t>
            </a:r>
          </a:p>
          <a:p>
            <a:r>
              <a:rPr lang="en-US"/>
              <a:t/>
            </a:r>
          </a:p>
          <a:p>
            <a:r>
              <a:rPr lang="en-US"/>
              <a:t>Calculating the Scattering (The Interaction): "When this incident wave hits our target object (which has a complex permittivity of 10+j1), it induces polarization currents inside the object's volume.</a:t>
            </a:r>
          </a:p>
          <a:p>
            <a:r>
              <a:rPr lang="en-US"/>
              <a:t/>
            </a:r>
          </a:p>
          <a:p>
            <a:r>
              <a:rPr lang="en-US"/>
              <a:t>We discretize the domain into 40,000 small cells.</a:t>
            </a:r>
          </a:p>
          <a:p>
            <a:r>
              <a:rPr lang="en-US"/>
              <a:t/>
            </a:r>
          </a:p>
          <a:p>
            <a:r>
              <a:rPr lang="en-US"/>
              <a:t>We then calculate the Scattered Field (E </a:t>
            </a:r>
          </a:p>
          <a:p>
            <a:r>
              <a:rPr lang="en-US"/>
              <a:t>s</a:t>
            </a:r>
          </a:p>
          <a:p>
            <a:r>
              <a:rPr lang="en-US"/>
              <a:t>​</a:t>
            </a:r>
          </a:p>
          <a:p>
            <a:r>
              <a:rPr lang="en-US"/>
              <a:t> ) at the receiver. This is done by treating every small cell inside the object as a secondary source of radiation.</a:t>
            </a:r>
          </a:p>
          <a:p>
            <a:r>
              <a:rPr lang="en-US"/>
              <a:t/>
            </a:r>
          </a:p>
          <a:p>
            <a:r>
              <a:rPr lang="en-US"/>
              <a:t>Mathematically, this is represented as E </a:t>
            </a:r>
          </a:p>
          <a:p>
            <a:r>
              <a:rPr lang="en-US"/>
              <a:t>s</a:t>
            </a:r>
          </a:p>
          <a:p>
            <a:r>
              <a:rPr lang="en-US"/>
              <a:t>​</a:t>
            </a:r>
          </a:p>
          <a:p>
            <a:r>
              <a:rPr lang="en-US"/>
              <a:t> =Z </a:t>
            </a:r>
          </a:p>
          <a:p>
            <a:r>
              <a:rPr lang="en-US"/>
              <a:t>Rx</a:t>
            </a:r>
          </a:p>
          <a:p>
            <a:r>
              <a:rPr lang="en-US"/>
              <a:t>​</a:t>
            </a:r>
          </a:p>
          <a:p>
            <a:r>
              <a:rPr lang="en-US"/>
              <a:t> J, where J is the induced current density and Z </a:t>
            </a:r>
          </a:p>
          <a:p>
            <a:r>
              <a:rPr lang="en-US"/>
              <a:t>Rx</a:t>
            </a:r>
          </a:p>
          <a:p>
            <a:r>
              <a:rPr lang="en-US"/>
              <a:t>​</a:t>
            </a:r>
          </a:p>
          <a:p>
            <a:r>
              <a:rPr lang="en-US"/>
              <a:t>  is the impedance matrix linking the object pixels to the receivers."</a:t>
            </a:r>
          </a:p>
          <a:p>
            <a:r>
              <a:rPr lang="en-US"/>
              <a:t/>
            </a:r>
          </a:p>
          <a:p>
            <a:r>
              <a:rPr lang="en-US"/>
              <a:t/>
            </a:r>
          </a:p>
          <a:p>
            <a:r>
              <a:rPr lang="en-US"/>
              <a:t>The Total Field &amp; RSS: "Finally, the receiver observes the Total Field (E </a:t>
            </a:r>
          </a:p>
          <a:p>
            <a:r>
              <a:rPr lang="en-US"/>
              <a:t>tot</a:t>
            </a:r>
          </a:p>
          <a:p>
            <a:r>
              <a:rPr lang="en-US"/>
              <a:t>​</a:t>
            </a:r>
          </a:p>
          <a:p>
            <a:r>
              <a:rPr lang="en-US"/>
              <a:t> ), which is the complex superposition of the direct Incident field and the Scattered field.</a:t>
            </a:r>
          </a:p>
          <a:p>
            <a:r>
              <a:rPr lang="en-US"/>
              <a:t/>
            </a:r>
          </a:p>
          <a:p>
            <a:r>
              <a:rPr lang="en-US"/>
              <a:t>This interference pattern is crucial—it captures the fading and diffraction effects that simple models miss.</a:t>
            </a:r>
          </a:p>
          <a:p>
            <a:r>
              <a:rPr lang="en-US"/>
              <a:t/>
            </a:r>
          </a:p>
          <a:p>
            <a:r>
              <a:rPr lang="en-US"/>
              <a:t>We convert this complex electric field magnitude into Power in dBm to match the RSSI format output by commercial WiFi chips, ensuring our synthetic data is compatible with real hardware."</a:t>
            </a:r>
          </a:p>
          <a:p>
            <a:r>
              <a:rPr lang="en-US"/>
              <a:t/>
            </a:r>
          </a:p>
          <a:p>
            <a:r>
              <a:rPr lang="en-US"/>
              <a:t>For Q&amp;A /:</a:t>
            </a:r>
          </a:p>
          <a:p>
            <a:r>
              <a:rPr lang="en-US"/>
              <a:t/>
            </a:r>
          </a:p>
          <a:p>
            <a:r>
              <a:rPr lang="en-US"/>
              <a:t>Why Hankel? "The Hankel function H </a:t>
            </a:r>
          </a:p>
          <a:p>
            <a:r>
              <a:rPr lang="en-US"/>
              <a:t>0</a:t>
            </a:r>
          </a:p>
          <a:p>
            <a:r>
              <a:rPr lang="en-US"/>
              <a:t>(1)</a:t>
            </a:r>
          </a:p>
          <a:p>
            <a:r>
              <a:rPr lang="en-US"/>
              <a:t>​</a:t>
            </a:r>
          </a:p>
          <a:p>
            <a:r>
              <a:rPr lang="en-US"/>
              <a:t> (kρ) is the Green’s Function for the 2D Helmholtz equation in free space. Since we are solving a scattering problem, we need the Green's function to propagate the field from the source to the scatterer, and from the scatterer to the receiver. H </a:t>
            </a:r>
          </a:p>
          <a:p>
            <a:r>
              <a:rPr lang="en-US"/>
              <a:t>0</a:t>
            </a:r>
          </a:p>
          <a:p>
            <a:r>
              <a:rPr lang="en-US"/>
              <a:t>(1)</a:t>
            </a:r>
          </a:p>
          <a:p>
            <a:r>
              <a:rPr lang="en-US"/>
              <a:t>​</a:t>
            </a:r>
          </a:p>
          <a:p>
            <a:r>
              <a:rPr lang="en-US"/>
              <a:t>  represents an outgoing traveling wave, satisfying the Sommerfeld radiation condition (meaning waves travel away from the source and don't reflect back from infinity)."</a:t>
            </a:r>
          </a:p>
          <a:p>
            <a:r>
              <a:rPr lang="en-US"/>
              <a:t/>
            </a:r>
          </a:p>
          <a:p>
            <a:r>
              <a:rPr lang="en-US"/>
              <a:t>Is this Method of Moments? "Yes, essentially. The equation E </a:t>
            </a:r>
          </a:p>
          <a:p>
            <a:r>
              <a:rPr lang="en-US"/>
              <a:t>s</a:t>
            </a:r>
          </a:p>
          <a:p>
            <a:r>
              <a:rPr lang="en-US"/>
              <a:t>​</a:t>
            </a:r>
          </a:p>
          <a:p>
            <a:r>
              <a:rPr lang="en-US"/>
              <a:t> =Z </a:t>
            </a:r>
          </a:p>
          <a:p>
            <a:r>
              <a:rPr lang="en-US"/>
              <a:t>Rx</a:t>
            </a:r>
          </a:p>
          <a:p>
            <a:r>
              <a:rPr lang="en-US"/>
              <a:t>​</a:t>
            </a:r>
          </a:p>
          <a:p>
            <a:r>
              <a:rPr lang="en-US"/>
              <a:t> J implies we are solving an integral equation where the domain is discretized (pulse basis functions) and we are summing the contributions of induced currents (point matching/testing). This is a standard 2D Method of Moments formulation with Born approximation or full inversion depending on how we solve for J."</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Speaker Notes:"Here we visualize the output of our forward solver." 23</a:t>
            </a:r>
          </a:p>
          <a:p>
            <a:r>
              <a:rPr lang="en-US"/>
              <a:t/>
            </a:r>
          </a:p>
          <a:p>
            <a:r>
              <a:rPr lang="en-US"/>
              <a:t>Left Image: "You can see the $3m \times 3m$ Domain of Interest. The red circle represents the scattering object, and the cyan dots along the boundary are our 20 wireless transceiver nodes." 24</a:t>
            </a:r>
          </a:p>
          <a:p>
            <a:r>
              <a:rPr lang="en-US"/>
              <a:t/>
            </a:r>
          </a:p>
          <a:p>
            <a:r>
              <a:rPr lang="en-US"/>
              <a:t>Right Image: "This plot shows the signal strength across the sensors.</a:t>
            </a:r>
          </a:p>
          <a:p>
            <a:r>
              <a:rPr lang="en-US"/>
              <a:t>The Red line is the Incident field (empty room).</a:t>
            </a:r>
          </a:p>
          <a:p>
            <a:r>
              <a:rPr lang="en-US"/>
              <a:t>The Blue line is the Total field (with object).</a:t>
            </a:r>
          </a:p>
          <a:p>
            <a:r>
              <a:rPr lang="en-US"/>
              <a:t>The deep dips in the blue line correspond to the 'shadowing' effect caused by the object blocking the link. This difference is exactly the data used to reconstruct the image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"Once we have the simulated RSS data, we need to reconstruct the image. This is the 'Inverse' problem." 26</a:t>
            </a:r>
          </a:p>
          <a:p>
            <a:r>
              <a:rPr lang="en-US"/>
              <a:t/>
            </a:r>
          </a:p>
          <a:p>
            <a:r>
              <a:rPr lang="en-US"/>
              <a:t>Geometry: "We use the same 20-node layout, resulting in 380 unique communication links ($20 \times 19$)." 27</a:t>
            </a:r>
          </a:p>
          <a:p>
            <a:r>
              <a:rPr lang="en-US"/>
              <a:t/>
            </a:r>
          </a:p>
          <a:p>
            <a:r>
              <a:rPr lang="en-US"/>
              <a:t>Reconstruction Grid: "We reconstruct the image on a coarser $60 \times 60$ pixel grid ($5cm$ resolution)." 28</a:t>
            </a:r>
          </a:p>
          <a:p>
            <a:r>
              <a:rPr lang="en-US"/>
              <a:t/>
            </a:r>
          </a:p>
          <a:p>
            <a:r>
              <a:rPr lang="en-US"/>
              <a:t>The Algorithm: "We solve the linear equation $P_{ryt} \approx F_{RTI}o$." 29"</a:t>
            </a:r>
          </a:p>
          <a:p>
            <a:r>
              <a:rPr lang="en-US"/>
              <a:t/>
            </a:r>
          </a:p>
          <a:p>
            <a:r>
              <a:rPr lang="en-US"/>
              <a:t>Because this problem is ill-posed, we use Ridge Regression with a regularization parameter $\alpha=100$." 30"</a:t>
            </a:r>
          </a:p>
          <a:p>
            <a:r>
              <a:rPr lang="en-US"/>
              <a:t/>
            </a:r>
          </a:p>
          <a:p>
            <a:r>
              <a:rPr lang="en-US"/>
              <a:t>The solution, $o^* = (F^T F + \alpha I)^{-1} F^T P_{ryt}$, gives us the baseline attenuation map." 31</a:t>
            </a:r>
          </a:p>
          <a:p>
            <a:r>
              <a:rPr lang="en-US"/>
              <a:t/>
            </a:r>
          </a:p>
          <a:p>
            <a:r>
              <a:rPr lang="en-US"/>
              <a:t>The image you see on the bottom left is the output of this classical method. It is blurry and noisy. This specific image serves as the input to our CNN, which we task with cleaning it up."</a:t>
            </a:r>
          </a:p>
          <a:p>
            <a:r>
              <a:rPr lang="en-US"/>
              <a:t/>
            </a:r>
          </a:p>
          <a:p>
            <a:r>
              <a:rPr lang="en-US"/>
              <a:t>--------</a:t>
            </a:r>
          </a:p>
          <a:p>
            <a:r>
              <a:rPr lang="en-US"/>
              <a:t/>
            </a:r>
          </a:p>
          <a:p>
            <a:r>
              <a:rPr lang="en-US"/>
              <a:t>Introduction to the Inverse Problem:"Now that we have the simulated signal data, we face the Inverse Problem: How do we turn these signal measurements back into an image of the object?We set up a grid of $60 \times 60$ pixels, meaning we have 3,600 unknown values ($o$) to solve for1111. However, we only have 380 measurements (links) from our 20 sensors2. This makes the problem mathematically 'ill-posed' or underdetermined."</a:t>
            </a:r>
          </a:p>
          <a:p>
            <a:r>
              <a:rPr lang="en-US"/>
              <a:t/>
            </a:r>
          </a:p>
          <a:p>
            <a:r>
              <a:rPr lang="en-US"/>
              <a:t>Step 1: The Measurement Vector ($P_{ryt}$)"First, we construct our measurement vector, which we call $P_{ryt}$.The equation is:$$P_{ryt} = -(P_{tot} - P_{inc})$$$P_{tot}$ is the received power with the object, and $P_{inc}$ is the power in empty space3.</a:t>
            </a:r>
          </a:p>
          <a:p>
            <a:r>
              <a:rPr lang="en-US"/>
              <a:t/>
            </a:r>
          </a:p>
          <a:p>
            <a:r>
              <a:rPr lang="en-US"/>
              <a:t>Why the negative sign? Because an object blocks signals, $P_{tot}$ is usually lower than $P_{inc}$, making the difference negative. We multiply by $-1$ to convert this 'loss' into a positive 'attenuation' value that we can map4.</a:t>
            </a:r>
          </a:p>
          <a:p>
            <a:r>
              <a:rPr lang="en-US"/>
              <a:t/>
            </a:r>
          </a:p>
          <a:p>
            <a:r>
              <a:rPr lang="en-US"/>
              <a:t>This gives us a column vector $\Delta y$ of size $380 \times 1$5."</a:t>
            </a:r>
          </a:p>
          <a:p>
            <a:r>
              <a:rPr lang="en-US"/>
              <a:t/>
            </a:r>
          </a:p>
          <a:p>
            <a:r>
              <a:rPr lang="en-US"/>
              <a:t>Step 2: The Imaging Equation"We model the relationship between the measurements and the image linearly:$$P_{ryt} \approx F_{RTI} o + n$$$o$: </a:t>
            </a:r>
          </a:p>
          <a:p>
            <a:r>
              <a:rPr lang="en-US"/>
              <a:t>This is our unknown image, flattened into a vector of length 3,600.</a:t>
            </a:r>
          </a:p>
          <a:p>
            <a:r>
              <a:rPr lang="en-US"/>
              <a:t/>
            </a:r>
          </a:p>
          <a:p>
            <a:r>
              <a:rPr lang="en-US"/>
              <a:t>$F_{RTI}$: This is the Weighting Matrix (or Sensitivity Matrix). It describes which pixels affect which link. If a link physically passes through a specific pixel, that entry in $F$ is non-zero.</a:t>
            </a:r>
          </a:p>
          <a:p>
            <a:r>
              <a:rPr lang="en-US"/>
              <a:t/>
            </a:r>
          </a:p>
          <a:p>
            <a:r>
              <a:rPr lang="en-US"/>
              <a:t>$n$: This represents noise and modeling errors7."</a:t>
            </a:r>
          </a:p>
          <a:p>
            <a:r>
              <a:rPr lang="en-US"/>
              <a:t/>
            </a:r>
          </a:p>
          <a:p>
            <a:r>
              <a:rPr lang="en-US"/>
              <a:t>Step 3: The Solution (Ridge Regression)"Because we have fewer equations (380) than unknowns (3,600), we cannot simply invert matrix $F$. The system is unstable.To solve this, we use Ridge Regression8.</a:t>
            </a:r>
          </a:p>
          <a:p>
            <a:r>
              <a:rPr lang="en-US"/>
              <a:t/>
            </a:r>
          </a:p>
          <a:p>
            <a:r>
              <a:rPr lang="en-US"/>
              <a:t>The closed-form solution we implemented is:$$o^* = (F^T F + \alpha I)^{-1} F^T P_{ryt}$$</a:t>
            </a:r>
          </a:p>
          <a:p>
            <a:r>
              <a:rPr lang="en-US"/>
              <a:t>Let me break this down9:</a:t>
            </a:r>
          </a:p>
          <a:p>
            <a:r>
              <a:rPr lang="en-US"/>
              <a:t/>
            </a:r>
          </a:p>
          <a:p>
            <a:r>
              <a:rPr lang="en-US"/>
              <a:t>$F^T P_{ryt}$: This is a 'back-projection' step. It smears the measurement data back across the links.</a:t>
            </a:r>
          </a:p>
          <a:p>
            <a:r>
              <a:rPr lang="en-US"/>
              <a:t/>
            </a:r>
          </a:p>
          <a:p>
            <a:r>
              <a:rPr lang="en-US"/>
              <a:t>$F^T F$: This is the Gram matrix, representing the correlation between different pixels.</a:t>
            </a:r>
          </a:p>
          <a:p>
            <a:r>
              <a:rPr lang="en-US"/>
              <a:t/>
            </a:r>
          </a:p>
          <a:p>
            <a:r>
              <a:rPr lang="en-US"/>
              <a:t>$+ \alpha I$: This is the critical regularization term. By adding a small value ($\alpha=100$) to the diagonal, we make the matrix invertible and smooth out the noise10. Without this, the image would be pure static."</a:t>
            </a:r>
          </a:p>
          <a:p>
            <a:r>
              <a:rPr lang="en-US"/>
              <a:t/>
            </a:r>
          </a:p>
          <a:p>
            <a:r>
              <a:rPr lang="en-US"/>
              <a:t>Step 4: Physical Constraints"Finally, physics dictates that an object cannot have 'negative' opacity.So, we apply a projection constraint:$$o^*(o^* &lt; 0) = 0$$</a:t>
            </a:r>
          </a:p>
          <a:p>
            <a:r>
              <a:rPr lang="en-US"/>
              <a:t>Any pixel calculated as negative is forced to zero11.</a:t>
            </a:r>
          </a:p>
          <a:p>
            <a:r>
              <a:rPr lang="en-US"/>
              <a:t>The result is the image you see on the bottom right—a blurry but localized estimation of the object. This blurry image ($X_{hat}$) becomes the input for our Neural Network</a:t>
            </a:r>
          </a:p>
          <a:p>
            <a:r>
              <a:rPr lang="en-US"/>
              <a:t/>
            </a:r>
          </a:p>
          <a:p>
            <a:r>
              <a:rPr lang="en-US"/>
              <a:t>Q: Why did you choose Ridge Regression over TV (Total Variation) regularization?</a:t>
            </a:r>
          </a:p>
          <a:p>
            <a:r>
              <a:rPr lang="en-US"/>
              <a:t>A: "We actually explored TV regularization using the TVAL3 algorithm, which is excellent for piecewise-smooth images13. However, TV solvers are iterative and computationally slower. Ridge regression offers a closed-form solution14, which is much faster to compute. Since our goal was to generate thousands of samples for training a deep learning model, the speed of Ridge regression was preferred. We rely on the U-Net to recover the sharp edges that Ridge regression smooths out."</a:t>
            </a:r>
          </a:p>
          <a:p>
            <a:r>
              <a:rPr lang="en-US"/>
              <a:t/>
            </a:r>
          </a:p>
          <a:p>
            <a:r>
              <a:rPr lang="en-US"/>
              <a:t>Q: What is the dimensionality of $F_{RTI}$?</a:t>
            </a:r>
          </a:p>
          <a:p>
            <a:r>
              <a:rPr lang="en-US"/>
              <a:t>A: "$F_{RTI}$ is a $380 \times 3600$ matrix. It maps the 3,600 image pixels to the 380 sensor links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Deep learning requires massive amounts of paired data. We automated this using a custom pipeline." 33</a:t>
            </a:r>
          </a:p>
          <a:p>
            <a:r>
              <a:rPr lang="en-US"/>
              <a:t/>
            </a:r>
          </a:p>
          <a:p>
            <a:r>
              <a:rPr lang="en-US"/>
              <a:t>Randomization: "We wrote a script to generate random objects—circles, ellipses, and rectangles— with random sizes, centers, and rotations." </a:t>
            </a:r>
          </a:p>
          <a:p>
            <a:r>
              <a:rPr lang="en-US"/>
              <a:t/>
            </a:r>
          </a:p>
          <a:p>
            <a:r>
              <a:rPr lang="en-US"/>
              <a:t>The Loop: "For each random sample (we generated 1,000 total):</a:t>
            </a:r>
          </a:p>
          <a:p>
            <a:r>
              <a:rPr lang="en-US"/>
              <a:t/>
            </a:r>
          </a:p>
          <a:p>
            <a:r>
              <a:rPr lang="en-US"/>
              <a:t>We run the Forward Simulation to get accurate physics-based RSS data." 35"</a:t>
            </a:r>
          </a:p>
          <a:p>
            <a:r>
              <a:rPr lang="en-US"/>
              <a:t/>
            </a:r>
          </a:p>
          <a:p>
            <a:r>
              <a:rPr lang="en-US"/>
              <a:t>We run the Inverse Solver to get the noisy 'Ridge' reconstruction ($X_{hat}$)." 36"</a:t>
            </a:r>
          </a:p>
          <a:p>
            <a:r>
              <a:rPr lang="en-US"/>
              <a:t/>
            </a:r>
          </a:p>
          <a:p>
            <a:r>
              <a:rPr lang="en-US"/>
              <a:t>We generate a binary Ground Truth mask ($X_{gt}$) that aligns perfectly with the grid." 37</a:t>
            </a:r>
          </a:p>
          <a:p>
            <a:r>
              <a:rPr lang="en-US"/>
              <a:t/>
            </a:r>
          </a:p>
          <a:p>
            <a:r>
              <a:rPr lang="en-US"/>
              <a:t>Result: "We save these pairs ($X_{hat}, X_{gt}$) to train our U-Net to map the noisy input to the clean ground truth.</a:t>
            </a:r>
          </a:p>
          <a:p>
            <a:r>
              <a:rPr lang="en-US"/>
              <a:t/>
            </a:r>
          </a:p>
          <a:p>
            <a:r>
              <a:rPr lang="en-US"/>
              <a:t>We have mentioned the step by step process we followed in this 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visualizes a single sample from our generated dataset to show you the quality of the data." 39</a:t>
            </a:r>
          </a:p>
          <a:p>
            <a:r>
              <a:rPr lang="en-US"/>
              <a:t/>
            </a:r>
          </a:p>
          <a:p>
            <a:r>
              <a:rPr lang="en-US"/>
              <a:t>Left ($X_{GT}$): "This is the Ground Truth. A clean, sharp circular object." 40</a:t>
            </a:r>
          </a:p>
          <a:p>
            <a:r>
              <a:rPr lang="en-US"/>
              <a:t/>
            </a:r>
          </a:p>
          <a:p>
            <a:r>
              <a:rPr lang="en-US"/>
              <a:t>Middle ($X_{hat}$): "This is the Ridge Reconstruction—the input to our network. Notice the 'starburst' artifacts and the noise throughout the domain. This is typical of linear RTI inversions." 41</a:t>
            </a:r>
          </a:p>
          <a:p>
            <a:r>
              <a:rPr lang="en-US"/>
              <a:t/>
            </a:r>
          </a:p>
          <a:p>
            <a:r>
              <a:rPr lang="en-US"/>
              <a:t>Right ($|X_{hat} - X_{GT}|$): "This shows the error. The goal of our Neural Network is to minimize this difference." 42"</a:t>
            </a:r>
          </a:p>
          <a:p>
            <a:r>
              <a:rPr lang="en-US"/>
              <a:t/>
            </a:r>
          </a:p>
          <a:p>
            <a:r>
              <a:rPr lang="en-US"/>
              <a:t>We generated these plots for every sample to verify that the interpolation and physics were correct before training."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are more examples showing the diversity of our dataset."</a:t>
            </a:r>
          </a:p>
          <a:p>
            <a:r>
              <a:rPr lang="en-US"/>
              <a:t/>
            </a:r>
          </a:p>
          <a:p>
            <a:r>
              <a:rPr lang="en-US"/>
              <a:t>"We included not just circles, but also ellipse and rectangles (as seen in the top row) and different orientations (as seen in the bottom row)." </a:t>
            </a:r>
          </a:p>
          <a:p>
            <a:r>
              <a:rPr lang="en-US"/>
              <a:t/>
            </a:r>
          </a:p>
          <a:p>
            <a:r>
              <a:rPr lang="en-US"/>
              <a:t>"You can clearly see that the classical Ridge method (middle column) always struggles with sharp edges and produces significant background noise."</a:t>
            </a:r>
          </a:p>
          <a:p>
            <a:r>
              <a:rPr lang="en-US"/>
              <a:t/>
            </a:r>
          </a:p>
          <a:p>
            <a:r>
              <a:rPr lang="en-US"/>
              <a:t>"By training on these diverse shapes, we ensure our U-Net doesn't just memorize 'circles', but actually learns to de-noise and localize attenuation patterns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Intro</a:t>
            </a:r>
          </a:p>
          <a:p>
            <a:r>
              <a:rPr lang="en-US"/>
              <a:t/>
            </a:r>
          </a:p>
          <a:p>
            <a:r>
              <a:rPr lang="en-US"/>
              <a:t>“Here I’ll explain how we train our U-Net to clean up RTI reconstructions.”</a:t>
            </a:r>
          </a:p>
          <a:p>
            <a:r>
              <a:rPr lang="en-US"/>
              <a:t/>
            </a:r>
          </a:p>
          <a:p>
            <a:r>
              <a:rPr lang="en-US"/>
              <a:t>1. Problem Setup</a:t>
            </a:r>
          </a:p>
          <a:p>
            <a:r>
              <a:rPr lang="en-US"/>
              <a:t/>
            </a:r>
          </a:p>
          <a:p>
            <a:r>
              <a:rPr lang="en-US"/>
              <a:t>“Input is the classical RTI image Xhat (60×60, real-valued, blurry).”</a:t>
            </a:r>
          </a:p>
          <a:p>
            <a:r>
              <a:rPr lang="en-US"/>
              <a:t/>
            </a:r>
          </a:p>
          <a:p>
            <a:r>
              <a:rPr lang="en-US"/>
              <a:t>“Target is a binary mask XGT</a:t>
            </a:r>
          </a:p>
          <a:p>
            <a:r>
              <a:rPr lang="en-US"/>
              <a:t>​</a:t>
            </a:r>
          </a:p>
          <a:p>
            <a:r>
              <a:rPr lang="en-US"/>
              <a:t/>
            </a:r>
          </a:p>
          <a:p>
            <a:r>
              <a:rPr lang="en-US"/>
              <a:t> (0/1), showing where the object actually is.”</a:t>
            </a:r>
          </a:p>
          <a:p>
            <a:r>
              <a:rPr lang="en-US"/>
              <a:t/>
            </a:r>
          </a:p>
          <a:p>
            <a:r>
              <a:rPr lang="en-US"/>
              <a:t>“So the U-Net learns a mapping ftheta: Xhat-&gt;Xpred</a:t>
            </a:r>
          </a:p>
          <a:p>
            <a:r>
              <a:rPr lang="en-US"/>
              <a:t>​</a:t>
            </a:r>
          </a:p>
          <a:p>
            <a:r>
              <a:rPr lang="en-US"/>
              <a:t/>
            </a:r>
          </a:p>
          <a:p>
            <a:r>
              <a:rPr lang="en-US"/>
              <a:t>, treating this as a 2D segmentation / denoising task.”</a:t>
            </a:r>
          </a:p>
          <a:p>
            <a:r>
              <a:rPr lang="en-US"/>
              <a:t/>
            </a:r>
          </a:p>
          <a:p>
            <a:r>
              <a:rPr lang="en-US"/>
              <a:t>2. Dataset &amp; Pre-processing</a:t>
            </a:r>
          </a:p>
          <a:p>
            <a:r>
              <a:rPr lang="en-US"/>
              <a:t/>
            </a:r>
          </a:p>
          <a:p>
            <a:r>
              <a:rPr lang="en-US"/>
              <a:t>“We generate about 1000 synthetic samples, each storing Xhat and Xgt.”</a:t>
            </a:r>
          </a:p>
          <a:p>
            <a:r>
              <a:rPr lang="en-US"/>
              <a:t/>
            </a:r>
          </a:p>
          <a:p>
            <a:r>
              <a:rPr lang="en-US"/>
              <a:t>“For each sample, we normalize the RTI image to [0,1] using the 0.5th–99.5th percentiles to remove outliers.”</a:t>
            </a:r>
          </a:p>
          <a:p>
            <a:r>
              <a:rPr lang="en-US"/>
              <a:t/>
            </a:r>
          </a:p>
          <a:p>
            <a:r>
              <a:rPr lang="en-US"/>
              <a:t>“We use a fixed 80/10/10 train–val–test split, saved in split_indices.json for reproducibility.”</a:t>
            </a:r>
          </a:p>
          <a:p>
            <a:r>
              <a:rPr lang="en-US"/>
              <a:t/>
            </a:r>
          </a:p>
          <a:p>
            <a:r>
              <a:rPr lang="en-US"/>
              <a:t>“On the training set, we apply flips and 90° rotations to both input and target to increase data and improve generalization.”</a:t>
            </a:r>
          </a:p>
          <a:p>
            <a:r>
              <a:rPr lang="en-US"/>
              <a:t/>
            </a:r>
          </a:p>
          <a:p>
            <a:r>
              <a:rPr lang="en-US"/>
              <a:t>3. U-Net Architecture (UNetSmall)</a:t>
            </a:r>
          </a:p>
          <a:p>
            <a:r>
              <a:rPr lang="en-US"/>
              <a:t/>
            </a:r>
          </a:p>
          <a:p>
            <a:r>
              <a:rPr lang="en-US"/>
              <a:t>“We use a lightweight U-Net with 3 encoder and 3 decoder levels.”</a:t>
            </a:r>
          </a:p>
          <a:p>
            <a:r>
              <a:rPr lang="en-US"/>
              <a:t/>
            </a:r>
          </a:p>
          <a:p>
            <a:r>
              <a:rPr lang="en-US"/>
              <a:t>2. Encoder (downward path)</a:t>
            </a:r>
          </a:p>
          <a:p>
            <a:r>
              <a:rPr lang="en-US"/>
              <a:t/>
            </a:r>
          </a:p>
          <a:p>
            <a:r>
              <a:rPr lang="en-US"/>
              <a:t>In U-Net for images:</a:t>
            </a:r>
          </a:p>
          <a:p>
            <a:r>
              <a:rPr lang="en-US"/>
              <a:t/>
            </a:r>
          </a:p>
          <a:p>
            <a:r>
              <a:rPr lang="en-US"/>
              <a:t>Input: 60×60 image.</a:t>
            </a:r>
          </a:p>
          <a:p>
            <a:r>
              <a:rPr lang="en-US"/>
              <a:t/>
            </a:r>
          </a:p>
          <a:p>
            <a:r>
              <a:rPr lang="en-US"/>
              <a:t>The encoder:</a:t>
            </a:r>
          </a:p>
          <a:p>
            <a:r>
              <a:rPr lang="en-US"/>
              <a:t/>
            </a:r>
          </a:p>
          <a:p>
            <a:r>
              <a:rPr lang="en-US"/>
              <a:t>Applies conv layers → learns local patterns (edges, blobs, shapes).</a:t>
            </a:r>
          </a:p>
          <a:p>
            <a:r>
              <a:rPr lang="en-US"/>
              <a:t/>
            </a:r>
          </a:p>
          <a:p>
            <a:r>
              <a:rPr lang="en-US"/>
              <a:t>Uses max-pooling / strided conv → halves height and width each time.</a:t>
            </a:r>
          </a:p>
          <a:p>
            <a:r>
              <a:rPr lang="en-US"/>
              <a:t/>
            </a:r>
          </a:p>
          <a:p>
            <a:r>
              <a:rPr lang="en-US"/>
              <a:t>As we go down:</a:t>
            </a:r>
          </a:p>
          <a:p>
            <a:r>
              <a:rPr lang="en-US"/>
              <a:t/>
            </a:r>
          </a:p>
          <a:p>
            <a:r>
              <a:rPr lang="en-US"/>
              <a:t>Spatial size ↓ (60×60 → 30×30 → 15×15 …)</a:t>
            </a:r>
          </a:p>
          <a:p>
            <a:r>
              <a:rPr lang="en-US"/>
              <a:t/>
            </a:r>
          </a:p>
          <a:p>
            <a:r>
              <a:rPr lang="en-US"/>
              <a:t>Number of channels ↑ (1 → 64 → 128 → 256 …)</a:t>
            </a:r>
          </a:p>
          <a:p>
            <a:r>
              <a:rPr lang="en-US"/>
              <a:t/>
            </a:r>
          </a:p>
          <a:p>
            <a:r>
              <a:rPr lang="en-US"/>
              <a:t>So the encoder turns the big image into a small but rich feature representation that captures “what is where” in a compressed form.</a:t>
            </a:r>
          </a:p>
          <a:p>
            <a:r>
              <a:rPr lang="en-US"/>
              <a:t/>
            </a:r>
          </a:p>
          <a:p>
            <a:r>
              <a:rPr lang="en-US"/>
              <a:t/>
            </a:r>
          </a:p>
          <a:p>
            <a:r>
              <a:rPr lang="en-US"/>
              <a:t/>
            </a:r>
          </a:p>
          <a:p>
            <a:r>
              <a:rPr lang="en-US"/>
              <a:t>3. Decoder (upward path)</a:t>
            </a:r>
          </a:p>
          <a:p>
            <a:r>
              <a:rPr lang="en-US"/>
              <a:t/>
            </a:r>
          </a:p>
          <a:p>
            <a:r>
              <a:rPr lang="en-US"/>
              <a:t>Now we want an output image (same size as input), e.g. a segmentation mask.</a:t>
            </a:r>
          </a:p>
          <a:p>
            <a:r>
              <a:rPr lang="en-US"/>
              <a:t/>
            </a:r>
          </a:p>
          <a:p>
            <a:r>
              <a:rPr lang="en-US"/>
              <a:t>The decoder:</a:t>
            </a:r>
          </a:p>
          <a:p>
            <a:r>
              <a:rPr lang="en-US"/>
              <a:t/>
            </a:r>
          </a:p>
          <a:p>
            <a:r>
              <a:rPr lang="en-US"/>
              <a:t>Uses upsampling / transpose conv to increase size</a:t>
            </a:r>
          </a:p>
          <a:p>
            <a:r>
              <a:rPr lang="en-US"/>
              <a:t>(15×15 → 30×30 → 60×60).</a:t>
            </a:r>
          </a:p>
          <a:p>
            <a:r>
              <a:rPr lang="en-US"/>
              <a:t/>
            </a:r>
          </a:p>
          <a:p>
            <a:r>
              <a:rPr lang="en-US"/>
              <a:t>Combines this with encoder features (skip connections in U-Net).</a:t>
            </a:r>
          </a:p>
          <a:p>
            <a:r>
              <a:rPr lang="en-US"/>
              <a:t/>
            </a:r>
          </a:p>
          <a:p>
            <a:r>
              <a:rPr lang="en-US"/>
              <a:t>Applies conv layers to refine.</a:t>
            </a:r>
          </a:p>
          <a:p>
            <a:r>
              <a:rPr lang="en-US"/>
              <a:t/>
            </a:r>
          </a:p>
          <a:p>
            <a:r>
              <a:rPr lang="en-US"/>
              <a:t>As we go up:</a:t>
            </a:r>
          </a:p>
          <a:p>
            <a:r>
              <a:rPr lang="en-US"/>
              <a:t/>
            </a:r>
          </a:p>
          <a:p>
            <a:r>
              <a:rPr lang="en-US"/>
              <a:t>Spatial size ↑,</a:t>
            </a:r>
          </a:p>
          <a:p>
            <a:r>
              <a:rPr lang="en-US"/>
              <a:t/>
            </a:r>
          </a:p>
          <a:p>
            <a:r>
              <a:rPr lang="en-US"/>
              <a:t>Channels ↓,</a:t>
            </a:r>
          </a:p>
          <a:p>
            <a:r>
              <a:rPr lang="en-US"/>
              <a:t/>
            </a:r>
          </a:p>
          <a:p>
            <a:r>
              <a:rPr lang="en-US"/>
              <a:t>until we get back to a 60×60, 1-channel output (probability at each pixel).</a:t>
            </a:r>
          </a:p>
          <a:p>
            <a:r>
              <a:rPr lang="en-US"/>
              <a:t/>
            </a:r>
          </a:p>
          <a:p>
            <a:r>
              <a:rPr lang="en-US"/>
              <a:t/>
            </a:r>
          </a:p>
          <a:p>
            <a:r>
              <a:rPr lang="en-US"/>
              <a:t>4. Loss: BCE + Dice</a:t>
            </a:r>
          </a:p>
          <a:p>
            <a:r>
              <a:rPr lang="en-US"/>
              <a:t/>
            </a:r>
          </a:p>
          <a:p>
            <a:r>
              <a:rPr lang="en-US"/>
              <a:t>“The network outputs logits </a:t>
            </a:r>
          </a:p>
          <a:p>
            <a:r>
              <a:rPr lang="en-US"/>
              <a:t>𝑧</a:t>
            </a:r>
          </a:p>
          <a:p>
            <a:r>
              <a:rPr lang="en-US"/>
              <a:t>z; we apply a sigmoid inside the loss to get probabilities.”</a:t>
            </a:r>
          </a:p>
          <a:p>
            <a:r>
              <a:rPr lang="en-US"/>
              <a:t/>
            </a:r>
          </a:p>
          <a:p>
            <a:r>
              <a:rPr lang="en-US"/>
              <a:t>“Total loss = BCEWithLogits + 0.5 × Dice loss.”</a:t>
            </a:r>
          </a:p>
          <a:p>
            <a:r>
              <a:rPr lang="en-US"/>
              <a:t/>
            </a:r>
          </a:p>
          <a:p>
            <a:r>
              <a:rPr lang="en-US"/>
              <a:t>“BCE gives accurate per-pixel classification, and Dice focuses on overlap and handles the strong class imbalance between object and background.”</a:t>
            </a:r>
          </a:p>
          <a:p>
            <a:r>
              <a:rPr lang="en-US"/>
              <a:t/>
            </a:r>
          </a:p>
          <a:p>
            <a:r>
              <a:rPr lang="en-US"/>
              <a:t>“Together, this setup lets the U-Net turn noisy RTI reconstructions into clean, well-localized object masks.”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Training Strategy (left)</a:t>
            </a:r>
          </a:p>
          <a:p>
            <a:r>
              <a:rPr lang="en-US"/>
              <a:t/>
            </a:r>
          </a:p>
          <a:p>
            <a:r>
              <a:rPr lang="en-US"/>
              <a:t>“We train the U-Net in PyTorch using the Adam optimizer with learning rate 10^-3</a:t>
            </a:r>
          </a:p>
          <a:p>
            <a:r>
              <a:rPr lang="en-US"/>
              <a:t/>
            </a:r>
          </a:p>
          <a:p>
            <a:r>
              <a:rPr lang="en-US"/>
              <a:t> and a small weight decay 10^^-5</a:t>
            </a:r>
          </a:p>
          <a:p>
            <a:r>
              <a:rPr lang="en-US"/>
              <a:t/>
            </a:r>
          </a:p>
          <a:p>
            <a:r>
              <a:rPr lang="en-US"/>
              <a:t> to avoid overfitting.</a:t>
            </a:r>
          </a:p>
          <a:p>
            <a:r>
              <a:rPr lang="en-US"/>
              <a:t>We use batch size 16, train for up to 50 epochs, and the script automatically uses GPU if available, otherwise CPU.</a:t>
            </a:r>
          </a:p>
          <a:p>
            <a:r>
              <a:rPr lang="en-US"/>
              <a:t/>
            </a:r>
          </a:p>
          <a:p>
            <a:r>
              <a:rPr lang="en-US"/>
              <a:t>After every epoch we evaluate on a validation set and compute PSNR and SSIM between the prediction and the ground-truth mask.</a:t>
            </a:r>
          </a:p>
          <a:p>
            <a:r>
              <a:rPr lang="en-US"/>
              <a:t>PSNR measures pixel-wise error; SSIM measures how similar the structure and shape are.</a:t>
            </a:r>
          </a:p>
          <a:p>
            <a:r>
              <a:rPr lang="en-US"/>
              <a:t/>
            </a:r>
          </a:p>
          <a:p>
            <a:r>
              <a:rPr lang="en-US"/>
              <a:t>To pick the best model we define a combined validation score:</a:t>
            </a:r>
          </a:p>
          <a:p>
            <a:r>
              <a:rPr lang="en-US"/>
              <a:t/>
            </a:r>
          </a:p>
          <a:p>
            <a:r>
              <a:rPr lang="en-US"/>
              <a:t/>
            </a:r>
          </a:p>
          <a:p>
            <a:r>
              <a:rPr lang="en-US"/>
              <a:t>Scaling SSIM by 10 puts it on the same scale as PSNR, so this single score balances fidelity and structural similarity.</a:t>
            </a:r>
          </a:p>
          <a:p>
            <a:r>
              <a:rPr lang="en-US"/>
              <a:t>Whenever this score improves, we save a checkpoint best_unet_small.pth.</a:t>
            </a:r>
          </a:p>
          <a:p>
            <a:r>
              <a:rPr lang="en-US"/>
              <a:t>Our best model reaches a score of about 35.76, corresponding to PSNR ≈ 26.8 dB and SSIM ≈ 0.886, which indicates reasonably accurate and structurally faithful reconstructions.”</a:t>
            </a:r>
          </a:p>
          <a:p>
            <a:r>
              <a:rPr lang="en-US"/>
              <a:t/>
            </a:r>
          </a:p>
          <a:p>
            <a:r>
              <a:rPr lang="en-US"/>
              <a:t>“For testing, we load this best checkpoint and evaluate it on the held-out test set, again reporting average PSNR and SSIM.</a:t>
            </a:r>
          </a:p>
          <a:p>
            <a:r>
              <a:rPr lang="en-US"/>
              <a:t/>
            </a:r>
          </a:p>
          <a:p>
            <a:r>
              <a:rPr lang="en-US"/>
              <a:t>For each test image the pipeline is:</a:t>
            </a:r>
          </a:p>
          <a:p>
            <a:r>
              <a:rPr lang="en-US"/>
              <a:t/>
            </a:r>
          </a:p>
          <a:p>
            <a:r>
              <a:rPr lang="en-US"/>
              <a:t>Run the U-Net to get a probability map via sigmoid.</a:t>
            </a:r>
          </a:p>
          <a:p>
            <a:r>
              <a:rPr lang="en-US"/>
              <a:t/>
            </a:r>
          </a:p>
          <a:p>
            <a:r>
              <a:rPr lang="en-US"/>
              <a:t>Threshold it (e.g. </a:t>
            </a:r>
          </a:p>
          <a:p>
            <a:r>
              <a:rPr lang="en-US"/>
              <a:t/>
            </a:r>
          </a:p>
          <a:p>
            <a:r>
              <a:rPr lang="en-US"/>
              <a:t>p≥0.35) to get a binary mask.</a:t>
            </a:r>
          </a:p>
          <a:p>
            <a:r>
              <a:rPr lang="en-US"/>
              <a:t/>
            </a:r>
          </a:p>
          <a:p>
            <a:r>
              <a:rPr lang="en-US"/>
              <a:t>Apply simple morphological cleanup—opening, closing, hole filling.</a:t>
            </a:r>
          </a:p>
          <a:p>
            <a:r>
              <a:rPr lang="en-US"/>
              <a:t/>
            </a:r>
          </a:p>
          <a:p>
            <a:r>
              <a:rPr lang="en-US"/>
              <a:t>Keep only the largest connected component to remove tiny noisy blobs.</a:t>
            </a:r>
          </a:p>
          <a:p>
            <a:r>
              <a:rPr lang="en-US"/>
              <a:t/>
            </a:r>
          </a:p>
          <a:p>
            <a:r>
              <a:rPr lang="en-US"/>
              <a:t>Save side-by-side images: classical RTI  xhat</a:t>
            </a:r>
          </a:p>
          <a:p>
            <a:r>
              <a:rPr lang="en-US"/>
              <a:t>	​</a:t>
            </a:r>
          </a:p>
          <a:p>
            <a:r>
              <a:rPr lang="en-US"/>
              <a:t>U-Net prediction, and ground truth  xgt</a:t>
            </a:r>
          </a:p>
          <a:p>
            <a:r>
              <a:rPr lang="en-US"/>
              <a:t/>
            </a:r>
          </a:p>
          <a:p>
            <a:r>
              <a:rPr lang="en-US"/>
              <a:t> when available.</a:t>
            </a:r>
          </a:p>
          <a:p>
            <a:r>
              <a:rPr lang="en-US"/>
              <a:t/>
            </a:r>
          </a:p>
          <a:p>
            <a:r>
              <a:rPr lang="en-US"/>
              <a:t>“This gives us both quantitative metrics and clear visual evidence that the U-Net improves the RTI reconstructions.”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Extending to a Moving Object – Speaker Notes</a:t>
            </a:r>
          </a:p>
          <a:p>
            <a:r>
              <a:rPr lang="en-US"/>
              <a:t/>
            </a:r>
          </a:p>
          <a:p>
            <a:r>
              <a:rPr lang="en-US"/>
              <a:t>“Till now we only showed static objects. Next, we tested our pipeline on a moving object.”</a:t>
            </a:r>
          </a:p>
          <a:p>
            <a:r>
              <a:rPr lang="en-US"/>
              <a:t/>
            </a:r>
          </a:p>
          <a:p>
            <a:r>
              <a:rPr lang="en-US"/>
              <a:t>“The Simulation Team gave us MATLAB code that simulates a person moving on a circular path. For every time step we reconstruct an RTI image and save it as frame_XXXX.mat with xhat</a:t>
            </a:r>
          </a:p>
          <a:p>
            <a:r>
              <a:rPr lang="en-US"/>
              <a:t/>
            </a:r>
          </a:p>
          <a:p>
            <a:r>
              <a:rPr lang="en-US"/>
              <a:t> and, when available, the true mask xgt</a:t>
            </a:r>
          </a:p>
          <a:p>
            <a:r>
              <a:rPr lang="en-US"/>
              <a:t/>
            </a:r>
          </a:p>
          <a:p>
            <a:r>
              <a:rPr lang="en-US"/>
              <a:t>, all normalized to [0,1].”</a:t>
            </a:r>
          </a:p>
          <a:p>
            <a:r>
              <a:rPr lang="en-US"/>
              <a:t/>
            </a:r>
          </a:p>
          <a:p>
            <a:r>
              <a:rPr lang="en-US"/>
              <a:t>“In Python we wrote a script that loads all these frame files, runs our trained U-Net on each one, and saves side-by-side images: ground truth, classical RTI, and U-Net output.”</a:t>
            </a:r>
          </a:p>
          <a:p>
            <a:r>
              <a:rPr lang="en-US"/>
              <a:t/>
            </a:r>
          </a:p>
          <a:p>
            <a:r>
              <a:rPr lang="en-US"/>
              <a:t>“At the bottom you can see one example frame:</a:t>
            </a:r>
          </a:p>
          <a:p>
            <a:r>
              <a:rPr lang="en-US"/>
              <a:t>left is the true position, middle is the noisy RTI reconstruction with strong streaks, and right is the U-Net result, which gives a clean, well-localized blob.</a:t>
            </a:r>
          </a:p>
          <a:p>
            <a:r>
              <a:rPr lang="en-US"/>
              <a:t>So the same model also works frame-by-frame for a moving target.”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Future Scope – Speaker Notes</a:t>
            </a:r>
          </a:p>
          <a:p>
            <a:r>
              <a:rPr lang="en-US"/>
              <a:t/>
            </a:r>
          </a:p>
          <a:p>
            <a:r>
              <a:rPr lang="en-US"/>
              <a:t>“Going ahead, we want to try stronger architectures, like Vision Transformers or U-Net + ViT hybrids, and also lighter models so that inference is faster.”</a:t>
            </a:r>
          </a:p>
          <a:p>
            <a:r>
              <a:rPr lang="en-US"/>
              <a:t/>
            </a:r>
          </a:p>
          <a:p>
            <a:r>
              <a:rPr lang="en-US"/>
              <a:t>“Second, instead of treating each frame independently, we want to do temporal modeling using 3D U-Net or ConvLSTM so the network uses frame-to-frame continuity of the moving person.”</a:t>
            </a:r>
          </a:p>
          <a:p>
            <a:r>
              <a:rPr lang="en-US"/>
              <a:t/>
            </a:r>
          </a:p>
          <a:p>
            <a:r>
              <a:rPr lang="en-US"/>
              <a:t>“Third, we want to make the model physics-aware by adding a loss that checks: if we simulate RSS from our predicted image, it should match the measured links. This is a physics-informed or unrolled RTI approach.”</a:t>
            </a:r>
          </a:p>
          <a:p>
            <a:r>
              <a:rPr lang="en-US"/>
              <a:t/>
            </a:r>
          </a:p>
          <a:p>
            <a:r>
              <a:rPr lang="en-US"/>
              <a:t>“We also want to improve robustness, by training with different noise levels, different ridge parameters and layouts, and adapting the model to real hardware. We can also calibrate uncertainty, so the system knows when it is less confident.”</a:t>
            </a:r>
          </a:p>
          <a:p>
            <a:r>
              <a:rPr lang="en-US"/>
              <a:t/>
            </a:r>
          </a:p>
          <a:p>
            <a:r>
              <a:rPr lang="en-US"/>
              <a:t>“Finally, on the data side, we’d like to use semi- or self-supervised methods to reduce reliance on exact ground truth, and apply synthetic-to-real style transfer so that models trained on simulation work better in the lab.”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 Id="rId6" Target="../media/image20.png" Type="http://schemas.openxmlformats.org/officeDocument/2006/relationships/image"/><Relationship Id="rId7" Target="../media/image2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6.jpeg" Type="http://schemas.openxmlformats.org/officeDocument/2006/relationships/image"/><Relationship Id="rId5" Target="../media/image2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5.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6.jpeg" Type="http://schemas.openxmlformats.org/officeDocument/2006/relationships/image"/><Relationship Id="rId4" Target="../media/image3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38.jpeg" Type="http://schemas.openxmlformats.org/officeDocument/2006/relationships/image"/><Relationship Id="rId5" Target="../media/VAG51-m7e4o.mp4" Type="http://schemas.openxmlformats.org/officeDocument/2006/relationships/video"/><Relationship Id="rId6" Target="../media/VAG51-m7e4o.mp4" Type="http://schemas.microsoft.com/office/2007/relationships/media"/></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 Id="rId4" Target="../media/image3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0.png" Type="http://schemas.openxmlformats.org/officeDocument/2006/relationships/image"/><Relationship Id="rId4" Target="../media/image41.svg" Type="http://schemas.openxmlformats.org/officeDocument/2006/relationships/image"/><Relationship Id="rId5" Target="../media/image42.png" Type="http://schemas.openxmlformats.org/officeDocument/2006/relationships/image"/><Relationship Id="rId6" Target="../media/image43.svg" Type="http://schemas.openxmlformats.org/officeDocument/2006/relationships/image"/><Relationship Id="rId7" Target="../media/image44.png" Type="http://schemas.openxmlformats.org/officeDocument/2006/relationships/image"/><Relationship Id="rId8" Target="../media/image4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40402" y="1014145"/>
            <a:ext cx="2936749" cy="2936749"/>
          </a:xfrm>
          <a:custGeom>
            <a:avLst/>
            <a:gdLst/>
            <a:ahLst/>
            <a:cxnLst/>
            <a:rect r="r" b="b" t="t" l="l"/>
            <a:pathLst>
              <a:path h="2936749" w="2936749">
                <a:moveTo>
                  <a:pt x="0" y="0"/>
                </a:moveTo>
                <a:lnTo>
                  <a:pt x="2936749" y="0"/>
                </a:lnTo>
                <a:lnTo>
                  <a:pt x="2936749" y="2936749"/>
                </a:lnTo>
                <a:lnTo>
                  <a:pt x="0" y="2936749"/>
                </a:lnTo>
                <a:lnTo>
                  <a:pt x="0" y="0"/>
                </a:lnTo>
                <a:close/>
              </a:path>
            </a:pathLst>
          </a:custGeom>
          <a:blipFill>
            <a:blip r:embed="rId6"/>
            <a:stretch>
              <a:fillRect l="0" t="0" r="0" b="0"/>
            </a:stretch>
          </a:blipFill>
        </p:spPr>
      </p:sp>
      <p:sp>
        <p:nvSpPr>
          <p:cNvPr name="TextBox 5" id="5"/>
          <p:cNvSpPr txBox="true"/>
          <p:nvPr/>
        </p:nvSpPr>
        <p:spPr>
          <a:xfrm rot="0">
            <a:off x="3977151" y="5408219"/>
            <a:ext cx="13301199" cy="517699"/>
          </a:xfrm>
          <a:prstGeom prst="rect">
            <a:avLst/>
          </a:prstGeom>
        </p:spPr>
        <p:txBody>
          <a:bodyPr anchor="t" rtlCol="false" tIns="0" lIns="0" bIns="0" rIns="0">
            <a:spAutoFit/>
          </a:bodyPr>
          <a:lstStyle/>
          <a:p>
            <a:pPr algn="r" marL="0" indent="0" lvl="0">
              <a:lnSpc>
                <a:spcPts val="3899"/>
              </a:lnSpc>
              <a:spcBef>
                <a:spcPct val="0"/>
              </a:spcBef>
            </a:pPr>
            <a:r>
              <a:rPr lang="en-US" sz="3899" spc="-308">
                <a:solidFill>
                  <a:srgbClr val="000000"/>
                </a:solidFill>
                <a:latin typeface="Archivo Black"/>
                <a:ea typeface="Archivo Black"/>
                <a:cs typeface="Archivo Black"/>
                <a:sym typeface="Archivo Black"/>
              </a:rPr>
              <a:t>RTI Enhancement with CNN Post‑Processing</a:t>
            </a:r>
          </a:p>
        </p:txBody>
      </p:sp>
      <p:sp>
        <p:nvSpPr>
          <p:cNvPr name="TextBox 6" id="6"/>
          <p:cNvSpPr txBox="true"/>
          <p:nvPr/>
        </p:nvSpPr>
        <p:spPr>
          <a:xfrm rot="0">
            <a:off x="1028700" y="7289791"/>
            <a:ext cx="5586122" cy="412117"/>
          </a:xfrm>
          <a:prstGeom prst="rect">
            <a:avLst/>
          </a:prstGeom>
        </p:spPr>
        <p:txBody>
          <a:bodyPr anchor="t" rtlCol="false" tIns="0" lIns="0" bIns="0" rIns="0">
            <a:spAutoFit/>
          </a:bodyPr>
          <a:lstStyle/>
          <a:p>
            <a:pPr algn="l" marL="0" indent="0" lvl="0">
              <a:lnSpc>
                <a:spcPts val="3451"/>
              </a:lnSpc>
              <a:spcBef>
                <a:spcPct val="0"/>
              </a:spcBef>
            </a:pPr>
            <a:r>
              <a:rPr lang="en-US" b="true" sz="2655">
                <a:solidFill>
                  <a:srgbClr val="2B2B2B"/>
                </a:solidFill>
                <a:latin typeface="Garet Bold"/>
                <a:ea typeface="Garet Bold"/>
                <a:cs typeface="Garet Bold"/>
                <a:sym typeface="Garet Bold"/>
              </a:rPr>
              <a:t>PRESENTED BY:</a:t>
            </a:r>
          </a:p>
        </p:txBody>
      </p:sp>
      <p:sp>
        <p:nvSpPr>
          <p:cNvPr name="TextBox 7" id="7"/>
          <p:cNvSpPr txBox="true"/>
          <p:nvPr/>
        </p:nvSpPr>
        <p:spPr>
          <a:xfrm rot="0">
            <a:off x="1028700" y="7821092"/>
            <a:ext cx="5102662" cy="777475"/>
          </a:xfrm>
          <a:prstGeom prst="rect">
            <a:avLst/>
          </a:prstGeom>
        </p:spPr>
        <p:txBody>
          <a:bodyPr anchor="t" rtlCol="false" tIns="0" lIns="0" bIns="0" rIns="0">
            <a:spAutoFit/>
          </a:bodyPr>
          <a:lstStyle/>
          <a:p>
            <a:pPr algn="l">
              <a:lnSpc>
                <a:spcPts val="3153"/>
              </a:lnSpc>
            </a:pPr>
            <a:r>
              <a:rPr lang="en-US" sz="2425">
                <a:solidFill>
                  <a:srgbClr val="2B2B2B"/>
                </a:solidFill>
                <a:latin typeface="Garet"/>
                <a:ea typeface="Garet"/>
                <a:cs typeface="Garet"/>
                <a:sym typeface="Garet"/>
              </a:rPr>
              <a:t>Jay Kumar (2022EE31781)</a:t>
            </a:r>
          </a:p>
          <a:p>
            <a:pPr algn="l" marL="0" indent="0" lvl="0">
              <a:lnSpc>
                <a:spcPts val="3153"/>
              </a:lnSpc>
              <a:spcBef>
                <a:spcPct val="0"/>
              </a:spcBef>
            </a:pPr>
            <a:r>
              <a:rPr lang="en-US" sz="2425">
                <a:solidFill>
                  <a:srgbClr val="2B2B2B"/>
                </a:solidFill>
                <a:latin typeface="Garet"/>
                <a:ea typeface="Garet"/>
                <a:cs typeface="Garet"/>
                <a:sym typeface="Garet"/>
              </a:rPr>
              <a:t>Rishit Jaiswal (2022EE31771)</a:t>
            </a:r>
          </a:p>
        </p:txBody>
      </p:sp>
      <p:sp>
        <p:nvSpPr>
          <p:cNvPr name="TextBox 8" id="8"/>
          <p:cNvSpPr txBox="true"/>
          <p:nvPr/>
        </p:nvSpPr>
        <p:spPr>
          <a:xfrm rot="0">
            <a:off x="8213779" y="2624497"/>
            <a:ext cx="9045521" cy="2301357"/>
          </a:xfrm>
          <a:prstGeom prst="rect">
            <a:avLst/>
          </a:prstGeom>
        </p:spPr>
        <p:txBody>
          <a:bodyPr anchor="t" rtlCol="false" tIns="0" lIns="0" bIns="0" rIns="0">
            <a:spAutoFit/>
          </a:bodyPr>
          <a:lstStyle/>
          <a:p>
            <a:pPr algn="r">
              <a:lnSpc>
                <a:spcPts val="5787"/>
              </a:lnSpc>
            </a:pPr>
            <a:r>
              <a:rPr lang="en-US" sz="7419" spc="-586">
                <a:solidFill>
                  <a:srgbClr val="000000"/>
                </a:solidFill>
                <a:latin typeface="Archivo Black"/>
                <a:ea typeface="Archivo Black"/>
                <a:cs typeface="Archivo Black"/>
                <a:sym typeface="Archivo Black"/>
              </a:rPr>
              <a:t>B.TECH PROJECT</a:t>
            </a:r>
          </a:p>
          <a:p>
            <a:pPr algn="r">
              <a:lnSpc>
                <a:spcPts val="5787"/>
              </a:lnSpc>
            </a:pPr>
            <a:r>
              <a:rPr lang="en-US" sz="7419" spc="-586">
                <a:solidFill>
                  <a:srgbClr val="000000"/>
                </a:solidFill>
                <a:latin typeface="Archivo Black"/>
                <a:ea typeface="Archivo Black"/>
                <a:cs typeface="Archivo Black"/>
                <a:sym typeface="Archivo Black"/>
              </a:rPr>
              <a:t>END TERM</a:t>
            </a:r>
          </a:p>
          <a:p>
            <a:pPr algn="r" marL="0" indent="0" lvl="0">
              <a:lnSpc>
                <a:spcPts val="5787"/>
              </a:lnSpc>
              <a:spcBef>
                <a:spcPct val="0"/>
              </a:spcBef>
            </a:pPr>
            <a:r>
              <a:rPr lang="en-US" sz="7419" spc="-586">
                <a:solidFill>
                  <a:srgbClr val="000000"/>
                </a:solidFill>
                <a:latin typeface="Archivo Black"/>
                <a:ea typeface="Archivo Black"/>
                <a:cs typeface="Archivo Black"/>
                <a:sym typeface="Archivo Black"/>
              </a:rPr>
              <a:t>REVIEW</a:t>
            </a:r>
          </a:p>
        </p:txBody>
      </p:sp>
      <p:sp>
        <p:nvSpPr>
          <p:cNvPr name="TextBox 9" id="9"/>
          <p:cNvSpPr txBox="true"/>
          <p:nvPr/>
        </p:nvSpPr>
        <p:spPr>
          <a:xfrm rot="0">
            <a:off x="7150417" y="7289791"/>
            <a:ext cx="5586122" cy="412117"/>
          </a:xfrm>
          <a:prstGeom prst="rect">
            <a:avLst/>
          </a:prstGeom>
        </p:spPr>
        <p:txBody>
          <a:bodyPr anchor="t" rtlCol="false" tIns="0" lIns="0" bIns="0" rIns="0">
            <a:spAutoFit/>
          </a:bodyPr>
          <a:lstStyle/>
          <a:p>
            <a:pPr algn="l" marL="0" indent="0" lvl="0">
              <a:lnSpc>
                <a:spcPts val="3451"/>
              </a:lnSpc>
              <a:spcBef>
                <a:spcPct val="0"/>
              </a:spcBef>
            </a:pPr>
            <a:r>
              <a:rPr lang="en-US" b="true" sz="2655">
                <a:solidFill>
                  <a:srgbClr val="2B2B2B"/>
                </a:solidFill>
                <a:latin typeface="Garet Bold"/>
                <a:ea typeface="Garet Bold"/>
                <a:cs typeface="Garet Bold"/>
                <a:sym typeface="Garet Bold"/>
              </a:rPr>
              <a:t>SUPERVISOR:</a:t>
            </a:r>
          </a:p>
        </p:txBody>
      </p:sp>
      <p:sp>
        <p:nvSpPr>
          <p:cNvPr name="TextBox 10" id="10"/>
          <p:cNvSpPr txBox="true"/>
          <p:nvPr/>
        </p:nvSpPr>
        <p:spPr>
          <a:xfrm rot="0">
            <a:off x="7150417" y="7836493"/>
            <a:ext cx="5102662" cy="387623"/>
          </a:xfrm>
          <a:prstGeom prst="rect">
            <a:avLst/>
          </a:prstGeom>
        </p:spPr>
        <p:txBody>
          <a:bodyPr anchor="t" rtlCol="false" tIns="0" lIns="0" bIns="0" rIns="0">
            <a:spAutoFit/>
          </a:bodyPr>
          <a:lstStyle/>
          <a:p>
            <a:pPr algn="l" marL="0" indent="0" lvl="0">
              <a:lnSpc>
                <a:spcPts val="3153"/>
              </a:lnSpc>
              <a:spcBef>
                <a:spcPct val="0"/>
              </a:spcBef>
            </a:pPr>
            <a:r>
              <a:rPr lang="en-US" sz="2425">
                <a:solidFill>
                  <a:srgbClr val="2B2B2B"/>
                </a:solidFill>
                <a:latin typeface="Garet"/>
                <a:ea typeface="Garet"/>
                <a:cs typeface="Garet"/>
                <a:sym typeface="Garet"/>
              </a:rPr>
              <a:t>Prof. Amartansh Dubey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graphicFrame>
        <p:nvGraphicFramePr>
          <p:cNvPr name="Table 3" id="3"/>
          <p:cNvGraphicFramePr>
            <a:graphicFrameLocks noGrp="true"/>
          </p:cNvGraphicFramePr>
          <p:nvPr/>
        </p:nvGraphicFramePr>
        <p:xfrm>
          <a:off x="9959046" y="1559650"/>
          <a:ext cx="6770537" cy="7391400"/>
        </p:xfrm>
        <a:graphic>
          <a:graphicData uri="http://schemas.openxmlformats.org/drawingml/2006/table">
            <a:tbl>
              <a:tblPr/>
              <a:tblGrid>
                <a:gridCol w="1145636"/>
                <a:gridCol w="5225179"/>
              </a:tblGrid>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Project Overview</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Forward Simulation Code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Forward Simulation Code - Results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Inverse RTI Code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Dataset Generation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08-09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Dataset Generation - Results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10-11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Training U-Net Model</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12-13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Training U-Net Model - Results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267">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14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Extending to a Moving Object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06637" y="1559650"/>
            <a:ext cx="9125543" cy="7167700"/>
          </a:xfrm>
          <a:custGeom>
            <a:avLst/>
            <a:gdLst/>
            <a:ahLst/>
            <a:cxnLst/>
            <a:rect r="r" b="b" t="t" l="l"/>
            <a:pathLst>
              <a:path h="7167700" w="9125543">
                <a:moveTo>
                  <a:pt x="0" y="0"/>
                </a:moveTo>
                <a:lnTo>
                  <a:pt x="9125544" y="0"/>
                </a:lnTo>
                <a:lnTo>
                  <a:pt x="9125544" y="7167700"/>
                </a:lnTo>
                <a:lnTo>
                  <a:pt x="0" y="71677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799313" y="0"/>
            <a:ext cx="3488687" cy="1198840"/>
          </a:xfrm>
          <a:custGeom>
            <a:avLst/>
            <a:gdLst/>
            <a:ahLst/>
            <a:cxnLst/>
            <a:rect r="r" b="b" t="t" l="l"/>
            <a:pathLst>
              <a:path h="1198840" w="3488687">
                <a:moveTo>
                  <a:pt x="0" y="0"/>
                </a:moveTo>
                <a:lnTo>
                  <a:pt x="3488687" y="0"/>
                </a:lnTo>
                <a:lnTo>
                  <a:pt x="3488687" y="1198840"/>
                </a:lnTo>
                <a:lnTo>
                  <a:pt x="0" y="11988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1604641" y="2439692"/>
            <a:ext cx="6531462"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FFFFFF"/>
                </a:solidFill>
                <a:latin typeface="Archivo Black"/>
                <a:ea typeface="Archivo Black"/>
                <a:cs typeface="Archivo Black"/>
                <a:sym typeface="Archivo Black"/>
              </a:rPr>
              <a:t>Contents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AutoShape 3" id="3"/>
          <p:cNvSpPr/>
          <p:nvPr/>
        </p:nvSpPr>
        <p:spPr>
          <a:xfrm flipV="true">
            <a:off x="9562732" y="1469221"/>
            <a:ext cx="19050" cy="8342715"/>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1529867" y="5557617"/>
            <a:ext cx="6725925" cy="4136444"/>
          </a:xfrm>
          <a:custGeom>
            <a:avLst/>
            <a:gdLst/>
            <a:ahLst/>
            <a:cxnLst/>
            <a:rect r="r" b="b" t="t" l="l"/>
            <a:pathLst>
              <a:path h="4136444" w="6725925">
                <a:moveTo>
                  <a:pt x="0" y="0"/>
                </a:moveTo>
                <a:lnTo>
                  <a:pt x="6725925" y="0"/>
                </a:lnTo>
                <a:lnTo>
                  <a:pt x="6725925" y="4136444"/>
                </a:lnTo>
                <a:lnTo>
                  <a:pt x="0" y="4136444"/>
                </a:lnTo>
                <a:lnTo>
                  <a:pt x="0" y="0"/>
                </a:lnTo>
                <a:close/>
              </a:path>
            </a:pathLst>
          </a:custGeom>
          <a:blipFill>
            <a:blip r:embed="rId4"/>
            <a:stretch>
              <a:fillRect l="0" t="0" r="0" b="0"/>
            </a:stretch>
          </a:blipFill>
        </p:spPr>
      </p:sp>
      <p:sp>
        <p:nvSpPr>
          <p:cNvPr name="Freeform 5" id="5"/>
          <p:cNvSpPr/>
          <p:nvPr/>
        </p:nvSpPr>
        <p:spPr>
          <a:xfrm flipH="false" flipV="false" rot="0">
            <a:off x="10373399" y="1346835"/>
            <a:ext cx="6885901" cy="3204460"/>
          </a:xfrm>
          <a:custGeom>
            <a:avLst/>
            <a:gdLst/>
            <a:ahLst/>
            <a:cxnLst/>
            <a:rect r="r" b="b" t="t" l="l"/>
            <a:pathLst>
              <a:path h="3204460" w="6885901">
                <a:moveTo>
                  <a:pt x="0" y="0"/>
                </a:moveTo>
                <a:lnTo>
                  <a:pt x="6885901" y="0"/>
                </a:lnTo>
                <a:lnTo>
                  <a:pt x="6885901" y="3204460"/>
                </a:lnTo>
                <a:lnTo>
                  <a:pt x="0" y="3204460"/>
                </a:lnTo>
                <a:lnTo>
                  <a:pt x="0" y="0"/>
                </a:lnTo>
                <a:close/>
              </a:path>
            </a:pathLst>
          </a:custGeom>
          <a:blipFill>
            <a:blip r:embed="rId5"/>
            <a:stretch>
              <a:fillRect l="-4856" t="-2387" r="0" b="-2387"/>
            </a:stretch>
          </a:blipFill>
          <a:ln cap="sq">
            <a:noFill/>
            <a:prstDash val="solid"/>
            <a:miter/>
          </a:ln>
        </p:spPr>
      </p:sp>
      <p:sp>
        <p:nvSpPr>
          <p:cNvPr name="Freeform 6" id="6"/>
          <p:cNvSpPr/>
          <p:nvPr/>
        </p:nvSpPr>
        <p:spPr>
          <a:xfrm flipH="false" flipV="false" rot="0">
            <a:off x="10373399" y="4551295"/>
            <a:ext cx="7426018" cy="5473136"/>
          </a:xfrm>
          <a:custGeom>
            <a:avLst/>
            <a:gdLst/>
            <a:ahLst/>
            <a:cxnLst/>
            <a:rect r="r" b="b" t="t" l="l"/>
            <a:pathLst>
              <a:path h="5473136" w="7426018">
                <a:moveTo>
                  <a:pt x="0" y="0"/>
                </a:moveTo>
                <a:lnTo>
                  <a:pt x="7426018" y="0"/>
                </a:lnTo>
                <a:lnTo>
                  <a:pt x="7426018" y="5473137"/>
                </a:lnTo>
                <a:lnTo>
                  <a:pt x="0" y="5473137"/>
                </a:lnTo>
                <a:lnTo>
                  <a:pt x="0" y="0"/>
                </a:lnTo>
                <a:close/>
              </a:path>
            </a:pathLst>
          </a:custGeom>
          <a:blipFill>
            <a:blip r:embed="rId6"/>
            <a:stretch>
              <a:fillRect l="0" t="0" r="-16525" b="0"/>
            </a:stretch>
          </a:blipFill>
        </p:spPr>
      </p:sp>
      <p:sp>
        <p:nvSpPr>
          <p:cNvPr name="TextBox 7" id="7"/>
          <p:cNvSpPr txBox="true"/>
          <p:nvPr/>
        </p:nvSpPr>
        <p:spPr>
          <a:xfrm rot="0">
            <a:off x="788819" y="683473"/>
            <a:ext cx="6179983" cy="785704"/>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Project Overview</a:t>
            </a:r>
          </a:p>
        </p:txBody>
      </p:sp>
      <p:sp>
        <p:nvSpPr>
          <p:cNvPr name="TextBox 8" id="8"/>
          <p:cNvSpPr txBox="true"/>
          <p:nvPr/>
        </p:nvSpPr>
        <p:spPr>
          <a:xfrm rot="0">
            <a:off x="641659" y="1421552"/>
            <a:ext cx="8129456" cy="911945"/>
          </a:xfrm>
          <a:prstGeom prst="rect">
            <a:avLst/>
          </a:prstGeom>
        </p:spPr>
        <p:txBody>
          <a:bodyPr anchor="t" rtlCol="false" tIns="0" lIns="0" bIns="0" rIns="0">
            <a:spAutoFit/>
          </a:bodyPr>
          <a:lstStyle/>
          <a:p>
            <a:pPr algn="ctr">
              <a:lnSpc>
                <a:spcPts val="3689"/>
              </a:lnSpc>
            </a:pPr>
            <a:r>
              <a:rPr lang="en-US" b="true" sz="2635" u="sng">
                <a:solidFill>
                  <a:srgbClr val="000000"/>
                </a:solidFill>
                <a:latin typeface="Canva Sans Bold"/>
                <a:ea typeface="Canva Sans Bold"/>
                <a:cs typeface="Canva Sans Bold"/>
                <a:sym typeface="Canva Sans Bold"/>
              </a:rPr>
              <a:t>What is Radio Tomographic Imaging (RTI)?</a:t>
            </a:r>
          </a:p>
          <a:p>
            <a:pPr algn="ctr">
              <a:lnSpc>
                <a:spcPts val="3689"/>
              </a:lnSpc>
            </a:pPr>
          </a:p>
        </p:txBody>
      </p:sp>
      <p:sp>
        <p:nvSpPr>
          <p:cNvPr name="TextBox 9" id="9"/>
          <p:cNvSpPr txBox="true"/>
          <p:nvPr/>
        </p:nvSpPr>
        <p:spPr>
          <a:xfrm rot="0">
            <a:off x="641659" y="2088725"/>
            <a:ext cx="8502341" cy="737235"/>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An imaging techniq</a:t>
            </a:r>
            <a:r>
              <a:rPr lang="en-US" sz="2099">
                <a:solidFill>
                  <a:srgbClr val="000000"/>
                </a:solidFill>
                <a:latin typeface="Garet"/>
                <a:ea typeface="Garet"/>
                <a:cs typeface="Garet"/>
                <a:sym typeface="Garet"/>
              </a:rPr>
              <a:t>ue that maps how objects weaken (attenuate) signals inside a wireless network.</a:t>
            </a:r>
          </a:p>
        </p:txBody>
      </p:sp>
      <p:sp>
        <p:nvSpPr>
          <p:cNvPr name="TextBox 10" id="10"/>
          <p:cNvSpPr txBox="true"/>
          <p:nvPr/>
        </p:nvSpPr>
        <p:spPr>
          <a:xfrm rot="0">
            <a:off x="641659" y="2902160"/>
            <a:ext cx="8502341" cy="737235"/>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It is device-free – the objects being imaged don’t need t</a:t>
            </a:r>
            <a:r>
              <a:rPr lang="en-US" sz="2099">
                <a:solidFill>
                  <a:srgbClr val="000000"/>
                </a:solidFill>
                <a:latin typeface="Garet"/>
                <a:ea typeface="Garet"/>
                <a:cs typeface="Garet"/>
                <a:sym typeface="Garet"/>
              </a:rPr>
              <a:t>o carry any sensors or electronics.</a:t>
            </a:r>
          </a:p>
        </p:txBody>
      </p:sp>
      <p:sp>
        <p:nvSpPr>
          <p:cNvPr name="TextBox 11" id="11"/>
          <p:cNvSpPr txBox="true"/>
          <p:nvPr/>
        </p:nvSpPr>
        <p:spPr>
          <a:xfrm rot="0">
            <a:off x="641659" y="3715595"/>
            <a:ext cx="8521391" cy="737235"/>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G</a:t>
            </a:r>
            <a:r>
              <a:rPr lang="en-US" sz="2099">
                <a:solidFill>
                  <a:srgbClr val="000000"/>
                </a:solidFill>
                <a:latin typeface="Garet"/>
                <a:ea typeface="Garet"/>
                <a:cs typeface="Garet"/>
                <a:sym typeface="Garet"/>
              </a:rPr>
              <a:t>oes beyond simple position tracking to also reveal an object’s shape, size, and attenuation pattern.</a:t>
            </a:r>
          </a:p>
        </p:txBody>
      </p:sp>
      <p:sp>
        <p:nvSpPr>
          <p:cNvPr name="TextBox 12" id="12"/>
          <p:cNvSpPr txBox="true"/>
          <p:nvPr/>
        </p:nvSpPr>
        <p:spPr>
          <a:xfrm rot="0">
            <a:off x="641659" y="4529030"/>
            <a:ext cx="8521391" cy="737235"/>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C</a:t>
            </a:r>
            <a:r>
              <a:rPr lang="en-US" sz="2099">
                <a:solidFill>
                  <a:srgbClr val="000000"/>
                </a:solidFill>
                <a:latin typeface="Garet"/>
                <a:ea typeface="Garet"/>
                <a:cs typeface="Garet"/>
                <a:sym typeface="Garet"/>
              </a:rPr>
              <a:t>onceptually similar to a large-scale CT/MRI scanner, but using radio-frequency (RF) signals instead of X-rays.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0" y="2673681"/>
            <a:ext cx="9536022" cy="2816960"/>
          </a:xfrm>
          <a:custGeom>
            <a:avLst/>
            <a:gdLst/>
            <a:ahLst/>
            <a:cxnLst/>
            <a:rect r="r" b="b" t="t" l="l"/>
            <a:pathLst>
              <a:path h="2816960" w="9536022">
                <a:moveTo>
                  <a:pt x="0" y="0"/>
                </a:moveTo>
                <a:lnTo>
                  <a:pt x="9536022" y="0"/>
                </a:lnTo>
                <a:lnTo>
                  <a:pt x="9536022" y="2816960"/>
                </a:lnTo>
                <a:lnTo>
                  <a:pt x="0" y="2816960"/>
                </a:lnTo>
                <a:lnTo>
                  <a:pt x="0" y="0"/>
                </a:lnTo>
                <a:close/>
              </a:path>
            </a:pathLst>
          </a:custGeom>
          <a:blipFill>
            <a:blip r:embed="rId4"/>
            <a:stretch>
              <a:fillRect l="0" t="0" r="-4990" b="-2626"/>
            </a:stretch>
          </a:blipFill>
        </p:spPr>
      </p:sp>
      <p:sp>
        <p:nvSpPr>
          <p:cNvPr name="Freeform 4" id="4"/>
          <p:cNvSpPr/>
          <p:nvPr/>
        </p:nvSpPr>
        <p:spPr>
          <a:xfrm flipH="false" flipV="false" rot="0">
            <a:off x="9536022" y="4493613"/>
            <a:ext cx="8751978" cy="3595807"/>
          </a:xfrm>
          <a:custGeom>
            <a:avLst/>
            <a:gdLst/>
            <a:ahLst/>
            <a:cxnLst/>
            <a:rect r="r" b="b" t="t" l="l"/>
            <a:pathLst>
              <a:path h="3595807" w="8751978">
                <a:moveTo>
                  <a:pt x="0" y="0"/>
                </a:moveTo>
                <a:lnTo>
                  <a:pt x="8751978" y="0"/>
                </a:lnTo>
                <a:lnTo>
                  <a:pt x="8751978" y="3595807"/>
                </a:lnTo>
                <a:lnTo>
                  <a:pt x="0" y="3595807"/>
                </a:lnTo>
                <a:lnTo>
                  <a:pt x="0" y="0"/>
                </a:lnTo>
                <a:close/>
              </a:path>
            </a:pathLst>
          </a:custGeom>
          <a:blipFill>
            <a:blip r:embed="rId5"/>
            <a:stretch>
              <a:fillRect l="-3459" t="-81228" r="-5438" b="0"/>
            </a:stretch>
          </a:blipFill>
        </p:spPr>
      </p:sp>
      <p:sp>
        <p:nvSpPr>
          <p:cNvPr name="AutoShape 5" id="5"/>
          <p:cNvSpPr/>
          <p:nvPr/>
        </p:nvSpPr>
        <p:spPr>
          <a:xfrm flipV="true">
            <a:off x="9536022" y="2218261"/>
            <a:ext cx="0" cy="7426149"/>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0" y="5650689"/>
            <a:ext cx="9536022" cy="1920946"/>
          </a:xfrm>
          <a:custGeom>
            <a:avLst/>
            <a:gdLst/>
            <a:ahLst/>
            <a:cxnLst/>
            <a:rect r="r" b="b" t="t" l="l"/>
            <a:pathLst>
              <a:path h="1920946" w="9536022">
                <a:moveTo>
                  <a:pt x="0" y="0"/>
                </a:moveTo>
                <a:lnTo>
                  <a:pt x="9536022" y="0"/>
                </a:lnTo>
                <a:lnTo>
                  <a:pt x="9536022" y="1920946"/>
                </a:lnTo>
                <a:lnTo>
                  <a:pt x="0" y="1920946"/>
                </a:lnTo>
                <a:lnTo>
                  <a:pt x="0" y="0"/>
                </a:lnTo>
                <a:close/>
              </a:path>
            </a:pathLst>
          </a:custGeom>
          <a:blipFill>
            <a:blip r:embed="rId6"/>
            <a:stretch>
              <a:fillRect l="0" t="0" r="0" b="-75609"/>
            </a:stretch>
          </a:blipFill>
        </p:spPr>
      </p:sp>
      <p:sp>
        <p:nvSpPr>
          <p:cNvPr name="Freeform 7" id="7"/>
          <p:cNvSpPr/>
          <p:nvPr/>
        </p:nvSpPr>
        <p:spPr>
          <a:xfrm flipH="false" flipV="false" rot="0">
            <a:off x="9536022" y="2924481"/>
            <a:ext cx="8751978" cy="1356557"/>
          </a:xfrm>
          <a:custGeom>
            <a:avLst/>
            <a:gdLst/>
            <a:ahLst/>
            <a:cxnLst/>
            <a:rect r="r" b="b" t="t" l="l"/>
            <a:pathLst>
              <a:path h="1356557" w="8751978">
                <a:moveTo>
                  <a:pt x="0" y="0"/>
                </a:moveTo>
                <a:lnTo>
                  <a:pt x="8751978" y="0"/>
                </a:lnTo>
                <a:lnTo>
                  <a:pt x="8751978" y="1356557"/>
                </a:lnTo>
                <a:lnTo>
                  <a:pt x="0" y="1356557"/>
                </a:lnTo>
                <a:lnTo>
                  <a:pt x="0" y="0"/>
                </a:lnTo>
                <a:close/>
              </a:path>
            </a:pathLst>
          </a:custGeom>
          <a:blipFill>
            <a:blip r:embed="rId7"/>
            <a:stretch>
              <a:fillRect l="0" t="0" r="0" b="0"/>
            </a:stretch>
          </a:blipFill>
        </p:spPr>
      </p:sp>
      <p:sp>
        <p:nvSpPr>
          <p:cNvPr name="TextBox 8" id="8"/>
          <p:cNvSpPr txBox="true"/>
          <p:nvPr/>
        </p:nvSpPr>
        <p:spPr>
          <a:xfrm rot="0">
            <a:off x="770362" y="1123950"/>
            <a:ext cx="9059297"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Forward Simulation Code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TextBox 3" id="3"/>
          <p:cNvSpPr txBox="true"/>
          <p:nvPr/>
        </p:nvSpPr>
        <p:spPr>
          <a:xfrm rot="0">
            <a:off x="770362" y="842540"/>
            <a:ext cx="12895793"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Forward Simulation Code - Results</a:t>
            </a:r>
          </a:p>
        </p:txBody>
      </p:sp>
      <p:sp>
        <p:nvSpPr>
          <p:cNvPr name="AutoShape 4" id="4"/>
          <p:cNvSpPr/>
          <p:nvPr/>
        </p:nvSpPr>
        <p:spPr>
          <a:xfrm flipV="true">
            <a:off x="9549031" y="1628289"/>
            <a:ext cx="19050" cy="829126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516071" y="2199448"/>
            <a:ext cx="8623385" cy="5977066"/>
          </a:xfrm>
          <a:custGeom>
            <a:avLst/>
            <a:gdLst/>
            <a:ahLst/>
            <a:cxnLst/>
            <a:rect r="r" b="b" t="t" l="l"/>
            <a:pathLst>
              <a:path h="5977066" w="8623385">
                <a:moveTo>
                  <a:pt x="0" y="0"/>
                </a:moveTo>
                <a:lnTo>
                  <a:pt x="8623385" y="0"/>
                </a:lnTo>
                <a:lnTo>
                  <a:pt x="8623385" y="5977067"/>
                </a:lnTo>
                <a:lnTo>
                  <a:pt x="0" y="5977067"/>
                </a:lnTo>
                <a:lnTo>
                  <a:pt x="0" y="0"/>
                </a:lnTo>
                <a:close/>
              </a:path>
            </a:pathLst>
          </a:custGeom>
          <a:blipFill>
            <a:blip r:embed="rId4"/>
            <a:stretch>
              <a:fillRect l="-1126" t="0" r="-1179" b="0"/>
            </a:stretch>
          </a:blipFill>
        </p:spPr>
      </p:sp>
      <p:sp>
        <p:nvSpPr>
          <p:cNvPr name="Freeform 6" id="6"/>
          <p:cNvSpPr/>
          <p:nvPr/>
        </p:nvSpPr>
        <p:spPr>
          <a:xfrm flipH="false" flipV="false" rot="0">
            <a:off x="9977656" y="2199448"/>
            <a:ext cx="7872597" cy="5977066"/>
          </a:xfrm>
          <a:custGeom>
            <a:avLst/>
            <a:gdLst/>
            <a:ahLst/>
            <a:cxnLst/>
            <a:rect r="r" b="b" t="t" l="l"/>
            <a:pathLst>
              <a:path h="5977066" w="7872597">
                <a:moveTo>
                  <a:pt x="0" y="0"/>
                </a:moveTo>
                <a:lnTo>
                  <a:pt x="7872596" y="0"/>
                </a:lnTo>
                <a:lnTo>
                  <a:pt x="7872596" y="5977067"/>
                </a:lnTo>
                <a:lnTo>
                  <a:pt x="0" y="5977067"/>
                </a:lnTo>
                <a:lnTo>
                  <a:pt x="0" y="0"/>
                </a:lnTo>
                <a:close/>
              </a:path>
            </a:pathLst>
          </a:custGeom>
          <a:blipFill>
            <a:blip r:embed="rId5"/>
            <a:stretch>
              <a:fillRect l="-8719" t="0" r="-7413"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TextBox 3" id="3"/>
          <p:cNvSpPr txBox="true"/>
          <p:nvPr/>
        </p:nvSpPr>
        <p:spPr>
          <a:xfrm rot="0">
            <a:off x="770362" y="804440"/>
            <a:ext cx="9059297"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Inverse RTI Code</a:t>
            </a:r>
          </a:p>
        </p:txBody>
      </p:sp>
      <p:sp>
        <p:nvSpPr>
          <p:cNvPr name="AutoShape 4" id="4"/>
          <p:cNvSpPr/>
          <p:nvPr/>
        </p:nvSpPr>
        <p:spPr>
          <a:xfrm flipV="true">
            <a:off x="9593172" y="1628289"/>
            <a:ext cx="19050" cy="829126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342588" y="1675870"/>
            <a:ext cx="9269634" cy="3127129"/>
          </a:xfrm>
          <a:custGeom>
            <a:avLst/>
            <a:gdLst/>
            <a:ahLst/>
            <a:cxnLst/>
            <a:rect r="r" b="b" t="t" l="l"/>
            <a:pathLst>
              <a:path h="3127129" w="9269634">
                <a:moveTo>
                  <a:pt x="0" y="0"/>
                </a:moveTo>
                <a:lnTo>
                  <a:pt x="9269634" y="0"/>
                </a:lnTo>
                <a:lnTo>
                  <a:pt x="9269634" y="3127129"/>
                </a:lnTo>
                <a:lnTo>
                  <a:pt x="0" y="3127129"/>
                </a:lnTo>
                <a:lnTo>
                  <a:pt x="0" y="0"/>
                </a:lnTo>
                <a:close/>
              </a:path>
            </a:pathLst>
          </a:custGeom>
          <a:blipFill>
            <a:blip r:embed="rId4"/>
            <a:stretch>
              <a:fillRect l="0" t="0" r="-327" b="0"/>
            </a:stretch>
          </a:blipFill>
        </p:spPr>
      </p:sp>
      <p:sp>
        <p:nvSpPr>
          <p:cNvPr name="Freeform 6" id="6"/>
          <p:cNvSpPr/>
          <p:nvPr/>
        </p:nvSpPr>
        <p:spPr>
          <a:xfrm flipH="false" flipV="false" rot="0">
            <a:off x="9699211" y="1874666"/>
            <a:ext cx="8812093" cy="3172354"/>
          </a:xfrm>
          <a:custGeom>
            <a:avLst/>
            <a:gdLst/>
            <a:ahLst/>
            <a:cxnLst/>
            <a:rect r="r" b="b" t="t" l="l"/>
            <a:pathLst>
              <a:path h="3172354" w="8812093">
                <a:moveTo>
                  <a:pt x="0" y="0"/>
                </a:moveTo>
                <a:lnTo>
                  <a:pt x="8812093" y="0"/>
                </a:lnTo>
                <a:lnTo>
                  <a:pt x="8812093" y="3172353"/>
                </a:lnTo>
                <a:lnTo>
                  <a:pt x="0" y="3172353"/>
                </a:lnTo>
                <a:lnTo>
                  <a:pt x="0" y="0"/>
                </a:lnTo>
                <a:close/>
              </a:path>
            </a:pathLst>
          </a:custGeom>
          <a:blipFill>
            <a:blip r:embed="rId5"/>
            <a:stretch>
              <a:fillRect l="0" t="0" r="0" b="0"/>
            </a:stretch>
          </a:blipFill>
        </p:spPr>
      </p:sp>
      <p:sp>
        <p:nvSpPr>
          <p:cNvPr name="Freeform 7" id="7"/>
          <p:cNvSpPr/>
          <p:nvPr/>
        </p:nvSpPr>
        <p:spPr>
          <a:xfrm flipH="false" flipV="false" rot="0">
            <a:off x="9650322" y="5373204"/>
            <a:ext cx="8694828" cy="3992965"/>
          </a:xfrm>
          <a:custGeom>
            <a:avLst/>
            <a:gdLst/>
            <a:ahLst/>
            <a:cxnLst/>
            <a:rect r="r" b="b" t="t" l="l"/>
            <a:pathLst>
              <a:path h="3992965" w="8694828">
                <a:moveTo>
                  <a:pt x="0" y="0"/>
                </a:moveTo>
                <a:lnTo>
                  <a:pt x="8694828" y="0"/>
                </a:lnTo>
                <a:lnTo>
                  <a:pt x="8694828" y="3992965"/>
                </a:lnTo>
                <a:lnTo>
                  <a:pt x="0" y="3992965"/>
                </a:lnTo>
                <a:lnTo>
                  <a:pt x="0" y="0"/>
                </a:lnTo>
                <a:close/>
              </a:path>
            </a:pathLst>
          </a:custGeom>
          <a:blipFill>
            <a:blip r:embed="rId6"/>
            <a:stretch>
              <a:fillRect l="0" t="0" r="0" b="-438"/>
            </a:stretch>
          </a:blipFill>
        </p:spPr>
      </p:sp>
      <p:sp>
        <p:nvSpPr>
          <p:cNvPr name="Freeform 8" id="8"/>
          <p:cNvSpPr/>
          <p:nvPr/>
        </p:nvSpPr>
        <p:spPr>
          <a:xfrm flipH="false" flipV="false" rot="0">
            <a:off x="1296726" y="4905085"/>
            <a:ext cx="7325349" cy="4679067"/>
          </a:xfrm>
          <a:custGeom>
            <a:avLst/>
            <a:gdLst/>
            <a:ahLst/>
            <a:cxnLst/>
            <a:rect r="r" b="b" t="t" l="l"/>
            <a:pathLst>
              <a:path h="4679067" w="7325349">
                <a:moveTo>
                  <a:pt x="0" y="0"/>
                </a:moveTo>
                <a:lnTo>
                  <a:pt x="7325349" y="0"/>
                </a:lnTo>
                <a:lnTo>
                  <a:pt x="7325349" y="4679067"/>
                </a:lnTo>
                <a:lnTo>
                  <a:pt x="0" y="4679067"/>
                </a:lnTo>
                <a:lnTo>
                  <a:pt x="0" y="0"/>
                </a:lnTo>
                <a:close/>
              </a:path>
            </a:pathLst>
          </a:custGeom>
          <a:blipFill>
            <a:blip r:embed="rId7"/>
            <a:stretch>
              <a:fillRect l="0" t="0" r="0" b="0"/>
            </a:stretch>
          </a:blipFill>
        </p:spPr>
      </p:sp>
      <p:sp>
        <p:nvSpPr>
          <p:cNvPr name="TextBox 9" id="9"/>
          <p:cNvSpPr txBox="true"/>
          <p:nvPr/>
        </p:nvSpPr>
        <p:spPr>
          <a:xfrm rot="0">
            <a:off x="3482961" y="9546052"/>
            <a:ext cx="2988889" cy="287594"/>
          </a:xfrm>
          <a:prstGeom prst="rect">
            <a:avLst/>
          </a:prstGeom>
        </p:spPr>
        <p:txBody>
          <a:bodyPr anchor="t" rtlCol="false" tIns="0" lIns="0" bIns="0" rIns="0">
            <a:spAutoFit/>
          </a:bodyPr>
          <a:lstStyle/>
          <a:p>
            <a:pPr algn="ctr">
              <a:lnSpc>
                <a:spcPts val="2305"/>
              </a:lnSpc>
              <a:spcBef>
                <a:spcPct val="0"/>
              </a:spcBef>
            </a:pPr>
            <a:r>
              <a:rPr lang="en-US" sz="1646">
                <a:solidFill>
                  <a:srgbClr val="000000"/>
                </a:solidFill>
                <a:latin typeface="Garet"/>
                <a:ea typeface="Garet"/>
                <a:cs typeface="Garet"/>
                <a:sym typeface="Garet"/>
              </a:rPr>
              <a:t>Fig: Inverse RTI Code output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AutoShape 3" id="3"/>
          <p:cNvSpPr/>
          <p:nvPr/>
        </p:nvSpPr>
        <p:spPr>
          <a:xfrm flipV="true">
            <a:off x="9526497" y="1628289"/>
            <a:ext cx="19050" cy="8291260"/>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116767" y="2385353"/>
            <a:ext cx="9409730" cy="6398617"/>
          </a:xfrm>
          <a:custGeom>
            <a:avLst/>
            <a:gdLst/>
            <a:ahLst/>
            <a:cxnLst/>
            <a:rect r="r" b="b" t="t" l="l"/>
            <a:pathLst>
              <a:path h="6398617" w="9409730">
                <a:moveTo>
                  <a:pt x="0" y="0"/>
                </a:moveTo>
                <a:lnTo>
                  <a:pt x="9409730" y="0"/>
                </a:lnTo>
                <a:lnTo>
                  <a:pt x="9409730" y="6398616"/>
                </a:lnTo>
                <a:lnTo>
                  <a:pt x="0" y="6398616"/>
                </a:lnTo>
                <a:lnTo>
                  <a:pt x="0" y="0"/>
                </a:lnTo>
                <a:close/>
              </a:path>
            </a:pathLst>
          </a:custGeom>
          <a:blipFill>
            <a:blip r:embed="rId4"/>
            <a:stretch>
              <a:fillRect l="0" t="0" r="0" b="0"/>
            </a:stretch>
          </a:blipFill>
        </p:spPr>
      </p:sp>
      <p:sp>
        <p:nvSpPr>
          <p:cNvPr name="Freeform 5" id="5"/>
          <p:cNvSpPr/>
          <p:nvPr/>
        </p:nvSpPr>
        <p:spPr>
          <a:xfrm flipH="false" flipV="false" rot="0">
            <a:off x="9526497" y="2133791"/>
            <a:ext cx="8742453" cy="1835915"/>
          </a:xfrm>
          <a:custGeom>
            <a:avLst/>
            <a:gdLst/>
            <a:ahLst/>
            <a:cxnLst/>
            <a:rect r="r" b="b" t="t" l="l"/>
            <a:pathLst>
              <a:path h="1835915" w="8742453">
                <a:moveTo>
                  <a:pt x="0" y="0"/>
                </a:moveTo>
                <a:lnTo>
                  <a:pt x="8742453" y="0"/>
                </a:lnTo>
                <a:lnTo>
                  <a:pt x="8742453" y="1835915"/>
                </a:lnTo>
                <a:lnTo>
                  <a:pt x="0" y="1835915"/>
                </a:lnTo>
                <a:lnTo>
                  <a:pt x="0" y="0"/>
                </a:lnTo>
                <a:close/>
              </a:path>
            </a:pathLst>
          </a:custGeom>
          <a:blipFill>
            <a:blip r:embed="rId5"/>
            <a:stretch>
              <a:fillRect l="0" t="0" r="0" b="0"/>
            </a:stretch>
          </a:blipFill>
        </p:spPr>
      </p:sp>
      <p:sp>
        <p:nvSpPr>
          <p:cNvPr name="Freeform 6" id="6"/>
          <p:cNvSpPr/>
          <p:nvPr/>
        </p:nvSpPr>
        <p:spPr>
          <a:xfrm flipH="false" flipV="false" rot="0">
            <a:off x="9545547" y="3969706"/>
            <a:ext cx="8742453" cy="5103407"/>
          </a:xfrm>
          <a:custGeom>
            <a:avLst/>
            <a:gdLst/>
            <a:ahLst/>
            <a:cxnLst/>
            <a:rect r="r" b="b" t="t" l="l"/>
            <a:pathLst>
              <a:path h="5103407" w="8742453">
                <a:moveTo>
                  <a:pt x="0" y="0"/>
                </a:moveTo>
                <a:lnTo>
                  <a:pt x="8742453" y="0"/>
                </a:lnTo>
                <a:lnTo>
                  <a:pt x="8742453" y="5103407"/>
                </a:lnTo>
                <a:lnTo>
                  <a:pt x="0" y="5103407"/>
                </a:lnTo>
                <a:lnTo>
                  <a:pt x="0" y="0"/>
                </a:lnTo>
                <a:close/>
              </a:path>
            </a:pathLst>
          </a:custGeom>
          <a:blipFill>
            <a:blip r:embed="rId6"/>
            <a:stretch>
              <a:fillRect l="0" t="0" r="0" b="0"/>
            </a:stretch>
          </a:blipFill>
        </p:spPr>
      </p:sp>
      <p:sp>
        <p:nvSpPr>
          <p:cNvPr name="TextBox 7" id="7"/>
          <p:cNvSpPr txBox="true"/>
          <p:nvPr/>
        </p:nvSpPr>
        <p:spPr>
          <a:xfrm rot="0">
            <a:off x="770362" y="842540"/>
            <a:ext cx="9059297"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Dataset Generation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830664" y="2929637"/>
            <a:ext cx="16626671" cy="4946435"/>
          </a:xfrm>
          <a:custGeom>
            <a:avLst/>
            <a:gdLst/>
            <a:ahLst/>
            <a:cxnLst/>
            <a:rect r="r" b="b" t="t" l="l"/>
            <a:pathLst>
              <a:path h="4946435" w="16626671">
                <a:moveTo>
                  <a:pt x="0" y="0"/>
                </a:moveTo>
                <a:lnTo>
                  <a:pt x="16626672" y="0"/>
                </a:lnTo>
                <a:lnTo>
                  <a:pt x="16626672" y="4946435"/>
                </a:lnTo>
                <a:lnTo>
                  <a:pt x="0" y="4946435"/>
                </a:lnTo>
                <a:lnTo>
                  <a:pt x="0" y="0"/>
                </a:lnTo>
                <a:close/>
              </a:path>
            </a:pathLst>
          </a:custGeom>
          <a:blipFill>
            <a:blip r:embed="rId4"/>
            <a:stretch>
              <a:fillRect l="0" t="0" r="0" b="0"/>
            </a:stretch>
          </a:blipFill>
        </p:spPr>
      </p:sp>
      <p:sp>
        <p:nvSpPr>
          <p:cNvPr name="TextBox 4" id="4"/>
          <p:cNvSpPr txBox="true"/>
          <p:nvPr/>
        </p:nvSpPr>
        <p:spPr>
          <a:xfrm rot="0">
            <a:off x="830664" y="1123950"/>
            <a:ext cx="10943939"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Dataset Generation - Results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2269680" y="741879"/>
            <a:ext cx="13956123" cy="4134501"/>
          </a:xfrm>
          <a:custGeom>
            <a:avLst/>
            <a:gdLst/>
            <a:ahLst/>
            <a:cxnLst/>
            <a:rect r="r" b="b" t="t" l="l"/>
            <a:pathLst>
              <a:path h="4134501" w="13956123">
                <a:moveTo>
                  <a:pt x="0" y="0"/>
                </a:moveTo>
                <a:lnTo>
                  <a:pt x="13956123" y="0"/>
                </a:lnTo>
                <a:lnTo>
                  <a:pt x="13956123" y="4134501"/>
                </a:lnTo>
                <a:lnTo>
                  <a:pt x="0" y="4134501"/>
                </a:lnTo>
                <a:lnTo>
                  <a:pt x="0" y="0"/>
                </a:lnTo>
                <a:close/>
              </a:path>
            </a:pathLst>
          </a:custGeom>
          <a:blipFill>
            <a:blip r:embed="rId4"/>
            <a:stretch>
              <a:fillRect l="0" t="0" r="0" b="0"/>
            </a:stretch>
          </a:blipFill>
        </p:spPr>
      </p:sp>
      <p:sp>
        <p:nvSpPr>
          <p:cNvPr name="Freeform 4" id="4"/>
          <p:cNvSpPr/>
          <p:nvPr/>
        </p:nvSpPr>
        <p:spPr>
          <a:xfrm flipH="false" flipV="false" rot="0">
            <a:off x="2269680" y="5422556"/>
            <a:ext cx="13956123" cy="4169392"/>
          </a:xfrm>
          <a:custGeom>
            <a:avLst/>
            <a:gdLst/>
            <a:ahLst/>
            <a:cxnLst/>
            <a:rect r="r" b="b" t="t" l="l"/>
            <a:pathLst>
              <a:path h="4169392" w="13956123">
                <a:moveTo>
                  <a:pt x="0" y="0"/>
                </a:moveTo>
                <a:lnTo>
                  <a:pt x="13956123" y="0"/>
                </a:lnTo>
                <a:lnTo>
                  <a:pt x="13956123" y="4169391"/>
                </a:lnTo>
                <a:lnTo>
                  <a:pt x="0" y="4169391"/>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AutoShape 3" id="3"/>
          <p:cNvSpPr/>
          <p:nvPr/>
        </p:nvSpPr>
        <p:spPr>
          <a:xfrm flipV="true">
            <a:off x="9526497" y="1628289"/>
            <a:ext cx="19050" cy="8291260"/>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136933" y="2354874"/>
            <a:ext cx="9399090" cy="5933175"/>
          </a:xfrm>
          <a:custGeom>
            <a:avLst/>
            <a:gdLst/>
            <a:ahLst/>
            <a:cxnLst/>
            <a:rect r="r" b="b" t="t" l="l"/>
            <a:pathLst>
              <a:path h="5933175" w="9399090">
                <a:moveTo>
                  <a:pt x="0" y="0"/>
                </a:moveTo>
                <a:lnTo>
                  <a:pt x="9399089" y="0"/>
                </a:lnTo>
                <a:lnTo>
                  <a:pt x="9399089" y="5933175"/>
                </a:lnTo>
                <a:lnTo>
                  <a:pt x="0" y="5933175"/>
                </a:lnTo>
                <a:lnTo>
                  <a:pt x="0" y="0"/>
                </a:lnTo>
                <a:close/>
              </a:path>
            </a:pathLst>
          </a:custGeom>
          <a:blipFill>
            <a:blip r:embed="rId4"/>
            <a:stretch>
              <a:fillRect l="0" t="0" r="0" b="0"/>
            </a:stretch>
          </a:blipFill>
        </p:spPr>
      </p:sp>
      <p:sp>
        <p:nvSpPr>
          <p:cNvPr name="Freeform 5" id="5"/>
          <p:cNvSpPr/>
          <p:nvPr/>
        </p:nvSpPr>
        <p:spPr>
          <a:xfrm flipH="false" flipV="false" rot="0">
            <a:off x="9545547" y="2061093"/>
            <a:ext cx="8742453" cy="2054504"/>
          </a:xfrm>
          <a:custGeom>
            <a:avLst/>
            <a:gdLst/>
            <a:ahLst/>
            <a:cxnLst/>
            <a:rect r="r" b="b" t="t" l="l"/>
            <a:pathLst>
              <a:path h="2054504" w="8742453">
                <a:moveTo>
                  <a:pt x="0" y="0"/>
                </a:moveTo>
                <a:lnTo>
                  <a:pt x="8742453" y="0"/>
                </a:lnTo>
                <a:lnTo>
                  <a:pt x="8742453" y="2054504"/>
                </a:lnTo>
                <a:lnTo>
                  <a:pt x="0" y="2054504"/>
                </a:lnTo>
                <a:lnTo>
                  <a:pt x="0" y="0"/>
                </a:lnTo>
                <a:close/>
              </a:path>
            </a:pathLst>
          </a:custGeom>
          <a:blipFill>
            <a:blip r:embed="rId5"/>
            <a:stretch>
              <a:fillRect l="0" t="0" r="0" b="-92018"/>
            </a:stretch>
          </a:blipFill>
        </p:spPr>
      </p:sp>
      <p:sp>
        <p:nvSpPr>
          <p:cNvPr name="Freeform 6" id="6"/>
          <p:cNvSpPr/>
          <p:nvPr/>
        </p:nvSpPr>
        <p:spPr>
          <a:xfrm flipH="false" flipV="false" rot="0">
            <a:off x="9545547" y="4115597"/>
            <a:ext cx="8742453" cy="5332896"/>
          </a:xfrm>
          <a:custGeom>
            <a:avLst/>
            <a:gdLst/>
            <a:ahLst/>
            <a:cxnLst/>
            <a:rect r="r" b="b" t="t" l="l"/>
            <a:pathLst>
              <a:path h="5332896" w="8742453">
                <a:moveTo>
                  <a:pt x="0" y="0"/>
                </a:moveTo>
                <a:lnTo>
                  <a:pt x="8742453" y="0"/>
                </a:lnTo>
                <a:lnTo>
                  <a:pt x="8742453" y="5332896"/>
                </a:lnTo>
                <a:lnTo>
                  <a:pt x="0" y="5332896"/>
                </a:lnTo>
                <a:lnTo>
                  <a:pt x="0" y="0"/>
                </a:lnTo>
                <a:close/>
              </a:path>
            </a:pathLst>
          </a:custGeom>
          <a:blipFill>
            <a:blip r:embed="rId6"/>
            <a:stretch>
              <a:fillRect l="0" t="0" r="0" b="0"/>
            </a:stretch>
          </a:blipFill>
        </p:spPr>
      </p:sp>
      <p:sp>
        <p:nvSpPr>
          <p:cNvPr name="TextBox 7" id="7"/>
          <p:cNvSpPr txBox="true"/>
          <p:nvPr/>
        </p:nvSpPr>
        <p:spPr>
          <a:xfrm rot="0">
            <a:off x="770362" y="842540"/>
            <a:ext cx="9059297"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Training U-Net Model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AutoShape 3" id="3"/>
          <p:cNvSpPr/>
          <p:nvPr/>
        </p:nvSpPr>
        <p:spPr>
          <a:xfrm flipV="true">
            <a:off x="9526497" y="1628289"/>
            <a:ext cx="19050" cy="8291260"/>
          </a:xfrm>
          <a:prstGeom prst="line">
            <a:avLst/>
          </a:prstGeom>
          <a:ln cap="flat" w="38100">
            <a:solidFill>
              <a:srgbClr val="000000"/>
            </a:solidFill>
            <a:prstDash val="solid"/>
            <a:headEnd type="none" len="sm" w="sm"/>
            <a:tailEnd type="none" len="sm" w="sm"/>
          </a:ln>
        </p:spPr>
      </p:sp>
      <p:sp>
        <p:nvSpPr>
          <p:cNvPr name="Freeform 4" id="4"/>
          <p:cNvSpPr/>
          <p:nvPr/>
        </p:nvSpPr>
        <p:spPr>
          <a:xfrm flipH="false" flipV="false" rot="0">
            <a:off x="426143" y="3005048"/>
            <a:ext cx="9747734" cy="4069679"/>
          </a:xfrm>
          <a:custGeom>
            <a:avLst/>
            <a:gdLst/>
            <a:ahLst/>
            <a:cxnLst/>
            <a:rect r="r" b="b" t="t" l="l"/>
            <a:pathLst>
              <a:path h="4069679" w="9747734">
                <a:moveTo>
                  <a:pt x="0" y="0"/>
                </a:moveTo>
                <a:lnTo>
                  <a:pt x="9747735" y="0"/>
                </a:lnTo>
                <a:lnTo>
                  <a:pt x="9747735" y="4069679"/>
                </a:lnTo>
                <a:lnTo>
                  <a:pt x="0" y="4069679"/>
                </a:lnTo>
                <a:lnTo>
                  <a:pt x="0" y="0"/>
                </a:lnTo>
                <a:close/>
              </a:path>
            </a:pathLst>
          </a:custGeom>
          <a:blipFill>
            <a:blip r:embed="rId4"/>
            <a:stretch>
              <a:fillRect l="0" t="0" r="0" b="0"/>
            </a:stretch>
          </a:blipFill>
        </p:spPr>
      </p:sp>
      <p:sp>
        <p:nvSpPr>
          <p:cNvPr name="Freeform 5" id="5"/>
          <p:cNvSpPr/>
          <p:nvPr/>
        </p:nvSpPr>
        <p:spPr>
          <a:xfrm flipH="false" flipV="false" rot="0">
            <a:off x="9526497" y="3005048"/>
            <a:ext cx="9408492" cy="4351427"/>
          </a:xfrm>
          <a:custGeom>
            <a:avLst/>
            <a:gdLst/>
            <a:ahLst/>
            <a:cxnLst/>
            <a:rect r="r" b="b" t="t" l="l"/>
            <a:pathLst>
              <a:path h="4351427" w="9408492">
                <a:moveTo>
                  <a:pt x="0" y="0"/>
                </a:moveTo>
                <a:lnTo>
                  <a:pt x="9408492" y="0"/>
                </a:lnTo>
                <a:lnTo>
                  <a:pt x="9408492" y="4351427"/>
                </a:lnTo>
                <a:lnTo>
                  <a:pt x="0" y="4351427"/>
                </a:lnTo>
                <a:lnTo>
                  <a:pt x="0" y="0"/>
                </a:lnTo>
                <a:close/>
              </a:path>
            </a:pathLst>
          </a:custGeom>
          <a:blipFill>
            <a:blip r:embed="rId5"/>
            <a:stretch>
              <a:fillRect l="0" t="0" r="0" b="0"/>
            </a:stretch>
          </a:blipFill>
        </p:spPr>
      </p:sp>
      <p:sp>
        <p:nvSpPr>
          <p:cNvPr name="Freeform 6" id="6"/>
          <p:cNvSpPr/>
          <p:nvPr/>
        </p:nvSpPr>
        <p:spPr>
          <a:xfrm flipH="false" flipV="false" rot="0">
            <a:off x="9877284" y="7816576"/>
            <a:ext cx="2143799" cy="334717"/>
          </a:xfrm>
          <a:custGeom>
            <a:avLst/>
            <a:gdLst/>
            <a:ahLst/>
            <a:cxnLst/>
            <a:rect r="r" b="b" t="t" l="l"/>
            <a:pathLst>
              <a:path h="334717" w="2143799">
                <a:moveTo>
                  <a:pt x="0" y="0"/>
                </a:moveTo>
                <a:lnTo>
                  <a:pt x="2143799" y="0"/>
                </a:lnTo>
                <a:lnTo>
                  <a:pt x="2143799" y="334717"/>
                </a:lnTo>
                <a:lnTo>
                  <a:pt x="0" y="334717"/>
                </a:lnTo>
                <a:lnTo>
                  <a:pt x="0" y="0"/>
                </a:lnTo>
                <a:close/>
              </a:path>
            </a:pathLst>
          </a:custGeom>
          <a:blipFill>
            <a:blip r:embed="rId6"/>
            <a:stretch>
              <a:fillRect l="0" t="-7493" r="0" b="0"/>
            </a:stretch>
          </a:blipFill>
        </p:spPr>
      </p:sp>
      <p:sp>
        <p:nvSpPr>
          <p:cNvPr name="Freeform 7" id="7"/>
          <p:cNvSpPr/>
          <p:nvPr/>
        </p:nvSpPr>
        <p:spPr>
          <a:xfrm flipH="false" flipV="false" rot="0">
            <a:off x="9829659" y="7517084"/>
            <a:ext cx="5827846" cy="299492"/>
          </a:xfrm>
          <a:custGeom>
            <a:avLst/>
            <a:gdLst/>
            <a:ahLst/>
            <a:cxnLst/>
            <a:rect r="r" b="b" t="t" l="l"/>
            <a:pathLst>
              <a:path h="299492" w="5827846">
                <a:moveTo>
                  <a:pt x="0" y="0"/>
                </a:moveTo>
                <a:lnTo>
                  <a:pt x="5827846" y="0"/>
                </a:lnTo>
                <a:lnTo>
                  <a:pt x="5827846" y="299492"/>
                </a:lnTo>
                <a:lnTo>
                  <a:pt x="0" y="299492"/>
                </a:lnTo>
                <a:lnTo>
                  <a:pt x="0" y="0"/>
                </a:lnTo>
                <a:close/>
              </a:path>
            </a:pathLst>
          </a:custGeom>
          <a:blipFill>
            <a:blip r:embed="rId7"/>
            <a:stretch>
              <a:fillRect l="0" t="-16754" r="0" b="0"/>
            </a:stretch>
          </a:blipFill>
        </p:spPr>
      </p:sp>
      <p:sp>
        <p:nvSpPr>
          <p:cNvPr name="TextBox 8" id="8"/>
          <p:cNvSpPr txBox="true"/>
          <p:nvPr/>
        </p:nvSpPr>
        <p:spPr>
          <a:xfrm rot="0">
            <a:off x="770362" y="842540"/>
            <a:ext cx="9059297"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Training U-Net Model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28700" y="2897793"/>
            <a:ext cx="16094599" cy="5029562"/>
          </a:xfrm>
          <a:custGeom>
            <a:avLst/>
            <a:gdLst/>
            <a:ahLst/>
            <a:cxnLst/>
            <a:rect r="r" b="b" t="t" l="l"/>
            <a:pathLst>
              <a:path h="5029562" w="16094599">
                <a:moveTo>
                  <a:pt x="0" y="0"/>
                </a:moveTo>
                <a:lnTo>
                  <a:pt x="16094599" y="0"/>
                </a:lnTo>
                <a:lnTo>
                  <a:pt x="16094599" y="5029562"/>
                </a:lnTo>
                <a:lnTo>
                  <a:pt x="0" y="5029562"/>
                </a:lnTo>
                <a:lnTo>
                  <a:pt x="0" y="0"/>
                </a:lnTo>
                <a:close/>
              </a:path>
            </a:pathLst>
          </a:custGeom>
          <a:blipFill>
            <a:blip r:embed="rId3"/>
            <a:stretch>
              <a:fillRect l="0" t="0" r="0" b="0"/>
            </a:stretch>
          </a:blipFill>
        </p:spPr>
      </p:sp>
      <p:sp>
        <p:nvSpPr>
          <p:cNvPr name="TextBox 4" id="4"/>
          <p:cNvSpPr txBox="true"/>
          <p:nvPr/>
        </p:nvSpPr>
        <p:spPr>
          <a:xfrm rot="0">
            <a:off x="770362" y="1123950"/>
            <a:ext cx="10874778"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Training U-Net Model - Results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989115" y="717641"/>
            <a:ext cx="13885049" cy="4425859"/>
          </a:xfrm>
          <a:custGeom>
            <a:avLst/>
            <a:gdLst/>
            <a:ahLst/>
            <a:cxnLst/>
            <a:rect r="r" b="b" t="t" l="l"/>
            <a:pathLst>
              <a:path h="4425859" w="13885049">
                <a:moveTo>
                  <a:pt x="0" y="0"/>
                </a:moveTo>
                <a:lnTo>
                  <a:pt x="13885049" y="0"/>
                </a:lnTo>
                <a:lnTo>
                  <a:pt x="13885049" y="4425859"/>
                </a:lnTo>
                <a:lnTo>
                  <a:pt x="0" y="4425859"/>
                </a:lnTo>
                <a:lnTo>
                  <a:pt x="0" y="0"/>
                </a:lnTo>
                <a:close/>
              </a:path>
            </a:pathLst>
          </a:custGeom>
          <a:blipFill>
            <a:blip r:embed="rId3"/>
            <a:stretch>
              <a:fillRect l="0" t="0" r="0" b="0"/>
            </a:stretch>
          </a:blipFill>
        </p:spPr>
      </p:sp>
      <p:sp>
        <p:nvSpPr>
          <p:cNvPr name="Freeform 4" id="4"/>
          <p:cNvSpPr/>
          <p:nvPr/>
        </p:nvSpPr>
        <p:spPr>
          <a:xfrm flipH="false" flipV="false" rot="0">
            <a:off x="1989115" y="5523720"/>
            <a:ext cx="13885049" cy="4304365"/>
          </a:xfrm>
          <a:custGeom>
            <a:avLst/>
            <a:gdLst/>
            <a:ahLst/>
            <a:cxnLst/>
            <a:rect r="r" b="b" t="t" l="l"/>
            <a:pathLst>
              <a:path h="4304365" w="13885049">
                <a:moveTo>
                  <a:pt x="0" y="0"/>
                </a:moveTo>
                <a:lnTo>
                  <a:pt x="13885049" y="0"/>
                </a:lnTo>
                <a:lnTo>
                  <a:pt x="13885049" y="4304366"/>
                </a:lnTo>
                <a:lnTo>
                  <a:pt x="0" y="4304366"/>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pic>
        <p:nvPicPr>
          <p:cNvPr name="Picture 3" id="3">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1309645" y="4436795"/>
            <a:ext cx="15414958" cy="4755678"/>
          </a:xfrm>
          <a:prstGeom prst="rect">
            <a:avLst/>
          </a:prstGeom>
        </p:spPr>
      </p:pic>
      <p:sp>
        <p:nvSpPr>
          <p:cNvPr name="TextBox 4" id="4"/>
          <p:cNvSpPr txBox="true"/>
          <p:nvPr/>
        </p:nvSpPr>
        <p:spPr>
          <a:xfrm rot="0">
            <a:off x="770362" y="842584"/>
            <a:ext cx="10656231"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Extending to a Moving Object</a:t>
            </a:r>
          </a:p>
        </p:txBody>
      </p:sp>
      <p:sp>
        <p:nvSpPr>
          <p:cNvPr name="TextBox 5" id="5"/>
          <p:cNvSpPr txBox="true"/>
          <p:nvPr/>
        </p:nvSpPr>
        <p:spPr>
          <a:xfrm rot="0">
            <a:off x="770362" y="1863140"/>
            <a:ext cx="16232986" cy="365760"/>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We used Simulation Team’s code for simulating an object moving in a circular trajectory.</a:t>
            </a:r>
          </a:p>
        </p:txBody>
      </p:sp>
      <p:sp>
        <p:nvSpPr>
          <p:cNvPr name="TextBox 6" id="6"/>
          <p:cNvSpPr txBox="true"/>
          <p:nvPr/>
        </p:nvSpPr>
        <p:spPr>
          <a:xfrm rot="0">
            <a:off x="770362" y="2467025"/>
            <a:ext cx="16794095" cy="737235"/>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Added per-frame export in MATLAB (inverse RTI script): </a:t>
            </a:r>
            <a:r>
              <a:rPr lang="en-US" sz="2099">
                <a:solidFill>
                  <a:srgbClr val="000000"/>
                </a:solidFill>
                <a:latin typeface="Garet"/>
                <a:ea typeface="Garet"/>
                <a:cs typeface="Garet"/>
                <a:sym typeface="Garet"/>
              </a:rPr>
              <a:t>After rec</a:t>
            </a:r>
            <a:r>
              <a:rPr lang="en-US" sz="2099">
                <a:solidFill>
                  <a:srgbClr val="000000"/>
                </a:solidFill>
                <a:latin typeface="Garet"/>
                <a:ea typeface="Garet"/>
                <a:cs typeface="Garet"/>
                <a:sym typeface="Garet"/>
              </a:rPr>
              <a:t>onstructing the sequence Otime(:, :, t), we export each frame as a .mat containing X̂ (and X_GT mask if trajectory is available), with per-frame [0,1] normalization. </a:t>
            </a:r>
          </a:p>
        </p:txBody>
      </p:sp>
      <p:sp>
        <p:nvSpPr>
          <p:cNvPr name="TextBox 7" id="7"/>
          <p:cNvSpPr txBox="true"/>
          <p:nvPr/>
        </p:nvSpPr>
        <p:spPr>
          <a:xfrm rot="0">
            <a:off x="770362" y="3413810"/>
            <a:ext cx="17074649" cy="737235"/>
          </a:xfrm>
          <a:prstGeom prst="rect">
            <a:avLst/>
          </a:prstGeom>
        </p:spPr>
        <p:txBody>
          <a:bodyPr anchor="t" rtlCol="false" tIns="0" lIns="0" bIns="0" rIns="0">
            <a:spAutoFit/>
          </a:bodyPr>
          <a:lstStyle/>
          <a:p>
            <a:pPr algn="l" marL="453388" indent="-226694" lvl="1">
              <a:lnSpc>
                <a:spcPts val="2939"/>
              </a:lnSpc>
              <a:buFont typeface="Arial"/>
              <a:buChar char="•"/>
            </a:pPr>
            <a:r>
              <a:rPr lang="en-US" sz="2099">
                <a:solidFill>
                  <a:srgbClr val="000000"/>
                </a:solidFill>
                <a:latin typeface="Garet"/>
                <a:ea typeface="Garet"/>
                <a:cs typeface="Garet"/>
                <a:sym typeface="Garet"/>
              </a:rPr>
              <a:t>Created a</a:t>
            </a:r>
            <a:r>
              <a:rPr lang="en-US" sz="2099">
                <a:solidFill>
                  <a:srgbClr val="000000"/>
                </a:solidFill>
                <a:latin typeface="Garet"/>
                <a:ea typeface="Garet"/>
                <a:cs typeface="Garet"/>
                <a:sym typeface="Garet"/>
              </a:rPr>
              <a:t> folder that loads all </a:t>
            </a:r>
            <a:r>
              <a:rPr lang="en-US" b="true" sz="2099">
                <a:solidFill>
                  <a:srgbClr val="000000"/>
                </a:solidFill>
                <a:latin typeface="Garet Bold"/>
                <a:ea typeface="Garet Bold"/>
                <a:cs typeface="Garet Bold"/>
                <a:sym typeface="Garet Bold"/>
              </a:rPr>
              <a:t>frame_*.mat</a:t>
            </a:r>
            <a:r>
              <a:rPr lang="en-US" sz="2099">
                <a:solidFill>
                  <a:srgbClr val="000000"/>
                </a:solidFill>
                <a:latin typeface="Garet"/>
                <a:ea typeface="Garet"/>
                <a:cs typeface="Garet"/>
                <a:sym typeface="Garet"/>
              </a:rPr>
              <a:t> files, runs our trained U-Net (base=64) to produce X_pred, and saves side-by-side panels </a:t>
            </a:r>
            <a:r>
              <a:rPr lang="en-US" b="true" sz="2099">
                <a:solidFill>
                  <a:srgbClr val="000000"/>
                </a:solidFill>
                <a:latin typeface="Garet Bold"/>
                <a:ea typeface="Garet Bold"/>
                <a:cs typeface="Garet Bold"/>
                <a:sym typeface="Garet Bold"/>
              </a:rPr>
              <a:t>(X_GT | X̂ | X_pred)</a:t>
            </a:r>
            <a:r>
              <a:rPr lang="en-US" sz="2099">
                <a:solidFill>
                  <a:srgbClr val="000000"/>
                </a:solidFill>
                <a:latin typeface="Garet"/>
                <a:ea typeface="Garet"/>
                <a:cs typeface="Garet"/>
                <a:sym typeface="Garet"/>
              </a:rPr>
              <a:t>.</a:t>
            </a:r>
          </a:p>
        </p:txBody>
      </p:sp>
    </p:spTree>
  </p:cSld>
  <p:clrMapOvr>
    <a:masterClrMapping/>
  </p:clrMapOvr>
  <p:timing>
    <p:tnLst>
      <p:par>
        <p:cTn dur="indefinite" restart="never" nodeType="tmRoot">
          <p:childTnLst>
            <p:video>
              <p:cMediaNode vol="100000">
                <p:cTn fill="hold" display="false">
                  <p:stCondLst>
                    <p:cond delay="indefinite"/>
                  </p:stCondLst>
                </p:cTn>
                <p:tgtEl>
                  <p:spTgt spid="3"/>
                </p:tgtEl>
              </p:cMediaNode>
            </p:video>
          </p:childTnLst>
        </p:cTn>
      </p:par>
    </p:tnLst>
  </p:timing>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3364" r="0" b="-3364"/>
            </a:stretch>
          </a:blipFill>
        </p:spPr>
      </p:sp>
      <p:sp>
        <p:nvSpPr>
          <p:cNvPr name="Freeform 3" id="3"/>
          <p:cNvSpPr/>
          <p:nvPr/>
        </p:nvSpPr>
        <p:spPr>
          <a:xfrm flipH="false" flipV="false" rot="0">
            <a:off x="1028700" y="1853921"/>
            <a:ext cx="13966663" cy="7815348"/>
          </a:xfrm>
          <a:custGeom>
            <a:avLst/>
            <a:gdLst/>
            <a:ahLst/>
            <a:cxnLst/>
            <a:rect r="r" b="b" t="t" l="l"/>
            <a:pathLst>
              <a:path h="7815348" w="13966663">
                <a:moveTo>
                  <a:pt x="0" y="0"/>
                </a:moveTo>
                <a:lnTo>
                  <a:pt x="13966663" y="0"/>
                </a:lnTo>
                <a:lnTo>
                  <a:pt x="13966663" y="7815349"/>
                </a:lnTo>
                <a:lnTo>
                  <a:pt x="0" y="7815349"/>
                </a:lnTo>
                <a:lnTo>
                  <a:pt x="0" y="0"/>
                </a:lnTo>
                <a:close/>
              </a:path>
            </a:pathLst>
          </a:custGeom>
          <a:blipFill>
            <a:blip r:embed="rId4"/>
            <a:stretch>
              <a:fillRect l="0" t="0" r="0" b="0"/>
            </a:stretch>
          </a:blipFill>
        </p:spPr>
      </p:sp>
      <p:sp>
        <p:nvSpPr>
          <p:cNvPr name="TextBox 4" id="4"/>
          <p:cNvSpPr txBox="true"/>
          <p:nvPr/>
        </p:nvSpPr>
        <p:spPr>
          <a:xfrm rot="0">
            <a:off x="770362" y="842540"/>
            <a:ext cx="9059297"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000000"/>
                </a:solidFill>
                <a:latin typeface="Archivo Black"/>
                <a:ea typeface="Archivo Black"/>
                <a:cs typeface="Archivo Black"/>
                <a:sym typeface="Archivo Black"/>
              </a:rPr>
              <a:t>Future Scope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1270764" y="4847141"/>
            <a:ext cx="10138547" cy="916569"/>
          </a:xfrm>
          <a:prstGeom prst="rect">
            <a:avLst/>
          </a:prstGeom>
        </p:spPr>
        <p:txBody>
          <a:bodyPr anchor="t" rtlCol="false" tIns="0" lIns="0" bIns="0" rIns="0">
            <a:spAutoFit/>
          </a:bodyPr>
          <a:lstStyle/>
          <a:p>
            <a:pPr algn="l">
              <a:lnSpc>
                <a:spcPts val="6376"/>
              </a:lnSpc>
            </a:pPr>
            <a:r>
              <a:rPr lang="en-US" sz="8174" spc="-645">
                <a:solidFill>
                  <a:srgbClr val="000000"/>
                </a:solidFill>
                <a:latin typeface="Archivo Black"/>
                <a:ea typeface="Archivo Black"/>
                <a:cs typeface="Archivo Black"/>
                <a:sym typeface="Archivo Black"/>
              </a:rPr>
              <a:t>Thank you</a:t>
            </a:r>
          </a:p>
        </p:txBody>
      </p:sp>
      <p:sp>
        <p:nvSpPr>
          <p:cNvPr name="Freeform 4" id="4"/>
          <p:cNvSpPr/>
          <p:nvPr/>
        </p:nvSpPr>
        <p:spPr>
          <a:xfrm flipH="false" flipV="false" rot="0">
            <a:off x="9627925" y="2843404"/>
            <a:ext cx="4600191" cy="4600191"/>
          </a:xfrm>
          <a:custGeom>
            <a:avLst/>
            <a:gdLst/>
            <a:ahLst/>
            <a:cxnLst/>
            <a:rect r="r" b="b" t="t" l="l"/>
            <a:pathLst>
              <a:path h="4600191" w="4600191">
                <a:moveTo>
                  <a:pt x="0" y="0"/>
                </a:moveTo>
                <a:lnTo>
                  <a:pt x="4600191" y="0"/>
                </a:lnTo>
                <a:lnTo>
                  <a:pt x="4600191" y="4600192"/>
                </a:lnTo>
                <a:lnTo>
                  <a:pt x="0" y="460019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8535851"/>
            <a:ext cx="3199774" cy="1751149"/>
          </a:xfrm>
          <a:custGeom>
            <a:avLst/>
            <a:gdLst/>
            <a:ahLst/>
            <a:cxnLst/>
            <a:rect r="r" b="b" t="t" l="l"/>
            <a:pathLst>
              <a:path h="1751149" w="3199774">
                <a:moveTo>
                  <a:pt x="0" y="0"/>
                </a:moveTo>
                <a:lnTo>
                  <a:pt x="3199774" y="0"/>
                </a:lnTo>
                <a:lnTo>
                  <a:pt x="3199774" y="1751149"/>
                </a:lnTo>
                <a:lnTo>
                  <a:pt x="0" y="17511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4750" y="0"/>
            <a:ext cx="3234523" cy="1770166"/>
          </a:xfrm>
          <a:custGeom>
            <a:avLst/>
            <a:gdLst/>
            <a:ahLst/>
            <a:cxnLst/>
            <a:rect r="r" b="b" t="t" l="l"/>
            <a:pathLst>
              <a:path h="1770166" w="3234523">
                <a:moveTo>
                  <a:pt x="0" y="0"/>
                </a:moveTo>
                <a:lnTo>
                  <a:pt x="3234524" y="0"/>
                </a:lnTo>
                <a:lnTo>
                  <a:pt x="3234524" y="1770166"/>
                </a:lnTo>
                <a:lnTo>
                  <a:pt x="0" y="17701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5242421" y="8817654"/>
            <a:ext cx="3045579" cy="1528327"/>
          </a:xfrm>
          <a:custGeom>
            <a:avLst/>
            <a:gdLst/>
            <a:ahLst/>
            <a:cxnLst/>
            <a:rect r="r" b="b" t="t" l="l"/>
            <a:pathLst>
              <a:path h="1528327" w="3045579">
                <a:moveTo>
                  <a:pt x="0" y="0"/>
                </a:moveTo>
                <a:lnTo>
                  <a:pt x="3045579" y="0"/>
                </a:lnTo>
                <a:lnTo>
                  <a:pt x="3045579" y="1528327"/>
                </a:lnTo>
                <a:lnTo>
                  <a:pt x="0" y="15283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0800000">
            <a:off x="15242421" y="0"/>
            <a:ext cx="3045579" cy="1528327"/>
          </a:xfrm>
          <a:custGeom>
            <a:avLst/>
            <a:gdLst/>
            <a:ahLst/>
            <a:cxnLst/>
            <a:rect r="r" b="b" t="t" l="l"/>
            <a:pathLst>
              <a:path h="1528327" w="3045579">
                <a:moveTo>
                  <a:pt x="0" y="0"/>
                </a:moveTo>
                <a:lnTo>
                  <a:pt x="3045579" y="0"/>
                </a:lnTo>
                <a:lnTo>
                  <a:pt x="3045579" y="1528327"/>
                </a:lnTo>
                <a:lnTo>
                  <a:pt x="0" y="15283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DAG5yqQmIJs</dc:identifier>
  <dcterms:modified xsi:type="dcterms:W3CDTF">2011-08-01T06:04:30Z</dcterms:modified>
  <cp:revision>1</cp:revision>
  <dc:title>BTP Final PPT</dc:title>
</cp:coreProperties>
</file>