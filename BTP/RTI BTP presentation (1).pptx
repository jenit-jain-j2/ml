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8"/>
  </p:notesMasterIdLst>
  <p:sldIdLst>
    <p:sldId id="256" r:id="rId2"/>
    <p:sldId id="305" r:id="rId3"/>
    <p:sldId id="316" r:id="rId4"/>
    <p:sldId id="310" r:id="rId5"/>
    <p:sldId id="323" r:id="rId6"/>
    <p:sldId id="325" r:id="rId7"/>
    <p:sldId id="344" r:id="rId8"/>
    <p:sldId id="345" r:id="rId9"/>
    <p:sldId id="347" r:id="rId10"/>
    <p:sldId id="349" r:id="rId11"/>
    <p:sldId id="350" r:id="rId12"/>
    <p:sldId id="352" r:id="rId13"/>
    <p:sldId id="353" r:id="rId14"/>
    <p:sldId id="355" r:id="rId15"/>
    <p:sldId id="354" r:id="rId16"/>
    <p:sldId id="313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Didact Gothic" panose="00000500000000000000" pitchFamily="2" charset="0"/>
      <p:regular r:id="rId20"/>
    </p:embeddedFont>
    <p:embeddedFont>
      <p:font typeface="Lexend Tera" panose="020B0604020202020204" charset="0"/>
      <p:regular r:id="rId21"/>
      <p:bold r:id="rId22"/>
    </p:embeddedFont>
    <p:embeddedFont>
      <p:font typeface="Old Standard TT" panose="020B0604020202020204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699025-FFFD-4ECD-A87D-C793CBCB5F8D}">
  <a:tblStyle styleId="{62699025-FFFD-4ECD-A87D-C793CBCB5F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1dd3286a6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1dd3286a6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8156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259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219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381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0141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8B79450E-C6D7-0B7F-E40A-DEE131F5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>
            <a:extLst>
              <a:ext uri="{FF2B5EF4-FFF2-40B4-BE49-F238E27FC236}">
                <a16:creationId xmlns:a16="http://schemas.microsoft.com/office/drawing/2014/main" id="{CB54E23D-A13C-83E2-CF83-DF714B740D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>
            <a:extLst>
              <a:ext uri="{FF2B5EF4-FFF2-40B4-BE49-F238E27FC236}">
                <a16:creationId xmlns:a16="http://schemas.microsoft.com/office/drawing/2014/main" id="{ABEB36CC-A494-541F-3D23-D3EDDD71A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158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895CA7CF-6172-A7C4-DFFC-9F6617D0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>
            <a:extLst>
              <a:ext uri="{FF2B5EF4-FFF2-40B4-BE49-F238E27FC236}">
                <a16:creationId xmlns:a16="http://schemas.microsoft.com/office/drawing/2014/main" id="{BD18157C-B610-D247-5AE9-0BAAF05AE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>
            <a:extLst>
              <a:ext uri="{FF2B5EF4-FFF2-40B4-BE49-F238E27FC236}">
                <a16:creationId xmlns:a16="http://schemas.microsoft.com/office/drawing/2014/main" id="{DFA44C21-14D1-A832-2CDF-567EB0551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9384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75F08E3D-1608-6F94-35B4-CA6CA98FF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>
            <a:extLst>
              <a:ext uri="{FF2B5EF4-FFF2-40B4-BE49-F238E27FC236}">
                <a16:creationId xmlns:a16="http://schemas.microsoft.com/office/drawing/2014/main" id="{CBEE3088-BEF1-3F9F-EC99-0C33AD91E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>
            <a:extLst>
              <a:ext uri="{FF2B5EF4-FFF2-40B4-BE49-F238E27FC236}">
                <a16:creationId xmlns:a16="http://schemas.microsoft.com/office/drawing/2014/main" id="{FAA8D782-C2AB-8EFF-2394-1838619824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7162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99CA7630-035B-FB9F-4B21-8CF9E935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>
            <a:extLst>
              <a:ext uri="{FF2B5EF4-FFF2-40B4-BE49-F238E27FC236}">
                <a16:creationId xmlns:a16="http://schemas.microsoft.com/office/drawing/2014/main" id="{ED76BB3A-E532-5550-CDCF-11311B10A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>
            <a:extLst>
              <a:ext uri="{FF2B5EF4-FFF2-40B4-BE49-F238E27FC236}">
                <a16:creationId xmlns:a16="http://schemas.microsoft.com/office/drawing/2014/main" id="{65ADCFBA-0A43-D524-4510-689C629A8A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9069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C7A8C907-FC9A-263D-93CD-76D05931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>
            <a:extLst>
              <a:ext uri="{FF2B5EF4-FFF2-40B4-BE49-F238E27FC236}">
                <a16:creationId xmlns:a16="http://schemas.microsoft.com/office/drawing/2014/main" id="{7E50E224-12B1-B811-DB37-2EB50558B3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>
            <a:extLst>
              <a:ext uri="{FF2B5EF4-FFF2-40B4-BE49-F238E27FC236}">
                <a16:creationId xmlns:a16="http://schemas.microsoft.com/office/drawing/2014/main" id="{317E0158-A4A3-F69C-31D9-7EEFF32BFB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8270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5D50062F-9739-281F-2544-D6D6063F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>
            <a:extLst>
              <a:ext uri="{FF2B5EF4-FFF2-40B4-BE49-F238E27FC236}">
                <a16:creationId xmlns:a16="http://schemas.microsoft.com/office/drawing/2014/main" id="{6AE06D63-29EC-568A-120A-6EC5C06171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>
            <a:extLst>
              <a:ext uri="{FF2B5EF4-FFF2-40B4-BE49-F238E27FC236}">
                <a16:creationId xmlns:a16="http://schemas.microsoft.com/office/drawing/2014/main" id="{BD3E7138-5143-3689-EA83-8510F1521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579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5F72AEE9-7576-7265-1F1C-A23541089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>
            <a:extLst>
              <a:ext uri="{FF2B5EF4-FFF2-40B4-BE49-F238E27FC236}">
                <a16:creationId xmlns:a16="http://schemas.microsoft.com/office/drawing/2014/main" id="{6406CBC5-05F1-1A62-D9E0-AC8B3BD0F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>
            <a:extLst>
              <a:ext uri="{FF2B5EF4-FFF2-40B4-BE49-F238E27FC236}">
                <a16:creationId xmlns:a16="http://schemas.microsoft.com/office/drawing/2014/main" id="{6F3E631F-A5F6-58F0-239B-6AE72CF71F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708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A0A6DF9C-BEA3-206A-A8F7-19053F4EA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>
            <a:extLst>
              <a:ext uri="{FF2B5EF4-FFF2-40B4-BE49-F238E27FC236}">
                <a16:creationId xmlns:a16="http://schemas.microsoft.com/office/drawing/2014/main" id="{12FBFF05-31B9-C962-F207-719A349088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>
            <a:extLst>
              <a:ext uri="{FF2B5EF4-FFF2-40B4-BE49-F238E27FC236}">
                <a16:creationId xmlns:a16="http://schemas.microsoft.com/office/drawing/2014/main" id="{7B770B65-55D0-1CB9-B9ED-A2331496AB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35752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DF1AACCB-4BF1-A0A9-2D1B-14C05C86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>
            <a:extLst>
              <a:ext uri="{FF2B5EF4-FFF2-40B4-BE49-F238E27FC236}">
                <a16:creationId xmlns:a16="http://schemas.microsoft.com/office/drawing/2014/main" id="{00668011-5B45-7945-CC77-1793E0F43B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>
            <a:extLst>
              <a:ext uri="{FF2B5EF4-FFF2-40B4-BE49-F238E27FC236}">
                <a16:creationId xmlns:a16="http://schemas.microsoft.com/office/drawing/2014/main" id="{2C636D0D-6605-E797-0E69-9B7BAA729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371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812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84100" y="1479650"/>
            <a:ext cx="6175800" cy="16404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724250" y="3265350"/>
            <a:ext cx="5695500" cy="393600"/>
          </a:xfrm>
          <a:prstGeom prst="rect">
            <a:avLst/>
          </a:prstGeom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12" name="Google Shape;12;p2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18;p2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name="adj" fmla="val 12500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name="adj" fmla="val 12500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1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3097150" y="3238237"/>
            <a:ext cx="2949900" cy="713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5" name="Google Shape;25;p3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3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3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3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3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name="adj" fmla="val 12500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name="adj" fmla="val 12500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5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81" name="Google Shape;281;p25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25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25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4" name="Google Shape;284;p25"/>
          <p:cNvSpPr/>
          <p:nvPr/>
        </p:nvSpPr>
        <p:spPr>
          <a:xfrm>
            <a:off x="8712900" y="4751950"/>
            <a:ext cx="273300" cy="2733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26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87" name="Google Shape;287;p26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26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26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0" name="Google Shape;290;p26"/>
          <p:cNvSpPr/>
          <p:nvPr/>
        </p:nvSpPr>
        <p:spPr>
          <a:xfrm>
            <a:off x="181925" y="124175"/>
            <a:ext cx="273300" cy="2733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71" r:id="rId4"/>
    <p:sldLayoutId id="2147483672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>
            <a:spLocks noGrp="1"/>
          </p:cNvSpPr>
          <p:nvPr>
            <p:ph type="ctrTitle"/>
          </p:nvPr>
        </p:nvSpPr>
        <p:spPr>
          <a:xfrm>
            <a:off x="1129517" y="319688"/>
            <a:ext cx="6877058" cy="1836214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/>
              <a:t>RTI</a:t>
            </a:r>
            <a:br>
              <a:rPr lang="en-US" dirty="0"/>
            </a:br>
            <a:r>
              <a:rPr lang="en-US" sz="2000" dirty="0"/>
              <a:t>ELD411: Final Presentation</a:t>
            </a:r>
            <a:endParaRPr lang="en-US" sz="2000" dirty="0">
              <a:solidFill>
                <a:schemeClr val="dk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AB1AD6D-AC6B-4CFD-787C-2DA9F7542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150" y="2039670"/>
            <a:ext cx="5695500" cy="393600"/>
          </a:xfrm>
        </p:spPr>
        <p:txBody>
          <a:bodyPr/>
          <a:lstStyle/>
          <a:p>
            <a:pPr algn="l"/>
            <a:r>
              <a:rPr lang="en-US" sz="1400" dirty="0"/>
              <a:t>Under the guidance of </a:t>
            </a:r>
          </a:p>
          <a:p>
            <a:pPr algn="l"/>
            <a:r>
              <a:rPr lang="en-US" sz="1400" i="1" dirty="0"/>
              <a:t>Prof. </a:t>
            </a:r>
            <a:r>
              <a:rPr lang="en-US" sz="1400" i="1" dirty="0" err="1"/>
              <a:t>Amartansh</a:t>
            </a:r>
            <a:r>
              <a:rPr lang="en-US" sz="1400" i="1" dirty="0"/>
              <a:t> Dubey </a:t>
            </a:r>
            <a:endParaRPr lang="en-US" sz="1400" dirty="0"/>
          </a:p>
          <a:p>
            <a:pPr algn="l"/>
            <a:r>
              <a:rPr lang="en-US" sz="1400" dirty="0"/>
              <a:t>Department of Electrical Engineering</a:t>
            </a:r>
          </a:p>
          <a:p>
            <a:pPr algn="l"/>
            <a:r>
              <a:rPr lang="en-US" sz="1400" dirty="0"/>
              <a:t>IIT Delhi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By </a:t>
            </a:r>
          </a:p>
          <a:p>
            <a:pPr algn="l"/>
            <a:r>
              <a:rPr lang="en-US" sz="1400" i="1" dirty="0"/>
              <a:t>Hariom</a:t>
            </a:r>
            <a:r>
              <a:rPr lang="en-US" sz="1400" dirty="0"/>
              <a:t> </a:t>
            </a:r>
          </a:p>
          <a:p>
            <a:pPr algn="l"/>
            <a:r>
              <a:rPr lang="en-US" sz="1400" dirty="0"/>
              <a:t>2022EE11697</a:t>
            </a:r>
          </a:p>
          <a:p>
            <a:pPr algn="l"/>
            <a:endParaRPr lang="en-US" sz="1400" dirty="0"/>
          </a:p>
          <a:p>
            <a:pPr algn="l"/>
            <a:r>
              <a:rPr lang="en-US" sz="1400" i="1" dirty="0" err="1"/>
              <a:t>Jenit</a:t>
            </a:r>
            <a:r>
              <a:rPr lang="en-US" sz="1400" i="1" dirty="0"/>
              <a:t> </a:t>
            </a:r>
          </a:p>
          <a:p>
            <a:pPr algn="l"/>
            <a:r>
              <a:rPr lang="en-US" sz="1400" dirty="0"/>
              <a:t>2022EE11690</a:t>
            </a:r>
          </a:p>
          <a:p>
            <a:pPr algn="l"/>
            <a:endParaRPr lang="en-US" dirty="0"/>
          </a:p>
          <a:p>
            <a:pPr algn="l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3A6DB3-84FC-7825-B145-B460A3F28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1" y="2155902"/>
            <a:ext cx="3288149" cy="23625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B4AA53FD-36F2-6AFC-509C-27483D19E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625" y="628903"/>
            <a:ext cx="2545686" cy="7166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sp>
        <p:nvSpPr>
          <p:cNvPr id="52" name="Google Shape;344;p33">
            <a:extLst>
              <a:ext uri="{FF2B5EF4-FFF2-40B4-BE49-F238E27FC236}">
                <a16:creationId xmlns:a16="http://schemas.microsoft.com/office/drawing/2014/main" id="{F8DC57B3-44BE-F375-5A95-9AB117512358}"/>
              </a:ext>
            </a:extLst>
          </p:cNvPr>
          <p:cNvSpPr txBox="1">
            <a:spLocks/>
          </p:cNvSpPr>
          <p:nvPr/>
        </p:nvSpPr>
        <p:spPr>
          <a:xfrm>
            <a:off x="552358" y="2829204"/>
            <a:ext cx="6147295" cy="50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40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algn="l"/>
            <a:r>
              <a:rPr lang="en-IN" sz="2000" dirty="0"/>
              <a:t>	What is RTI</a:t>
            </a:r>
          </a:p>
          <a:p>
            <a:pPr algn="l"/>
            <a:r>
              <a:rPr lang="en-IN" sz="2000" dirty="0"/>
              <a:t>	Overview</a:t>
            </a:r>
          </a:p>
          <a:p>
            <a:pPr algn="l"/>
            <a:r>
              <a:rPr lang="en-IN" sz="2000" dirty="0"/>
              <a:t>	Set up </a:t>
            </a:r>
          </a:p>
          <a:p>
            <a:pPr algn="l"/>
            <a:r>
              <a:rPr lang="en-IN" sz="2000" dirty="0"/>
              <a:t>	Linear RTI</a:t>
            </a:r>
          </a:p>
          <a:p>
            <a:pPr algn="l"/>
            <a:r>
              <a:rPr lang="en-IN" sz="2000" dirty="0"/>
              <a:t> 	Regression</a:t>
            </a:r>
          </a:p>
          <a:p>
            <a:pPr algn="l"/>
            <a:r>
              <a:rPr lang="en-IN" sz="2000" dirty="0"/>
              <a:t>	U-Net</a:t>
            </a:r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DE2C08A2-70A7-0E2C-BCB2-C2A2EB665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grpSp>
        <p:nvGrpSpPr>
          <p:cNvPr id="54" name="Google Shape;3052;p66">
            <a:extLst>
              <a:ext uri="{FF2B5EF4-FFF2-40B4-BE49-F238E27FC236}">
                <a16:creationId xmlns:a16="http://schemas.microsoft.com/office/drawing/2014/main" id="{58B629BB-8920-31EC-9651-8AB463AFF04C}"/>
              </a:ext>
            </a:extLst>
          </p:cNvPr>
          <p:cNvGrpSpPr/>
          <p:nvPr/>
        </p:nvGrpSpPr>
        <p:grpSpPr>
          <a:xfrm rot="16200000">
            <a:off x="1300796" y="1543748"/>
            <a:ext cx="104231" cy="320340"/>
            <a:chOff x="7564426" y="3224343"/>
            <a:chExt cx="119985" cy="368801"/>
          </a:xfrm>
        </p:grpSpPr>
        <p:sp>
          <p:nvSpPr>
            <p:cNvPr id="55" name="Google Shape;3053;p66">
              <a:extLst>
                <a:ext uri="{FF2B5EF4-FFF2-40B4-BE49-F238E27FC236}">
                  <a16:creationId xmlns:a16="http://schemas.microsoft.com/office/drawing/2014/main" id="{D3E13F7F-858A-E0EE-EDD6-815E244214D4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054;p66">
              <a:extLst>
                <a:ext uri="{FF2B5EF4-FFF2-40B4-BE49-F238E27FC236}">
                  <a16:creationId xmlns:a16="http://schemas.microsoft.com/office/drawing/2014/main" id="{EE721915-1834-B8D3-DCD4-A7D01F72E2DB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3052;p66">
            <a:extLst>
              <a:ext uri="{FF2B5EF4-FFF2-40B4-BE49-F238E27FC236}">
                <a16:creationId xmlns:a16="http://schemas.microsoft.com/office/drawing/2014/main" id="{65B04A56-6213-190A-029D-BC51DE52133C}"/>
              </a:ext>
            </a:extLst>
          </p:cNvPr>
          <p:cNvGrpSpPr/>
          <p:nvPr/>
        </p:nvGrpSpPr>
        <p:grpSpPr>
          <a:xfrm rot="16200000">
            <a:off x="1300797" y="1849970"/>
            <a:ext cx="104231" cy="320340"/>
            <a:chOff x="7564426" y="3224343"/>
            <a:chExt cx="119985" cy="368801"/>
          </a:xfrm>
        </p:grpSpPr>
        <p:sp>
          <p:nvSpPr>
            <p:cNvPr id="58" name="Google Shape;3053;p66">
              <a:extLst>
                <a:ext uri="{FF2B5EF4-FFF2-40B4-BE49-F238E27FC236}">
                  <a16:creationId xmlns:a16="http://schemas.microsoft.com/office/drawing/2014/main" id="{658E8EB0-A610-6260-DE9E-C691CDC762A0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054;p66">
              <a:extLst>
                <a:ext uri="{FF2B5EF4-FFF2-40B4-BE49-F238E27FC236}">
                  <a16:creationId xmlns:a16="http://schemas.microsoft.com/office/drawing/2014/main" id="{ED20FE6D-029C-851C-EDE3-875DCA63A36B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3052;p66">
            <a:extLst>
              <a:ext uri="{FF2B5EF4-FFF2-40B4-BE49-F238E27FC236}">
                <a16:creationId xmlns:a16="http://schemas.microsoft.com/office/drawing/2014/main" id="{B8A4AE7E-43F3-3105-7692-4102E2AADED7}"/>
              </a:ext>
            </a:extLst>
          </p:cNvPr>
          <p:cNvGrpSpPr/>
          <p:nvPr/>
        </p:nvGrpSpPr>
        <p:grpSpPr>
          <a:xfrm rot="16200000">
            <a:off x="1300797" y="2156193"/>
            <a:ext cx="104231" cy="320340"/>
            <a:chOff x="7564426" y="3224343"/>
            <a:chExt cx="119985" cy="368801"/>
          </a:xfrm>
        </p:grpSpPr>
        <p:sp>
          <p:nvSpPr>
            <p:cNvPr id="61" name="Google Shape;3053;p66">
              <a:extLst>
                <a:ext uri="{FF2B5EF4-FFF2-40B4-BE49-F238E27FC236}">
                  <a16:creationId xmlns:a16="http://schemas.microsoft.com/office/drawing/2014/main" id="{02BF4EF7-8F75-85E5-9CE8-129C2B6FC66F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054;p66">
              <a:extLst>
                <a:ext uri="{FF2B5EF4-FFF2-40B4-BE49-F238E27FC236}">
                  <a16:creationId xmlns:a16="http://schemas.microsoft.com/office/drawing/2014/main" id="{81BA1D90-1B8B-441D-407F-349A94B57D72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3052;p66">
            <a:extLst>
              <a:ext uri="{FF2B5EF4-FFF2-40B4-BE49-F238E27FC236}">
                <a16:creationId xmlns:a16="http://schemas.microsoft.com/office/drawing/2014/main" id="{9373C347-EF97-9FE7-0374-E1961F83358C}"/>
              </a:ext>
            </a:extLst>
          </p:cNvPr>
          <p:cNvGrpSpPr/>
          <p:nvPr/>
        </p:nvGrpSpPr>
        <p:grpSpPr>
          <a:xfrm rot="16200000">
            <a:off x="1300797" y="2462414"/>
            <a:ext cx="104231" cy="320340"/>
            <a:chOff x="7564426" y="3224343"/>
            <a:chExt cx="119985" cy="368801"/>
          </a:xfrm>
        </p:grpSpPr>
        <p:sp>
          <p:nvSpPr>
            <p:cNvPr id="1024" name="Google Shape;3053;p66">
              <a:extLst>
                <a:ext uri="{FF2B5EF4-FFF2-40B4-BE49-F238E27FC236}">
                  <a16:creationId xmlns:a16="http://schemas.microsoft.com/office/drawing/2014/main" id="{564305D4-0844-FBA0-1E15-F22C555D3506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3054;p66">
              <a:extLst>
                <a:ext uri="{FF2B5EF4-FFF2-40B4-BE49-F238E27FC236}">
                  <a16:creationId xmlns:a16="http://schemas.microsoft.com/office/drawing/2014/main" id="{AC59CCBE-A49C-02D3-72A9-13529959E466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052;p66">
            <a:extLst>
              <a:ext uri="{FF2B5EF4-FFF2-40B4-BE49-F238E27FC236}">
                <a16:creationId xmlns:a16="http://schemas.microsoft.com/office/drawing/2014/main" id="{1E597446-8DB1-EA03-26F6-65897391AC64}"/>
              </a:ext>
            </a:extLst>
          </p:cNvPr>
          <p:cNvGrpSpPr/>
          <p:nvPr/>
        </p:nvGrpSpPr>
        <p:grpSpPr>
          <a:xfrm rot="16200000">
            <a:off x="1300797" y="2766569"/>
            <a:ext cx="104231" cy="320340"/>
            <a:chOff x="7564426" y="3224343"/>
            <a:chExt cx="119985" cy="368801"/>
          </a:xfrm>
        </p:grpSpPr>
        <p:sp>
          <p:nvSpPr>
            <p:cNvPr id="3" name="Google Shape;3053;p66">
              <a:extLst>
                <a:ext uri="{FF2B5EF4-FFF2-40B4-BE49-F238E27FC236}">
                  <a16:creationId xmlns:a16="http://schemas.microsoft.com/office/drawing/2014/main" id="{AE071C12-0F94-4627-6207-E3EAEDEA87C4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054;p66">
              <a:extLst>
                <a:ext uri="{FF2B5EF4-FFF2-40B4-BE49-F238E27FC236}">
                  <a16:creationId xmlns:a16="http://schemas.microsoft.com/office/drawing/2014/main" id="{E83FFC71-E7D3-8C01-4824-395C512AA23D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3052;p66">
            <a:extLst>
              <a:ext uri="{FF2B5EF4-FFF2-40B4-BE49-F238E27FC236}">
                <a16:creationId xmlns:a16="http://schemas.microsoft.com/office/drawing/2014/main" id="{58684413-B173-011A-BAAE-AFEEC6E0BC44}"/>
              </a:ext>
            </a:extLst>
          </p:cNvPr>
          <p:cNvGrpSpPr/>
          <p:nvPr/>
        </p:nvGrpSpPr>
        <p:grpSpPr>
          <a:xfrm rot="16200000">
            <a:off x="1300796" y="3079487"/>
            <a:ext cx="104231" cy="320340"/>
            <a:chOff x="7564426" y="3224343"/>
            <a:chExt cx="119985" cy="368801"/>
          </a:xfrm>
        </p:grpSpPr>
        <p:sp>
          <p:nvSpPr>
            <p:cNvPr id="6" name="Google Shape;3053;p66">
              <a:extLst>
                <a:ext uri="{FF2B5EF4-FFF2-40B4-BE49-F238E27FC236}">
                  <a16:creationId xmlns:a16="http://schemas.microsoft.com/office/drawing/2014/main" id="{9C983A9F-2037-323E-D37A-6D7B89624382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054;p66">
              <a:extLst>
                <a:ext uri="{FF2B5EF4-FFF2-40B4-BE49-F238E27FC236}">
                  <a16:creationId xmlns:a16="http://schemas.microsoft.com/office/drawing/2014/main" id="{22686BB3-668C-823F-C892-91BCC6608D88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95791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344;p33">
            <a:extLst>
              <a:ext uri="{FF2B5EF4-FFF2-40B4-BE49-F238E27FC236}">
                <a16:creationId xmlns:a16="http://schemas.microsoft.com/office/drawing/2014/main" id="{1C707C96-C7B2-66FA-5450-E1D06C29601C}"/>
              </a:ext>
            </a:extLst>
          </p:cNvPr>
          <p:cNvSpPr txBox="1">
            <a:spLocks/>
          </p:cNvSpPr>
          <p:nvPr/>
        </p:nvSpPr>
        <p:spPr>
          <a:xfrm>
            <a:off x="396388" y="731223"/>
            <a:ext cx="3279648" cy="48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40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r>
              <a:rPr lang="en-IN" sz="3200" dirty="0"/>
              <a:t>What is RTI </a:t>
            </a:r>
            <a:endParaRPr lang="en-IN" dirty="0"/>
          </a:p>
        </p:txBody>
      </p:sp>
      <p:sp>
        <p:nvSpPr>
          <p:cNvPr id="6" name="Google Shape;355;p34">
            <a:extLst>
              <a:ext uri="{FF2B5EF4-FFF2-40B4-BE49-F238E27FC236}">
                <a16:creationId xmlns:a16="http://schemas.microsoft.com/office/drawing/2014/main" id="{1988FCF0-CC4E-1995-780B-B2C3D0388AC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2625" y="1653152"/>
            <a:ext cx="3850886" cy="1789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Radio Tomographic Imaging: imaging technique that maps how objects attenuate signals inside a wireless network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Device free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Reveals geometry of the object as well 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17DFDA-26A5-5A17-C69B-5184467C0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7EFD6A-4FBF-7138-3718-723889A86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479" y="1547688"/>
            <a:ext cx="3072126" cy="192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8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DC67DAA7-229C-E7D2-9892-6F8AC4EC4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sp>
        <p:nvSpPr>
          <p:cNvPr id="12" name="Google Shape;403;p39">
            <a:extLst>
              <a:ext uri="{FF2B5EF4-FFF2-40B4-BE49-F238E27FC236}">
                <a16:creationId xmlns:a16="http://schemas.microsoft.com/office/drawing/2014/main" id="{0027E7F0-6E80-0E15-A361-8E47CEE6C47C}"/>
              </a:ext>
            </a:extLst>
          </p:cNvPr>
          <p:cNvSpPr/>
          <p:nvPr/>
        </p:nvSpPr>
        <p:spPr>
          <a:xfrm>
            <a:off x="3287427" y="1879192"/>
            <a:ext cx="607500" cy="60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13" name="Google Shape;404;p39">
            <a:extLst>
              <a:ext uri="{FF2B5EF4-FFF2-40B4-BE49-F238E27FC236}">
                <a16:creationId xmlns:a16="http://schemas.microsoft.com/office/drawing/2014/main" id="{DF51F625-06C0-F901-76C3-937E65AAFF8C}"/>
              </a:ext>
            </a:extLst>
          </p:cNvPr>
          <p:cNvSpPr/>
          <p:nvPr/>
        </p:nvSpPr>
        <p:spPr>
          <a:xfrm>
            <a:off x="5268514" y="1879192"/>
            <a:ext cx="607500" cy="60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14" name="Google Shape;405;p39">
            <a:extLst>
              <a:ext uri="{FF2B5EF4-FFF2-40B4-BE49-F238E27FC236}">
                <a16:creationId xmlns:a16="http://schemas.microsoft.com/office/drawing/2014/main" id="{40E5B960-94FE-9A3F-38BE-26D237A88030}"/>
              </a:ext>
            </a:extLst>
          </p:cNvPr>
          <p:cNvSpPr/>
          <p:nvPr/>
        </p:nvSpPr>
        <p:spPr>
          <a:xfrm>
            <a:off x="7249602" y="1879192"/>
            <a:ext cx="607500" cy="60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15" name="Google Shape;406;p39">
            <a:extLst>
              <a:ext uri="{FF2B5EF4-FFF2-40B4-BE49-F238E27FC236}">
                <a16:creationId xmlns:a16="http://schemas.microsoft.com/office/drawing/2014/main" id="{E22070E9-B27C-58DE-5765-EB6B4D217928}"/>
              </a:ext>
            </a:extLst>
          </p:cNvPr>
          <p:cNvSpPr/>
          <p:nvPr/>
        </p:nvSpPr>
        <p:spPr>
          <a:xfrm>
            <a:off x="1306339" y="1879192"/>
            <a:ext cx="607500" cy="60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17" name="Google Shape;408;p39">
            <a:extLst>
              <a:ext uri="{FF2B5EF4-FFF2-40B4-BE49-F238E27FC236}">
                <a16:creationId xmlns:a16="http://schemas.microsoft.com/office/drawing/2014/main" id="{87B90A9D-95D8-A31B-3948-359FFDCB4434}"/>
              </a:ext>
            </a:extLst>
          </p:cNvPr>
          <p:cNvSpPr txBox="1"/>
          <p:nvPr/>
        </p:nvSpPr>
        <p:spPr>
          <a:xfrm>
            <a:off x="781627" y="2669430"/>
            <a:ext cx="16569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800" b="1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Set up</a:t>
            </a:r>
            <a:endParaRPr sz="1800" b="1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" name="Google Shape;409;p39">
            <a:extLst>
              <a:ext uri="{FF2B5EF4-FFF2-40B4-BE49-F238E27FC236}">
                <a16:creationId xmlns:a16="http://schemas.microsoft.com/office/drawing/2014/main" id="{1611F11D-0D5A-1E95-7B14-98B0D646934D}"/>
              </a:ext>
            </a:extLst>
          </p:cNvPr>
          <p:cNvSpPr txBox="1"/>
          <p:nvPr/>
        </p:nvSpPr>
        <p:spPr>
          <a:xfrm>
            <a:off x="1136802" y="2026055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01</a:t>
            </a:r>
            <a:endParaRPr sz="2200" b="1" baseline="30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" name="Google Shape;411;p39">
            <a:extLst>
              <a:ext uri="{FF2B5EF4-FFF2-40B4-BE49-F238E27FC236}">
                <a16:creationId xmlns:a16="http://schemas.microsoft.com/office/drawing/2014/main" id="{BE33EE0D-1290-541D-D393-88FC3EAC6D82}"/>
              </a:ext>
            </a:extLst>
          </p:cNvPr>
          <p:cNvSpPr txBox="1"/>
          <p:nvPr/>
        </p:nvSpPr>
        <p:spPr>
          <a:xfrm>
            <a:off x="2762713" y="2806080"/>
            <a:ext cx="16569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Linear RTI </a:t>
            </a:r>
          </a:p>
        </p:txBody>
      </p:sp>
      <p:sp>
        <p:nvSpPr>
          <p:cNvPr id="21" name="Google Shape;412;p39">
            <a:extLst>
              <a:ext uri="{FF2B5EF4-FFF2-40B4-BE49-F238E27FC236}">
                <a16:creationId xmlns:a16="http://schemas.microsoft.com/office/drawing/2014/main" id="{9BEDF729-F5F1-8A55-1C83-B28F99BE1C28}"/>
              </a:ext>
            </a:extLst>
          </p:cNvPr>
          <p:cNvSpPr txBox="1"/>
          <p:nvPr/>
        </p:nvSpPr>
        <p:spPr>
          <a:xfrm>
            <a:off x="3117913" y="2026055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02</a:t>
            </a:r>
            <a:endParaRPr sz="2200" b="1" baseline="30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3" name="Google Shape;414;p39">
            <a:extLst>
              <a:ext uri="{FF2B5EF4-FFF2-40B4-BE49-F238E27FC236}">
                <a16:creationId xmlns:a16="http://schemas.microsoft.com/office/drawing/2014/main" id="{EB278771-3F38-ABE9-A71B-B3DE14EA9627}"/>
              </a:ext>
            </a:extLst>
          </p:cNvPr>
          <p:cNvSpPr txBox="1"/>
          <p:nvPr/>
        </p:nvSpPr>
        <p:spPr>
          <a:xfrm>
            <a:off x="4743799" y="2669429"/>
            <a:ext cx="1677349" cy="45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Regression</a:t>
            </a:r>
            <a:endParaRPr sz="1800" b="1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4" name="Google Shape;415;p39">
            <a:extLst>
              <a:ext uri="{FF2B5EF4-FFF2-40B4-BE49-F238E27FC236}">
                <a16:creationId xmlns:a16="http://schemas.microsoft.com/office/drawing/2014/main" id="{1935D752-A20D-A33D-6794-8AD188DDCD4F}"/>
              </a:ext>
            </a:extLst>
          </p:cNvPr>
          <p:cNvSpPr txBox="1"/>
          <p:nvPr/>
        </p:nvSpPr>
        <p:spPr>
          <a:xfrm>
            <a:off x="5099001" y="2026055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03</a:t>
            </a:r>
            <a:endParaRPr sz="2200" b="1" baseline="30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6" name="Google Shape;417;p39">
            <a:extLst>
              <a:ext uri="{FF2B5EF4-FFF2-40B4-BE49-F238E27FC236}">
                <a16:creationId xmlns:a16="http://schemas.microsoft.com/office/drawing/2014/main" id="{BCE4C8AF-7804-3FBD-BAEB-7D352C26C4A6}"/>
              </a:ext>
            </a:extLst>
          </p:cNvPr>
          <p:cNvSpPr txBox="1"/>
          <p:nvPr/>
        </p:nvSpPr>
        <p:spPr>
          <a:xfrm>
            <a:off x="6724902" y="2669430"/>
            <a:ext cx="16569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800" b="1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 net </a:t>
            </a:r>
          </a:p>
        </p:txBody>
      </p:sp>
      <p:sp>
        <p:nvSpPr>
          <p:cNvPr id="27" name="Google Shape;418;p39">
            <a:extLst>
              <a:ext uri="{FF2B5EF4-FFF2-40B4-BE49-F238E27FC236}">
                <a16:creationId xmlns:a16="http://schemas.microsoft.com/office/drawing/2014/main" id="{D79851D0-4143-68BB-D5E0-433FC08978AE}"/>
              </a:ext>
            </a:extLst>
          </p:cNvPr>
          <p:cNvSpPr txBox="1"/>
          <p:nvPr/>
        </p:nvSpPr>
        <p:spPr>
          <a:xfrm>
            <a:off x="7080102" y="2026055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04</a:t>
            </a:r>
            <a:endParaRPr sz="2200" b="1" baseline="30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28" name="Google Shape;419;p39">
            <a:extLst>
              <a:ext uri="{FF2B5EF4-FFF2-40B4-BE49-F238E27FC236}">
                <a16:creationId xmlns:a16="http://schemas.microsoft.com/office/drawing/2014/main" id="{774852FF-5D09-B8BA-793C-BD4BA3914129}"/>
              </a:ext>
            </a:extLst>
          </p:cNvPr>
          <p:cNvCxnSpPr/>
          <p:nvPr/>
        </p:nvCxnSpPr>
        <p:spPr>
          <a:xfrm>
            <a:off x="805927" y="2584055"/>
            <a:ext cx="7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420;p39">
            <a:extLst>
              <a:ext uri="{FF2B5EF4-FFF2-40B4-BE49-F238E27FC236}">
                <a16:creationId xmlns:a16="http://schemas.microsoft.com/office/drawing/2014/main" id="{48B45F3D-7CA4-FA97-E0E3-1DDB29261BAC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1610089" y="2486992"/>
            <a:ext cx="0" cy="18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421;p39">
            <a:extLst>
              <a:ext uri="{FF2B5EF4-FFF2-40B4-BE49-F238E27FC236}">
                <a16:creationId xmlns:a16="http://schemas.microsoft.com/office/drawing/2014/main" id="{1F78E7EE-A34F-5999-5B63-28F46D36F361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591177" y="2486992"/>
            <a:ext cx="0" cy="1695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423;p39">
            <a:extLst>
              <a:ext uri="{FF2B5EF4-FFF2-40B4-BE49-F238E27FC236}">
                <a16:creationId xmlns:a16="http://schemas.microsoft.com/office/drawing/2014/main" id="{EE6B1EB5-4392-0374-E6E0-23006797BABF}"/>
              </a:ext>
            </a:extLst>
          </p:cNvPr>
          <p:cNvCxnSpPr>
            <a:stCxn id="14" idx="2"/>
            <a:endCxn id="26" idx="0"/>
          </p:cNvCxnSpPr>
          <p:nvPr/>
        </p:nvCxnSpPr>
        <p:spPr>
          <a:xfrm>
            <a:off x="7553352" y="2486992"/>
            <a:ext cx="0" cy="18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423;p39">
            <a:extLst>
              <a:ext uri="{FF2B5EF4-FFF2-40B4-BE49-F238E27FC236}">
                <a16:creationId xmlns:a16="http://schemas.microsoft.com/office/drawing/2014/main" id="{C72C261F-26E4-FAF9-2145-B3EEFC1D8B1C}"/>
              </a:ext>
            </a:extLst>
          </p:cNvPr>
          <p:cNvCxnSpPr/>
          <p:nvPr/>
        </p:nvCxnSpPr>
        <p:spPr>
          <a:xfrm>
            <a:off x="5560722" y="2492855"/>
            <a:ext cx="0" cy="18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05612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B4AA53FD-36F2-6AFC-509C-27483D19E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Set up 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DC67DAA7-229C-E7D2-9892-6F8AC4EC4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E9A70A-0888-1FA8-599F-64EEABE97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62" y="1292228"/>
            <a:ext cx="3813257" cy="25590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715D07-5D0E-E36D-9356-F2189FDB7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5701" y="1292228"/>
            <a:ext cx="3544370" cy="268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51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B4AA53FD-36F2-6AFC-509C-27483D19E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Linear RTI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DC67DAA7-229C-E7D2-9892-6F8AC4EC4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sp>
        <p:nvSpPr>
          <p:cNvPr id="2" name="Google Shape;355;p34">
            <a:extLst>
              <a:ext uri="{FF2B5EF4-FFF2-40B4-BE49-F238E27FC236}">
                <a16:creationId xmlns:a16="http://schemas.microsoft.com/office/drawing/2014/main" id="{6CA59A84-6DE7-3E25-E3EE-1FC0D59D47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2734" y="2079192"/>
            <a:ext cx="6995159" cy="1474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 : Transmitted Power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Si(t) : Shadowing Loss due to objects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Fi(t) : Fading loss, occurs from interference of narrow band signals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Li: Static losses due to distance, antenna patterns, device inconsistency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vi(t): Measurement noise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E9796A-27E7-1757-17BB-B17156DB7820}"/>
                  </a:ext>
                </a:extLst>
              </p:cNvPr>
              <p:cNvSpPr txBox="1"/>
              <p:nvPr/>
            </p:nvSpPr>
            <p:spPr>
              <a:xfrm>
                <a:off x="2104050" y="1244370"/>
                <a:ext cx="51143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400" dirty="0">
                  <a:solidFill>
                    <a:schemeClr val="dk1"/>
                  </a:solidFill>
                  <a:latin typeface="Didact Gothic" panose="00000500000000000000" pitchFamily="2" charset="0"/>
                  <a:ea typeface="Old Standard TT"/>
                  <a:cs typeface="Old Standard TT"/>
                  <a:sym typeface="Old Standard T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E9796A-27E7-1757-17BB-B17156DB7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050" y="1244370"/>
                <a:ext cx="5114320" cy="461665"/>
              </a:xfrm>
              <a:prstGeom prst="rect">
                <a:avLst/>
              </a:prstGeom>
              <a:blipFill>
                <a:blip r:embed="rId4"/>
                <a:stretch>
                  <a:fillRect l="-358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566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CE2DD984-5E16-25B2-DCF6-924D516A2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7B3DB2ED-4FF3-BCB1-3F9E-B77B44B6B5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Linear RTI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545900A-627F-7AF4-DE53-579DA6789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sp>
        <p:nvSpPr>
          <p:cNvPr id="2" name="Google Shape;355;p34">
            <a:extLst>
              <a:ext uri="{FF2B5EF4-FFF2-40B4-BE49-F238E27FC236}">
                <a16:creationId xmlns:a16="http://schemas.microsoft.com/office/drawing/2014/main" id="{81131A20-2CD4-7F57-EA61-C3ABC59DF3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2734" y="2079192"/>
            <a:ext cx="4223616" cy="7143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xj</a:t>
            </a:r>
            <a:r>
              <a:rPr lang="en-US" dirty="0"/>
              <a:t> (t) : attenuation occurring in voxel j at time 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wij</a:t>
            </a:r>
            <a:r>
              <a:rPr lang="en-US" dirty="0"/>
              <a:t> : weighting of pixel j for link I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9F0107-486D-4DFE-3C83-127C0A8A247B}"/>
                  </a:ext>
                </a:extLst>
              </p:cNvPr>
              <p:cNvSpPr txBox="1"/>
              <p:nvPr/>
            </p:nvSpPr>
            <p:spPr>
              <a:xfrm>
                <a:off x="872894" y="1241945"/>
                <a:ext cx="3972250" cy="893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Old Standard TT"/>
                            <a:cs typeface="Old Standard TT"/>
                            <a:sym typeface="Old Standard TT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Old Standard TT"/>
                            <a:cs typeface="Old Standard TT"/>
                            <a:sym typeface="Old Standard TT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Old Standard TT"/>
                            <a:cs typeface="Old Standard TT"/>
                            <a:sym typeface="Old Standard TT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Old Standard TT"/>
                            <a:cs typeface="Old Standard TT"/>
                            <a:sym typeface="Old Standard TT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Old Standard TT"/>
                            <a:cs typeface="Old Standard TT"/>
                            <a:sym typeface="Old Standard TT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Old Standard TT"/>
                        <a:cs typeface="Old Standard TT"/>
                        <a:sym typeface="Old Standard TT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Old Standard TT"/>
                            <a:cs typeface="Old Standard TT"/>
                            <a:sym typeface="Old Standard TT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Old Standard TT"/>
                            <a:cs typeface="Old Standard TT"/>
                            <a:sym typeface="Old Standard TT"/>
                          </a:rPr>
                          <m:t>𝑗</m:t>
                        </m:r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Old Standard TT"/>
                            <a:cs typeface="Old Standard TT"/>
                            <a:sym typeface="Old Standard TT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latin typeface="Didact Gothic" panose="00000500000000000000" pitchFamily="2" charset="0"/>
                  </a:rPr>
                  <a:t> </a:t>
                </a:r>
                <a:br>
                  <a:rPr lang="en-US" sz="2400" dirty="0">
                    <a:latin typeface="Didact Gothic" panose="00000500000000000000" pitchFamily="2" charset="0"/>
                  </a:rPr>
                </a:br>
                <a:endParaRPr lang="en-IN" sz="2400" dirty="0">
                  <a:solidFill>
                    <a:schemeClr val="dk1"/>
                  </a:solidFill>
                  <a:latin typeface="Didact Gothic" panose="00000500000000000000" pitchFamily="2" charset="0"/>
                  <a:ea typeface="Old Standard TT"/>
                  <a:cs typeface="Old Standard TT"/>
                  <a:sym typeface="Old Standard T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9F0107-486D-4DFE-3C83-127C0A8A2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94" y="1241945"/>
                <a:ext cx="3972250" cy="8930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1C4DD95-E515-A981-24E5-6E959CD5C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05" y="1122102"/>
            <a:ext cx="2599663" cy="27794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7DDD6D-F8B6-48D9-7FF5-77424BC6422F}"/>
                  </a:ext>
                </a:extLst>
              </p:cNvPr>
              <p:cNvSpPr txBox="1"/>
              <p:nvPr/>
            </p:nvSpPr>
            <p:spPr>
              <a:xfrm>
                <a:off x="176624" y="2793566"/>
                <a:ext cx="4668520" cy="9927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Δ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 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000" b="0" i="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 </m:t>
                          </m:r>
                          <m:r>
                            <a:rPr lang="en-US" sz="20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 </m:t>
                          </m:r>
                        </m:e>
                      </m:nary>
                    </m:oMath>
                  </m:oMathPara>
                </a14:m>
                <a:br>
                  <a:rPr lang="en-US" dirty="0">
                    <a:latin typeface="Didact Gothic" panose="00000500000000000000" pitchFamily="2" charset="0"/>
                  </a:rPr>
                </a:br>
                <a:endParaRPr lang="en-US" baseline="-25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7DDD6D-F8B6-48D9-7FF5-77424BC64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24" y="2793566"/>
                <a:ext cx="4668520" cy="9927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355;p34">
            <a:extLst>
              <a:ext uri="{FF2B5EF4-FFF2-40B4-BE49-F238E27FC236}">
                <a16:creationId xmlns:a16="http://schemas.microsoft.com/office/drawing/2014/main" id="{7066D42A-BFFE-C987-B5A9-8E3BCA2F05A8}"/>
              </a:ext>
            </a:extLst>
          </p:cNvPr>
          <p:cNvSpPr txBox="1">
            <a:spLocks/>
          </p:cNvSpPr>
          <p:nvPr/>
        </p:nvSpPr>
        <p:spPr>
          <a:xfrm>
            <a:off x="781627" y="3730520"/>
            <a:ext cx="4223616" cy="714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6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l-GR" dirty="0"/>
              <a:t>Δ</a:t>
            </a:r>
            <a:r>
              <a:rPr lang="en-US" dirty="0"/>
              <a:t>xi = </a:t>
            </a:r>
            <a:r>
              <a:rPr lang="en-US" dirty="0" err="1"/>
              <a:t>xj</a:t>
            </a:r>
            <a:r>
              <a:rPr lang="en-US" dirty="0"/>
              <a:t> (tb) – </a:t>
            </a:r>
            <a:r>
              <a:rPr lang="en-US" dirty="0" err="1"/>
              <a:t>xj</a:t>
            </a:r>
            <a:r>
              <a:rPr lang="en-US" dirty="0"/>
              <a:t>(ta) </a:t>
            </a:r>
          </a:p>
          <a:p>
            <a:pPr marL="0" indent="0" algn="l"/>
            <a:r>
              <a:rPr lang="en-US" dirty="0" err="1"/>
              <a:t>ni</a:t>
            </a:r>
            <a:r>
              <a:rPr lang="en-US" dirty="0"/>
              <a:t> = Fi (tb) – Fi (ta) + vi(tb) – vi(ta)  </a:t>
            </a:r>
            <a:r>
              <a:rPr lang="el-GR" b="1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89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7CB69BE1-C6BF-C0E0-67F3-174280484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0B1AD24D-4A58-8FA4-39E8-FEA54BA5A8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Linear RTI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BA471A2-0F3A-95E7-D699-2B21730CF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D5E8FA-0CBE-B168-CEEC-8DD79591B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05" y="1122102"/>
            <a:ext cx="2599663" cy="27794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D5A9B8-6CF2-B794-2ABD-0881AB5B82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080"/>
          <a:stretch>
            <a:fillRect/>
          </a:stretch>
        </p:blipFill>
        <p:spPr>
          <a:xfrm>
            <a:off x="1196691" y="2441644"/>
            <a:ext cx="3375309" cy="15857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DCA9A8-903B-16E6-F773-5A05C8718D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049" r="20070" b="79954"/>
          <a:stretch>
            <a:fillRect/>
          </a:stretch>
        </p:blipFill>
        <p:spPr>
          <a:xfrm>
            <a:off x="1742785" y="1241945"/>
            <a:ext cx="3422333" cy="88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6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45B25815-B509-1D1B-AB2B-E07D03A8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EA540393-47A0-CB7C-E347-6B052B06FE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Regression 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63FD7911-BF1B-4934-CAC3-C0AD92598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4A5816-262E-0CD9-72A8-0916643721CF}"/>
                  </a:ext>
                </a:extLst>
              </p:cNvPr>
              <p:cNvSpPr txBox="1"/>
              <p:nvPr/>
            </p:nvSpPr>
            <p:spPr>
              <a:xfrm>
                <a:off x="1973334" y="1323751"/>
                <a:ext cx="39722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y</m:t>
                      </m:r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Wx</m:t>
                      </m:r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n</m:t>
                      </m:r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Old Standard TT"/>
                          <a:cs typeface="Old Standard TT"/>
                          <a:sym typeface="Old Standard TT"/>
                        </a:rPr>
                        <m:t> </m:t>
                      </m:r>
                    </m:oMath>
                  </m:oMathPara>
                </a14:m>
                <a:endParaRPr lang="en-IN" sz="2400" dirty="0">
                  <a:solidFill>
                    <a:schemeClr val="dk1"/>
                  </a:solidFill>
                  <a:latin typeface="Didact Gothic" panose="00000500000000000000" pitchFamily="2" charset="0"/>
                  <a:ea typeface="Old Standard TT"/>
                  <a:cs typeface="Old Standard TT"/>
                  <a:sym typeface="Old Standard T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4A5816-262E-0CD9-72A8-091664372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334" y="1323751"/>
                <a:ext cx="3972250" cy="461665"/>
              </a:xfrm>
              <a:prstGeom prst="rect">
                <a:avLst/>
              </a:prstGeom>
              <a:blipFill>
                <a:blip r:embed="rId4"/>
                <a:stretch>
                  <a:fillRect l="-461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C5C278-BBAD-F9FB-B185-C1A099DC463F}"/>
                  </a:ext>
                </a:extLst>
              </p:cNvPr>
              <p:cNvSpPr txBox="1"/>
              <p:nvPr/>
            </p:nvSpPr>
            <p:spPr>
              <a:xfrm>
                <a:off x="1973334" y="1934638"/>
                <a:ext cx="3972250" cy="559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LS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 = </m:t>
                          </m:r>
                          <m:box>
                            <m:boxPr>
                              <m:ctrlPr>
                                <a:rPr lang="en-US" sz="24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b="0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Old Standard TT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400" b="0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Old Standard TT"/>
                                    </a:rPr>
                                    <m:t>arg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Old Standard TT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b="0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Old Standard TT"/>
                                    </a:rPr>
                                    <m:t>min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2400" b="0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Old Standard TT"/>
                                    </a:rPr>
                                    <m:t>x</m:t>
                                  </m:r>
                                </m:den>
                              </m:f>
                            </m:e>
                          </m:box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|| 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Wx</m:t>
                          </m:r>
                          <m:r>
                            <a:rPr lang="en-US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 − 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y</m:t>
                          </m:r>
                          <m:r>
                            <a:rPr lang="en-US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 ||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2400" dirty="0">
                  <a:solidFill>
                    <a:schemeClr val="dk1"/>
                  </a:solidFill>
                  <a:latin typeface="Didact Gothic" panose="00000500000000000000" pitchFamily="2" charset="0"/>
                  <a:ea typeface="Old Standard TT"/>
                  <a:cs typeface="Old Standard TT"/>
                  <a:sym typeface="Old Standard T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C5C278-BBAD-F9FB-B185-C1A099DC4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334" y="1934638"/>
                <a:ext cx="3972250" cy="5598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D1453B-0D64-5BE5-82D4-0F8DD0BABA24}"/>
                  </a:ext>
                </a:extLst>
              </p:cNvPr>
              <p:cNvSpPr txBox="1"/>
              <p:nvPr/>
            </p:nvSpPr>
            <p:spPr>
              <a:xfrm>
                <a:off x="1973334" y="2643757"/>
                <a:ext cx="3972250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  <m:t>LS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sym typeface="Old Standard TT"/>
                      </a:rPr>
                      <m:t> =</m:t>
                    </m:r>
                  </m:oMath>
                </a14:m>
                <a:r>
                  <a:rPr lang="en-IN" sz="2400" dirty="0">
                    <a:solidFill>
                      <a:schemeClr val="dk1"/>
                    </a:solidFill>
                    <a:latin typeface="Didact Gothic" panose="00000500000000000000" pitchFamily="2" charset="0"/>
                    <a:ea typeface="Old Standard TT"/>
                    <a:cs typeface="Old Standard TT"/>
                    <a:sym typeface="Old Standard T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Old Standard TT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Old Standard TT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Old Standard TT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  <m:t>W</m:t>
                        </m:r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  <m:t>)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Old Standard TT"/>
                          </a:rPr>
                          <m:t>T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sym typeface="Old Standard TT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sym typeface="Old Standard TT"/>
                      </a:rPr>
                      <m:t>y</m:t>
                    </m:r>
                  </m:oMath>
                </a14:m>
                <a:endParaRPr lang="en-IN" sz="2400" dirty="0">
                  <a:solidFill>
                    <a:schemeClr val="dk1"/>
                  </a:solidFill>
                  <a:latin typeface="Didact Gothic" panose="00000500000000000000" pitchFamily="2" charset="0"/>
                  <a:ea typeface="Old Standard TT"/>
                  <a:cs typeface="Old Standard TT"/>
                  <a:sym typeface="Old Standard T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D1453B-0D64-5BE5-82D4-0F8DD0BAB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334" y="2643757"/>
                <a:ext cx="3972250" cy="468205"/>
              </a:xfrm>
              <a:prstGeom prst="rect">
                <a:avLst/>
              </a:prstGeom>
              <a:blipFill>
                <a:blip r:embed="rId6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841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11189C5A-5F21-5C61-65DC-CE35655B7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BA8F8083-1863-8C26-40E5-1111455507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Regression 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210E8EFA-899C-F1E9-D3E8-99BAF016E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sp>
        <p:nvSpPr>
          <p:cNvPr id="5" name="Google Shape;344;p33">
            <a:extLst>
              <a:ext uri="{FF2B5EF4-FFF2-40B4-BE49-F238E27FC236}">
                <a16:creationId xmlns:a16="http://schemas.microsoft.com/office/drawing/2014/main" id="{612683A1-D17E-3852-E5C7-31081EB8D1C6}"/>
              </a:ext>
            </a:extLst>
          </p:cNvPr>
          <p:cNvSpPr txBox="1">
            <a:spLocks/>
          </p:cNvSpPr>
          <p:nvPr/>
        </p:nvSpPr>
        <p:spPr>
          <a:xfrm>
            <a:off x="781627" y="971229"/>
            <a:ext cx="7828156" cy="73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40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algn="l"/>
            <a:r>
              <a:rPr lang="en-US" sz="2400" b="0" u="sng" dirty="0"/>
              <a:t>Regularization</a:t>
            </a:r>
            <a:r>
              <a:rPr lang="en-US" sz="2400" b="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6925AC-2C9D-E0EA-8388-D28E6D2CC60D}"/>
                  </a:ext>
                </a:extLst>
              </p:cNvPr>
              <p:cNvSpPr txBox="1"/>
              <p:nvPr/>
            </p:nvSpPr>
            <p:spPr>
              <a:xfrm>
                <a:off x="1848643" y="1826587"/>
                <a:ext cx="3972250" cy="4965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reg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sym typeface="Old Standard TT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sym typeface="Old Standard TT"/>
                        </a:rPr>
                        <m:t>f</m:t>
                      </m:r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sym typeface="Old Standard TT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sym typeface="Old Standard TT"/>
                        </a:rPr>
                        <m:t>x</m:t>
                      </m:r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sym typeface="Old Standard TT"/>
                        </a:rPr>
                        <m:t>) +</m:t>
                      </m:r>
                      <m:r>
                        <a:rPr lang="en-I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Old Standard TT"/>
                        </a:rPr>
                        <m:t>𝛼</m:t>
                      </m:r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Old Standard TT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sym typeface="Old Standard TT"/>
                        </a:rPr>
                        <m:t>J</m:t>
                      </m:r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sym typeface="Old Standard TT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sym typeface="Old Standard TT"/>
                        </a:rPr>
                        <m:t>x</m:t>
                      </m:r>
                      <m:r>
                        <a:rPr lang="en-US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sym typeface="Old Standard TT"/>
                        </a:rPr>
                        <m:t>) </m:t>
                      </m:r>
                    </m:oMath>
                  </m:oMathPara>
                </a14:m>
                <a:endParaRPr lang="en-IN" sz="2400" dirty="0">
                  <a:solidFill>
                    <a:schemeClr val="dk1"/>
                  </a:solidFill>
                  <a:latin typeface="Didact Gothic" panose="00000500000000000000" pitchFamily="2" charset="0"/>
                  <a:ea typeface="Old Standard TT"/>
                  <a:cs typeface="Old Standard TT"/>
                  <a:sym typeface="Old Standard T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6925AC-2C9D-E0EA-8388-D28E6D2CC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643" y="1826587"/>
                <a:ext cx="3972250" cy="496546"/>
              </a:xfrm>
              <a:prstGeom prst="rect">
                <a:avLst/>
              </a:prstGeom>
              <a:blipFill>
                <a:blip r:embed="rId4"/>
                <a:stretch>
                  <a:fillRect l="-46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355;p34">
            <a:extLst>
              <a:ext uri="{FF2B5EF4-FFF2-40B4-BE49-F238E27FC236}">
                <a16:creationId xmlns:a16="http://schemas.microsoft.com/office/drawing/2014/main" id="{D715B3A7-D4CF-6664-888E-D3AFFD95B7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4420" y="2820368"/>
            <a:ext cx="6302838" cy="7808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Regularization is added to the RTI inverse problem to address ill-</a:t>
            </a:r>
            <a:r>
              <a:rPr lang="en-US" dirty="0" err="1"/>
              <a:t>posedness</a:t>
            </a:r>
            <a:r>
              <a:rPr lang="en-US" dirty="0"/>
              <a:t> and noise sensitivity by constraining unrealistic image estimates and stabilizing the solution.</a:t>
            </a:r>
          </a:p>
        </p:txBody>
      </p:sp>
    </p:spTree>
    <p:extLst>
      <p:ext uri="{BB962C8B-B14F-4D97-AF65-F5344CB8AC3E}">
        <p14:creationId xmlns:p14="http://schemas.microsoft.com/office/powerpoint/2010/main" val="2011267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11A28330-F65C-5717-D83B-A2F747110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C5F98E72-E189-0F6C-7CF5-7F1F1D57E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Regression 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1882A3F-A58B-8651-04D2-270F7CEE2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sp>
        <p:nvSpPr>
          <p:cNvPr id="5" name="Google Shape;344;p33">
            <a:extLst>
              <a:ext uri="{FF2B5EF4-FFF2-40B4-BE49-F238E27FC236}">
                <a16:creationId xmlns:a16="http://schemas.microsoft.com/office/drawing/2014/main" id="{B3678C28-4F87-EEE3-3161-982620582F12}"/>
              </a:ext>
            </a:extLst>
          </p:cNvPr>
          <p:cNvSpPr txBox="1">
            <a:spLocks/>
          </p:cNvSpPr>
          <p:nvPr/>
        </p:nvSpPr>
        <p:spPr>
          <a:xfrm>
            <a:off x="781627" y="971229"/>
            <a:ext cx="7828156" cy="73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40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algn="l"/>
            <a:r>
              <a:rPr lang="en-US" sz="2400" b="0" u="sng" dirty="0"/>
              <a:t>Regularization </a:t>
            </a:r>
            <a:r>
              <a:rPr lang="en-US" sz="2400" b="0" dirty="0"/>
              <a:t>– L2 – Ridge </a:t>
            </a:r>
          </a:p>
        </p:txBody>
      </p:sp>
      <p:sp>
        <p:nvSpPr>
          <p:cNvPr id="7" name="Google Shape;355;p34">
            <a:extLst>
              <a:ext uri="{FF2B5EF4-FFF2-40B4-BE49-F238E27FC236}">
                <a16:creationId xmlns:a16="http://schemas.microsoft.com/office/drawing/2014/main" id="{494257DF-EEE8-6E2D-70CF-A096735658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4420" y="2820368"/>
            <a:ext cx="6302838" cy="7808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L2 regularization is added to penalize large values in the solution, encouraging smoother and more stable estimates by shrinking unnecessary coefficients toward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B214AA-A3E4-428E-6CA0-12DA9C802D14}"/>
                  </a:ext>
                </a:extLst>
              </p:cNvPr>
              <p:cNvSpPr txBox="1"/>
              <p:nvPr/>
            </p:nvSpPr>
            <p:spPr>
              <a:xfrm>
                <a:off x="1941614" y="1710209"/>
                <a:ext cx="5983186" cy="559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L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 = </m:t>
                          </m:r>
                          <m:box>
                            <m:boxPr>
                              <m:ctrlPr>
                                <a:rPr lang="en-US" sz="2400" b="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Old Standard TT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b="0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Old Standard TT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400" b="0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Old Standard TT"/>
                                    </a:rPr>
                                    <m:t>arg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Old Standard TT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b="0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Old Standard TT"/>
                                    </a:rPr>
                                    <m:t>min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2400" b="0" i="1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sym typeface="Old Standard TT"/>
                                    </a:rPr>
                                    <m:t>x</m:t>
                                  </m:r>
                                </m:den>
                              </m:f>
                            </m:e>
                          </m:box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|| 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Wx</m:t>
                          </m:r>
                          <m:r>
                            <a:rPr lang="en-US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 − 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y</m:t>
                          </m:r>
                          <m:r>
                            <a:rPr lang="en-US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Old Standard TT"/>
                              <a:cs typeface="Old Standard TT"/>
                              <a:sym typeface="Old Standard TT"/>
                            </a:rPr>
                            <m:t> ||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Old Standard TT"/>
                            </a:rPr>
                            <m:t>2 </m:t>
                          </m:r>
                        </m:sup>
                      </m:sSubSup>
                      <m:r>
                        <a:rPr lang="en-US" sz="24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sym typeface="Old Standard TT"/>
                        </a:rPr>
                        <m:t>+</m:t>
                      </m:r>
                      <m:r>
                        <a:rPr lang="en-IN" sz="24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Old Standard TT"/>
                        </a:rPr>
                        <m:t>𝛼</m:t>
                      </m:r>
                      <m:r>
                        <a:rPr lang="en-US" sz="2400" b="0" i="0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Old Standard TT"/>
                        </a:rPr>
                        <m:t> </m:t>
                      </m:r>
                      <m:sSubSup>
                        <m:sSubSupPr>
                          <m:ctrlP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ld Standard TT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ld Standard TT"/>
                            </a:rPr>
                            <m:t>||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ld Standard TT"/>
                            </a:rPr>
                            <m:t>x</m:t>
                          </m:r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ld Standard TT"/>
                            </a:rPr>
                            <m:t>||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ld Standard TT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ld Standard TT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2400" dirty="0">
                  <a:solidFill>
                    <a:schemeClr val="dk1"/>
                  </a:solidFill>
                  <a:latin typeface="Didact Gothic" panose="00000500000000000000" pitchFamily="2" charset="0"/>
                  <a:ea typeface="Old Standard TT"/>
                  <a:cs typeface="Old Standard TT"/>
                  <a:sym typeface="Old Standard T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B214AA-A3E4-428E-6CA0-12DA9C802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614" y="1710209"/>
                <a:ext cx="5983186" cy="5598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2888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F84F7423-F3FE-87D9-FABA-BC84E349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3D297756-5A93-94AC-5517-19D53FAE45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Regression 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9A0BAB0C-22DC-E469-7D62-D84E790F0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sp>
        <p:nvSpPr>
          <p:cNvPr id="5" name="Google Shape;344;p33">
            <a:extLst>
              <a:ext uri="{FF2B5EF4-FFF2-40B4-BE49-F238E27FC236}">
                <a16:creationId xmlns:a16="http://schemas.microsoft.com/office/drawing/2014/main" id="{4F0282A9-755A-24B5-ABC4-E1611090C5FE}"/>
              </a:ext>
            </a:extLst>
          </p:cNvPr>
          <p:cNvSpPr txBox="1">
            <a:spLocks/>
          </p:cNvSpPr>
          <p:nvPr/>
        </p:nvSpPr>
        <p:spPr>
          <a:xfrm>
            <a:off x="781627" y="971229"/>
            <a:ext cx="7828156" cy="73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40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ld Standard TT"/>
              <a:buNone/>
              <a:defRPr sz="3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algn="l"/>
            <a:r>
              <a:rPr lang="en-US" sz="2400" b="0" u="sng" dirty="0"/>
              <a:t>Regularization </a:t>
            </a:r>
            <a:r>
              <a:rPr lang="en-US" sz="2400" b="0" dirty="0"/>
              <a:t>– L2 – Ridge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6862D-46DE-A228-81B9-B5E496B58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27" y="1517854"/>
            <a:ext cx="3639539" cy="31226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364D6E-FB8A-B014-C726-9EA9C1EC7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40719"/>
            <a:ext cx="3639539" cy="329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50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D9BBE8A3-1492-9AEA-117B-0F29BAEE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DA7629C8-6EEB-9450-8467-4DFCF5D2BE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U – Net  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F41E0FEE-90B8-18FE-4033-2E02F09F2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085AF7-7765-3959-6A95-F3FCB20C8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993" y="1607249"/>
            <a:ext cx="3100039" cy="1556615"/>
          </a:xfrm>
          <a:prstGeom prst="rect">
            <a:avLst/>
          </a:prstGeom>
        </p:spPr>
      </p:pic>
      <p:sp>
        <p:nvSpPr>
          <p:cNvPr id="2" name="Google Shape;355;p34">
            <a:extLst>
              <a:ext uri="{FF2B5EF4-FFF2-40B4-BE49-F238E27FC236}">
                <a16:creationId xmlns:a16="http://schemas.microsoft.com/office/drawing/2014/main" id="{ABD0AB30-F5DE-667B-9B7C-FDB8DEA55C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1626" y="1555210"/>
            <a:ext cx="4615563" cy="2537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Tx/>
              <a:buChar char="-"/>
            </a:pPr>
            <a:r>
              <a:rPr lang="en-US" dirty="0"/>
              <a:t>U – Net is a </a:t>
            </a:r>
            <a:r>
              <a:rPr lang="en-US" b="1" dirty="0"/>
              <a:t>convolutional neural network     (CNN)</a:t>
            </a:r>
            <a:r>
              <a:rPr lang="en-US" dirty="0"/>
              <a:t> designed for </a:t>
            </a:r>
            <a:r>
              <a:rPr lang="en-US" b="1" dirty="0"/>
              <a:t>image segmentation</a:t>
            </a:r>
          </a:p>
          <a:p>
            <a:pPr marL="285750" lvl="0" indent="-285750" algn="l">
              <a:buFontTx/>
              <a:buChar char="-"/>
            </a:pPr>
            <a:r>
              <a:rPr lang="en-US" b="1" dirty="0"/>
              <a:t>Structure:</a:t>
            </a:r>
            <a:r>
              <a:rPr lang="en-US" dirty="0"/>
              <a:t> U-shaped (contracting encoder + expanding decoder)</a:t>
            </a:r>
          </a:p>
          <a:p>
            <a:pPr marL="285750" lvl="0" indent="-285750" algn="l">
              <a:buFontTx/>
              <a:buChar char="-"/>
            </a:pPr>
            <a:r>
              <a:rPr lang="en-US" dirty="0"/>
              <a:t>Preserves spatial information and enable precise localization</a:t>
            </a:r>
          </a:p>
          <a:p>
            <a:pPr marL="285750" lvl="0" indent="-285750" algn="l">
              <a:buFontTx/>
              <a:buChar char="-"/>
            </a:pPr>
            <a:endParaRPr lang="en-US" b="1" dirty="0"/>
          </a:p>
          <a:p>
            <a:pPr marL="0" lvl="0" indent="0"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238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E46DEADF-9B03-FE7A-DAC1-DDF7D7E9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3F72D64B-BF08-5402-E90C-0719B31B1E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U – Net  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66EE2CD6-A4D2-D338-4FF9-B92637799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sp>
        <p:nvSpPr>
          <p:cNvPr id="5" name="Google Shape;403;p39">
            <a:extLst>
              <a:ext uri="{FF2B5EF4-FFF2-40B4-BE49-F238E27FC236}">
                <a16:creationId xmlns:a16="http://schemas.microsoft.com/office/drawing/2014/main" id="{1411DD00-75B4-4121-E139-5A6795C0A2C3}"/>
              </a:ext>
            </a:extLst>
          </p:cNvPr>
          <p:cNvSpPr/>
          <p:nvPr/>
        </p:nvSpPr>
        <p:spPr>
          <a:xfrm>
            <a:off x="4383530" y="1424062"/>
            <a:ext cx="607500" cy="60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7" name="Google Shape;404;p39">
            <a:extLst>
              <a:ext uri="{FF2B5EF4-FFF2-40B4-BE49-F238E27FC236}">
                <a16:creationId xmlns:a16="http://schemas.microsoft.com/office/drawing/2014/main" id="{90D0E710-B2A3-E9EA-2AC5-9C04010CE839}"/>
              </a:ext>
            </a:extLst>
          </p:cNvPr>
          <p:cNvSpPr/>
          <p:nvPr/>
        </p:nvSpPr>
        <p:spPr>
          <a:xfrm>
            <a:off x="7052736" y="1448011"/>
            <a:ext cx="607500" cy="60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9" name="Google Shape;406;p39">
            <a:extLst>
              <a:ext uri="{FF2B5EF4-FFF2-40B4-BE49-F238E27FC236}">
                <a16:creationId xmlns:a16="http://schemas.microsoft.com/office/drawing/2014/main" id="{99D97F8D-D76D-E4D5-4A6D-FC4B404FE70F}"/>
              </a:ext>
            </a:extLst>
          </p:cNvPr>
          <p:cNvSpPr/>
          <p:nvPr/>
        </p:nvSpPr>
        <p:spPr>
          <a:xfrm>
            <a:off x="1287162" y="1448011"/>
            <a:ext cx="607500" cy="60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latin typeface="Lexend Tera"/>
              <a:ea typeface="Lexend Tera"/>
              <a:cs typeface="Lexend Tera"/>
              <a:sym typeface="Lexend Tera"/>
            </a:endParaRPr>
          </a:p>
        </p:txBody>
      </p:sp>
      <p:sp>
        <p:nvSpPr>
          <p:cNvPr id="11" name="Google Shape;408;p39">
            <a:extLst>
              <a:ext uri="{FF2B5EF4-FFF2-40B4-BE49-F238E27FC236}">
                <a16:creationId xmlns:a16="http://schemas.microsoft.com/office/drawing/2014/main" id="{2D79E28B-51B1-3D3B-DB31-ABF9E658811C}"/>
              </a:ext>
            </a:extLst>
          </p:cNvPr>
          <p:cNvSpPr txBox="1"/>
          <p:nvPr/>
        </p:nvSpPr>
        <p:spPr>
          <a:xfrm>
            <a:off x="762450" y="2238249"/>
            <a:ext cx="16569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800" b="1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Data Generation</a:t>
            </a:r>
          </a:p>
        </p:txBody>
      </p:sp>
      <p:sp>
        <p:nvSpPr>
          <p:cNvPr id="12" name="Google Shape;409;p39">
            <a:extLst>
              <a:ext uri="{FF2B5EF4-FFF2-40B4-BE49-F238E27FC236}">
                <a16:creationId xmlns:a16="http://schemas.microsoft.com/office/drawing/2014/main" id="{1494714B-CAB6-8A52-1D2F-4EC03D03749A}"/>
              </a:ext>
            </a:extLst>
          </p:cNvPr>
          <p:cNvSpPr txBox="1"/>
          <p:nvPr/>
        </p:nvSpPr>
        <p:spPr>
          <a:xfrm>
            <a:off x="1117625" y="1594874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01</a:t>
            </a:r>
            <a:endParaRPr sz="2200" b="1" baseline="30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" name="Google Shape;411;p39">
            <a:extLst>
              <a:ext uri="{FF2B5EF4-FFF2-40B4-BE49-F238E27FC236}">
                <a16:creationId xmlns:a16="http://schemas.microsoft.com/office/drawing/2014/main" id="{D7B2AFDE-C655-320D-A52B-D734238489EE}"/>
              </a:ext>
            </a:extLst>
          </p:cNvPr>
          <p:cNvSpPr txBox="1"/>
          <p:nvPr/>
        </p:nvSpPr>
        <p:spPr>
          <a:xfrm>
            <a:off x="3858816" y="2350950"/>
            <a:ext cx="16569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Training </a:t>
            </a:r>
          </a:p>
        </p:txBody>
      </p:sp>
      <p:sp>
        <p:nvSpPr>
          <p:cNvPr id="14" name="Google Shape;412;p39">
            <a:extLst>
              <a:ext uri="{FF2B5EF4-FFF2-40B4-BE49-F238E27FC236}">
                <a16:creationId xmlns:a16="http://schemas.microsoft.com/office/drawing/2014/main" id="{7CE7547E-5F3B-9FD4-F201-6EC129774888}"/>
              </a:ext>
            </a:extLst>
          </p:cNvPr>
          <p:cNvSpPr txBox="1"/>
          <p:nvPr/>
        </p:nvSpPr>
        <p:spPr>
          <a:xfrm>
            <a:off x="4214016" y="1570925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02</a:t>
            </a:r>
            <a:endParaRPr sz="2200" b="1" baseline="30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" name="Google Shape;414;p39">
            <a:extLst>
              <a:ext uri="{FF2B5EF4-FFF2-40B4-BE49-F238E27FC236}">
                <a16:creationId xmlns:a16="http://schemas.microsoft.com/office/drawing/2014/main" id="{B7E5B8E8-B145-34BC-D154-6424BF09AAEE}"/>
              </a:ext>
            </a:extLst>
          </p:cNvPr>
          <p:cNvSpPr txBox="1"/>
          <p:nvPr/>
        </p:nvSpPr>
        <p:spPr>
          <a:xfrm>
            <a:off x="6528021" y="2238248"/>
            <a:ext cx="1677349" cy="45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Image reconstruction</a:t>
            </a:r>
            <a:endParaRPr sz="1800" b="1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" name="Google Shape;415;p39">
            <a:extLst>
              <a:ext uri="{FF2B5EF4-FFF2-40B4-BE49-F238E27FC236}">
                <a16:creationId xmlns:a16="http://schemas.microsoft.com/office/drawing/2014/main" id="{FDD0357C-A70A-EAD0-4452-0E6D2C398038}"/>
              </a:ext>
            </a:extLst>
          </p:cNvPr>
          <p:cNvSpPr txBox="1"/>
          <p:nvPr/>
        </p:nvSpPr>
        <p:spPr>
          <a:xfrm>
            <a:off x="6883223" y="1594874"/>
            <a:ext cx="946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03</a:t>
            </a:r>
            <a:endParaRPr sz="2200" b="1" baseline="30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9" name="Google Shape;419;p39">
            <a:extLst>
              <a:ext uri="{FF2B5EF4-FFF2-40B4-BE49-F238E27FC236}">
                <a16:creationId xmlns:a16="http://schemas.microsoft.com/office/drawing/2014/main" id="{7DAE1857-2FE5-471E-811D-242179A4EC38}"/>
              </a:ext>
            </a:extLst>
          </p:cNvPr>
          <p:cNvCxnSpPr/>
          <p:nvPr/>
        </p:nvCxnSpPr>
        <p:spPr>
          <a:xfrm>
            <a:off x="786750" y="2152874"/>
            <a:ext cx="7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420;p39">
            <a:extLst>
              <a:ext uri="{FF2B5EF4-FFF2-40B4-BE49-F238E27FC236}">
                <a16:creationId xmlns:a16="http://schemas.microsoft.com/office/drawing/2014/main" id="{64CA9DB9-1678-8933-F3F5-611EDFDA0FC5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1590912" y="2055811"/>
            <a:ext cx="0" cy="18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421;p39">
            <a:extLst>
              <a:ext uri="{FF2B5EF4-FFF2-40B4-BE49-F238E27FC236}">
                <a16:creationId xmlns:a16="http://schemas.microsoft.com/office/drawing/2014/main" id="{993D1CA8-AA8A-F2D3-C39D-596DE957346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687280" y="2031862"/>
            <a:ext cx="0" cy="1695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423;p39">
            <a:extLst>
              <a:ext uri="{FF2B5EF4-FFF2-40B4-BE49-F238E27FC236}">
                <a16:creationId xmlns:a16="http://schemas.microsoft.com/office/drawing/2014/main" id="{24780749-78DA-5BC0-94B4-9A2BFC26F518}"/>
              </a:ext>
            </a:extLst>
          </p:cNvPr>
          <p:cNvCxnSpPr/>
          <p:nvPr/>
        </p:nvCxnSpPr>
        <p:spPr>
          <a:xfrm>
            <a:off x="7344944" y="2061674"/>
            <a:ext cx="0" cy="18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355;p34">
            <a:extLst>
              <a:ext uri="{FF2B5EF4-FFF2-40B4-BE49-F238E27FC236}">
                <a16:creationId xmlns:a16="http://schemas.microsoft.com/office/drawing/2014/main" id="{6A763534-F155-EACF-91A4-DF2E5A7864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8535" y="2768892"/>
            <a:ext cx="2412254" cy="13867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Tx/>
              <a:buChar char="-"/>
            </a:pPr>
            <a:r>
              <a:rPr lang="en-US" sz="1400" dirty="0"/>
              <a:t>Generated 1000 samples by placing the object at random places </a:t>
            </a:r>
          </a:p>
          <a:p>
            <a:pPr marL="285750" lvl="0" indent="-285750" algn="l">
              <a:buFontTx/>
              <a:buChar char="-"/>
            </a:pPr>
            <a:r>
              <a:rPr lang="en-US" sz="1400" dirty="0"/>
              <a:t>Generated the consecutive RTI images (regression) </a:t>
            </a:r>
          </a:p>
          <a:p>
            <a:pPr marL="285750" lvl="0" indent="-285750" algn="l">
              <a:buFontTx/>
              <a:buChar char="-"/>
            </a:pPr>
            <a:endParaRPr lang="en-US" sz="1400" b="1" dirty="0"/>
          </a:p>
          <a:p>
            <a:pPr marL="0" lvl="0" indent="0" algn="l"/>
            <a:endParaRPr lang="en-US" sz="1400" dirty="0"/>
          </a:p>
        </p:txBody>
      </p:sp>
      <p:sp>
        <p:nvSpPr>
          <p:cNvPr id="25" name="Google Shape;355;p34">
            <a:extLst>
              <a:ext uri="{FF2B5EF4-FFF2-40B4-BE49-F238E27FC236}">
                <a16:creationId xmlns:a16="http://schemas.microsoft.com/office/drawing/2014/main" id="{99CA0E4D-AFE5-80F2-6904-5D2D608BB971}"/>
              </a:ext>
            </a:extLst>
          </p:cNvPr>
          <p:cNvSpPr txBox="1">
            <a:spLocks/>
          </p:cNvSpPr>
          <p:nvPr/>
        </p:nvSpPr>
        <p:spPr>
          <a:xfrm>
            <a:off x="3435906" y="2645160"/>
            <a:ext cx="2412254" cy="138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6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285750" indent="-285750" algn="l">
              <a:buFontTx/>
              <a:buChar char="-"/>
            </a:pPr>
            <a:r>
              <a:rPr lang="en-US" sz="1400" dirty="0"/>
              <a:t>Trained the U – net with: </a:t>
            </a:r>
          </a:p>
          <a:p>
            <a:pPr marL="742950" lvl="1" indent="-285750" algn="l">
              <a:buFontTx/>
              <a:buChar char="-"/>
            </a:pPr>
            <a:r>
              <a:rPr lang="en-US" sz="1200" dirty="0"/>
              <a:t> original image (ground truth) as output </a:t>
            </a:r>
          </a:p>
          <a:p>
            <a:pPr marL="742950" lvl="1" indent="-285750" algn="l">
              <a:buFontTx/>
              <a:buChar char="-"/>
            </a:pPr>
            <a:r>
              <a:rPr lang="en-US" sz="1200" dirty="0"/>
              <a:t>RTI constructed images as input </a:t>
            </a:r>
          </a:p>
          <a:p>
            <a:pPr marL="0" indent="0" algn="l"/>
            <a:endParaRPr lang="en-US" sz="1400" dirty="0"/>
          </a:p>
        </p:txBody>
      </p:sp>
      <p:sp>
        <p:nvSpPr>
          <p:cNvPr id="26" name="Google Shape;355;p34">
            <a:extLst>
              <a:ext uri="{FF2B5EF4-FFF2-40B4-BE49-F238E27FC236}">
                <a16:creationId xmlns:a16="http://schemas.microsoft.com/office/drawing/2014/main" id="{C1F88959-7BAA-1CC0-88B7-F55552F3CC52}"/>
              </a:ext>
            </a:extLst>
          </p:cNvPr>
          <p:cNvSpPr txBox="1">
            <a:spLocks/>
          </p:cNvSpPr>
          <p:nvPr/>
        </p:nvSpPr>
        <p:spPr>
          <a:xfrm>
            <a:off x="6454109" y="2670853"/>
            <a:ext cx="2412254" cy="138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6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285750" indent="-285750" algn="l">
              <a:buFontTx/>
              <a:buChar char="-"/>
            </a:pPr>
            <a:r>
              <a:rPr lang="en-US" sz="1400" dirty="0"/>
              <a:t>RTI </a:t>
            </a:r>
          </a:p>
          <a:p>
            <a:pPr marL="285750" indent="-285750" algn="l">
              <a:buFontTx/>
              <a:buChar char="-"/>
            </a:pPr>
            <a:r>
              <a:rPr lang="en-US" sz="1400" dirty="0"/>
              <a:t>U - net </a:t>
            </a:r>
          </a:p>
        </p:txBody>
      </p:sp>
    </p:spTree>
    <p:extLst>
      <p:ext uri="{BB962C8B-B14F-4D97-AF65-F5344CB8AC3E}">
        <p14:creationId xmlns:p14="http://schemas.microsoft.com/office/powerpoint/2010/main" val="1890016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A79BD101-CCB1-8A85-541F-4AAB1BB6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4;p33">
            <a:extLst>
              <a:ext uri="{FF2B5EF4-FFF2-40B4-BE49-F238E27FC236}">
                <a16:creationId xmlns:a16="http://schemas.microsoft.com/office/drawing/2014/main" id="{F13B5C49-69E1-1FB8-32EB-D98E591D9A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132" y="502965"/>
            <a:ext cx="7828156" cy="7389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U – Net  </a:t>
            </a:r>
            <a:endParaRPr sz="32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C4357BE6-F60A-09A6-A0C3-B95B9B611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49" y="-81677"/>
            <a:ext cx="928176" cy="6668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AF8E7B-5FC0-E369-4E1E-0D4FB1470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63" y="1532596"/>
            <a:ext cx="7222854" cy="243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86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6FCCE7-5F5C-6395-5495-0389A43B1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205" y="948944"/>
            <a:ext cx="3389756" cy="28590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9D9CFA-370E-B992-00EF-A80538A52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64" y="825053"/>
            <a:ext cx="4324036" cy="31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98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ormal Research Paper Slideshow by Slidesgo">
  <a:themeElements>
    <a:clrScheme name="Simple Light">
      <a:dk1>
        <a:srgbClr val="191919"/>
      </a:dk1>
      <a:lt1>
        <a:srgbClr val="FFFFFF"/>
      </a:lt1>
      <a:dk2>
        <a:srgbClr val="DDD9D5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2109</TotalTime>
  <Words>400</Words>
  <Application>Microsoft Office PowerPoint</Application>
  <PresentationFormat>On-screen Show (16:9)</PresentationFormat>
  <Paragraphs>84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Cambria Math</vt:lpstr>
      <vt:lpstr>Didact Gothic</vt:lpstr>
      <vt:lpstr>Old Standard TT</vt:lpstr>
      <vt:lpstr>Lexend Tera</vt:lpstr>
      <vt:lpstr>Arial</vt:lpstr>
      <vt:lpstr>Formal Research Paper Slideshow by Slidesgo</vt:lpstr>
      <vt:lpstr>RTI ELD411: Final Presentation</vt:lpstr>
      <vt:lpstr>Contents</vt:lpstr>
      <vt:lpstr>PowerPoint Presentation</vt:lpstr>
      <vt:lpstr>PowerPoint Presentation</vt:lpstr>
      <vt:lpstr>Set up </vt:lpstr>
      <vt:lpstr>Linear RTI</vt:lpstr>
      <vt:lpstr>Linear RTI</vt:lpstr>
      <vt:lpstr>Linear RTI</vt:lpstr>
      <vt:lpstr>Regression </vt:lpstr>
      <vt:lpstr>Regression </vt:lpstr>
      <vt:lpstr>Regression </vt:lpstr>
      <vt:lpstr>Regression </vt:lpstr>
      <vt:lpstr>U – Net  </vt:lpstr>
      <vt:lpstr>U – Net  </vt:lpstr>
      <vt:lpstr>U – Net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Hariom Hariom</cp:lastModifiedBy>
  <cp:revision>46</cp:revision>
  <dcterms:modified xsi:type="dcterms:W3CDTF">2026-03-28T11:43:02Z</dcterms:modified>
</cp:coreProperties>
</file>