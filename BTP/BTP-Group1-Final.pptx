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7"/>
  </p:notesMasterIdLst>
  <p:sldIdLst>
    <p:sldId id="262" r:id="rId6"/>
    <p:sldId id="256" r:id="rId7"/>
    <p:sldId id="257" r:id="rId8"/>
    <p:sldId id="258" r:id="rId9"/>
    <p:sldId id="260" r:id="rId10"/>
    <p:sldId id="266" r:id="rId11"/>
    <p:sldId id="267" r:id="rId12"/>
    <p:sldId id="263" r:id="rId13"/>
    <p:sldId id="264" r:id="rId14"/>
    <p:sldId id="261" r:id="rId15"/>
    <p:sldId id="265" r:id="rId16"/>
    <p:sldId id="268" r:id="rId17"/>
    <p:sldId id="273" r:id="rId18"/>
    <p:sldId id="272" r:id="rId19"/>
    <p:sldId id="286" r:id="rId20"/>
    <p:sldId id="270" r:id="rId21"/>
    <p:sldId id="290" r:id="rId22"/>
    <p:sldId id="287" r:id="rId23"/>
    <p:sldId id="288" r:id="rId24"/>
    <p:sldId id="271" r:id="rId25"/>
    <p:sldId id="28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A3E7B-741B-40DE-8366-F26DA6939554}" v="86" dt="2025-11-21T19:24:28.576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7F9B4-9214-4624-BC82-AB594060615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9C468-F465-487C-8182-C6CDE3A6D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0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9C468-F465-487C-8182-C6CDE3A6DAC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088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705C-059E-ADF0-58E4-C84DE24DF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062C4-CFA7-4BF9-E8ED-C3B08F633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99422-F5BA-121D-46B2-8D52002D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C653-76E8-4303-B02B-206265F0868E}" type="datetime1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5F134-91B4-4182-E8D2-33517A0B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F2396-18CF-B066-CFBE-3BF17FB5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49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A221-F8BB-870C-945C-6622BE72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C3C77-6F1C-46A1-54AE-CCBF70D3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8561C-AEE5-01E4-7749-D6D6CD63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72CF-AC82-45F9-8372-AEB62247BAE9}" type="datetime1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7541D-2CBE-3744-9C1B-F93A8E3D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FA294-CBB4-7AC5-1D86-7A187FBC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805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B446-6045-C84C-AED0-B521EB0A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44A77-1C53-8915-20EB-39DB4EFAA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D5CFB-851A-FDC4-81BC-374FA6CB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491E-CA94-4243-9D53-FF41DA444438}" type="datetime1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0DF8-D8CA-AA93-5796-9DF8329F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D8C2D-4D99-91A5-DB93-C720B93B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44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C92C-7F41-92C3-FAC3-28DF7605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1B15-D294-0986-F614-4053550F3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863A1-E170-D44F-3DB1-0A07B714B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87FD7-8233-C7AE-3E16-B296AD7B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EBDE9-4F96-40A3-961B-077E2D7D9A5D}" type="datetime1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C8139-CD03-F23A-4B6C-3F45EEA5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638F9-3246-3548-DDB4-F3543E2E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18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873C-767F-3E0B-96D3-1AED7602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1185B-9BA7-97E5-05A6-5614EB29C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1C38E-8A6D-FFDA-E49E-767E13F1F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B48AD-7A1D-164D-6AE3-2135EF4B1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47CFD-00F2-DE2E-46CA-63E8CD450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6E813A-8ED3-80AB-B9F3-758DA8C6C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101B-706D-49A9-AC47-965FED7225CD}" type="datetime1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98B8A-7ACB-8EEB-B9AE-E88DD631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6879BC-A8AF-DA83-11AD-3B936133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65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9530-1217-4CBA-BF47-E1E3B706C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39462-F04D-F888-D4C5-A61217FEB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A9C8-1A83-49CD-955B-56181122BA64}" type="datetime1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A7EF4-119E-CF00-3956-E6EB11CAA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99034-2543-E7D7-0248-F31D7E704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931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ADF28-D042-C385-0BBD-015F94292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D296-9B03-4EC7-9C36-534C96C6D8E0}" type="datetime1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2F962-AF34-6542-1FBD-ECBCCE44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C1C10-31A8-30D7-21B1-B4E70FDA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5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F00EA-4A1B-A303-3289-FF612868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4722-AEE0-3C11-885E-A8DC81AB7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00BA3-E01D-F389-0AB2-13A901A78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3C86-46E9-3CE0-7ED8-A132A611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75CA-726E-4E16-BF95-7F426284C860}" type="datetime1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F0AC-CEA6-DB06-174C-540172FC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326D5-AA65-0917-3A5A-E3825B37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5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ABB2-C80B-377A-1839-6F681819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CC28B-E181-F1BF-46BA-45FCE3AA9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8687E-F8DF-4267-EEA2-F3326F06A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1277A-60A1-725D-8F23-974CE439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CE2B-4F19-4F62-A988-D8E9C5BF9139}" type="datetime1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CF82B-024B-9E61-69BB-33CD3309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86845-0420-8EF8-4317-398BF192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843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5BE3-FC6E-0B75-DA37-EF5ED871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BDD48-1BC4-3014-DD0C-DC7527E6D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2BE22-CF30-E393-6B93-CF6DB651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C2A-A919-4FAB-A5EB-856DF2593FC8}" type="datetime1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C576A-FCE9-ABF4-312D-5AD56C1C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80E75-71E1-7EA4-8D95-A9A34FCF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5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FDBAF1-9284-08E2-58BE-C51B71BFF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854C3-5E49-6DD2-E913-51DC642BE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9BD1F-9954-B426-360D-6C672E38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43D-3FC4-447D-BB85-61800C4D37E7}" type="datetime1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94B1E-6BA8-AF7C-7909-D2725AF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6376A-B47C-C107-BC78-CB4D2148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292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2468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119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1119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439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4291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32631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51152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896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8943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118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42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6A9C1-6A03-5E1B-300C-E8502EED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E3E1E-51C9-7AD4-ADDE-70C3AADDE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A5E5-6C97-E849-2F83-C6C84152B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B17A7-E573-4069-BA04-77634F6849AC}" type="datetime1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2A1B-6D5B-AD51-14FD-106386E50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0FA36-94C9-47C0-6919-F4ACDA8EC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9DABA-0385-4836-87A9-ADB21EF00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30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42371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537440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5374407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5374407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6.png"/><Relationship Id="rId5" Type="http://schemas.microsoft.com/office/2007/relationships/media" Target="../media/media3.mp4"/><Relationship Id="rId10" Type="http://schemas.openxmlformats.org/officeDocument/2006/relationships/image" Target="../media/image15.png"/><Relationship Id="rId4" Type="http://schemas.openxmlformats.org/officeDocument/2006/relationships/video" Target="../media/media2.mp4"/><Relationship Id="rId9" Type="http://schemas.openxmlformats.org/officeDocument/2006/relationships/hyperlink" Target="https://ieeexplore.ieee.org/document/537440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ieeexplore.ieee.org/document/537440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media" Target="../media/media2.mp4"/><Relationship Id="rId7" Type="http://schemas.openxmlformats.org/officeDocument/2006/relationships/image" Target="../media/image23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hyperlink" Target="https://ieeexplore.ieee.org/document/5374407" TargetMode="Externa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Up 11">
            <a:extLst>
              <a:ext uri="{FF2B5EF4-FFF2-40B4-BE49-F238E27FC236}">
                <a16:creationId xmlns:a16="http://schemas.microsoft.com/office/drawing/2014/main" id="{E292F75A-DEA7-560D-3DED-CB1076D7F9C3}"/>
              </a:ext>
            </a:extLst>
          </p:cNvPr>
          <p:cNvSpPr/>
          <p:nvPr/>
        </p:nvSpPr>
        <p:spPr>
          <a:xfrm rot="2667642">
            <a:off x="8424398" y="4206874"/>
            <a:ext cx="716656" cy="1945536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7C036-0350-0D4B-D7DF-0ADE7216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6469F-9B48-5395-F6FC-208D54DFC82E}"/>
              </a:ext>
            </a:extLst>
          </p:cNvPr>
          <p:cNvSpPr txBox="1"/>
          <p:nvPr/>
        </p:nvSpPr>
        <p:spPr>
          <a:xfrm>
            <a:off x="2925730" y="174548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Radio Tomographic Imaging (RTI):</a:t>
            </a:r>
          </a:p>
          <a:p>
            <a:pPr algn="ctr"/>
            <a:endParaRPr lang="en-US" sz="1400" b="1" u="sng" dirty="0"/>
          </a:p>
          <a:p>
            <a:pPr algn="ctr"/>
            <a:r>
              <a:rPr lang="en-US" sz="1800" b="1" dirty="0"/>
              <a:t>Using </a:t>
            </a:r>
            <a:r>
              <a:rPr lang="en-US" sz="1800" b="1" dirty="0" err="1"/>
              <a:t>WiFi</a:t>
            </a:r>
            <a:r>
              <a:rPr lang="en-US" sz="1800" b="1"/>
              <a:t> for Indoor Imaging and Sensing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CE95D-6079-33D9-D8FF-72ED629762A9}"/>
              </a:ext>
            </a:extLst>
          </p:cNvPr>
          <p:cNvSpPr txBox="1"/>
          <p:nvPr/>
        </p:nvSpPr>
        <p:spPr>
          <a:xfrm>
            <a:off x="279846" y="2659558"/>
            <a:ext cx="3268365" cy="15388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Reconstruction Algorithm and testing with simulation data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/>
              <a:t>Design and implement the RTI model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/>
              <a:t>Classical Machine learning for inverse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1C39D-8EE0-B50F-6E25-FE75BC437146}"/>
              </a:ext>
            </a:extLst>
          </p:cNvPr>
          <p:cNvSpPr txBox="1"/>
          <p:nvPr/>
        </p:nvSpPr>
        <p:spPr>
          <a:xfrm>
            <a:off x="4501885" y="4778035"/>
            <a:ext cx="3268365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Hardware implementation, measurement setup and Data collection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/>
              <a:t>Configuring wireless network made up of ESP32 sensors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/>
              <a:t>Collect experimental data under various conditions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D64C90-4DA9-938A-0EE2-32C0B82F18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73"/>
          <a:stretch/>
        </p:blipFill>
        <p:spPr>
          <a:xfrm>
            <a:off x="3392212" y="135215"/>
            <a:ext cx="2311952" cy="16974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58007B-738A-AA51-D7E8-21C8037722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573"/>
          <a:stretch/>
        </p:blipFill>
        <p:spPr>
          <a:xfrm>
            <a:off x="6096000" y="135215"/>
            <a:ext cx="2311953" cy="16974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D7C720-E319-C45D-0BA0-31DD2505EBB0}"/>
              </a:ext>
            </a:extLst>
          </p:cNvPr>
          <p:cNvCxnSpPr>
            <a:cxnSpLocks/>
          </p:cNvCxnSpPr>
          <p:nvPr/>
        </p:nvCxnSpPr>
        <p:spPr>
          <a:xfrm>
            <a:off x="5590126" y="1051169"/>
            <a:ext cx="505874" cy="0"/>
          </a:xfrm>
          <a:prstGeom prst="straightConnector1">
            <a:avLst/>
          </a:prstGeom>
          <a:ln w="44450">
            <a:solidFill>
              <a:srgbClr val="C00000">
                <a:alpha val="48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D6E47F-E07E-F646-09A7-6CDC260356C9}"/>
              </a:ext>
            </a:extLst>
          </p:cNvPr>
          <p:cNvSpPr txBox="1"/>
          <p:nvPr/>
        </p:nvSpPr>
        <p:spPr>
          <a:xfrm>
            <a:off x="8610600" y="2158751"/>
            <a:ext cx="3268366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Model based machine learning for improved results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/>
              <a:t>Incorporate model information into the Neural Network to achieve higher resolution results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/>
              <a:t>Increase the robustness of the achieved results by reducing noise and false detections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774DD7-6EA3-E6E5-C5D4-32E36B8A4407}"/>
              </a:ext>
            </a:extLst>
          </p:cNvPr>
          <p:cNvSpPr txBox="1"/>
          <p:nvPr/>
        </p:nvSpPr>
        <p:spPr>
          <a:xfrm rot="18929243">
            <a:off x="7713628" y="5019854"/>
            <a:ext cx="20538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/>
              <a:t>Experimental data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7486D9F-4DA3-E9BA-5110-A3EE87DDC473}"/>
              </a:ext>
            </a:extLst>
          </p:cNvPr>
          <p:cNvSpPr/>
          <p:nvPr/>
        </p:nvSpPr>
        <p:spPr>
          <a:xfrm>
            <a:off x="4332234" y="2774946"/>
            <a:ext cx="3607666" cy="68390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Simulation and experimental results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57B732E3-8515-F0F6-13BD-68B7CA745D37}"/>
              </a:ext>
            </a:extLst>
          </p:cNvPr>
          <p:cNvSpPr/>
          <p:nvPr/>
        </p:nvSpPr>
        <p:spPr>
          <a:xfrm rot="19094449">
            <a:off x="2856719" y="4181591"/>
            <a:ext cx="716656" cy="1945536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62744D-46F0-8B8D-4B88-AE3D8750E372}"/>
              </a:ext>
            </a:extLst>
          </p:cNvPr>
          <p:cNvSpPr txBox="1"/>
          <p:nvPr/>
        </p:nvSpPr>
        <p:spPr>
          <a:xfrm rot="2915428">
            <a:off x="2220765" y="4985082"/>
            <a:ext cx="20538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/>
              <a:t>Experimental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FF65A7-153A-9B2F-B59B-30D457207D8B}"/>
              </a:ext>
            </a:extLst>
          </p:cNvPr>
          <p:cNvSpPr txBox="1"/>
          <p:nvPr/>
        </p:nvSpPr>
        <p:spPr>
          <a:xfrm>
            <a:off x="275563" y="2275400"/>
            <a:ext cx="326836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u="sng"/>
              <a:t>GROUP-1</a:t>
            </a:r>
            <a:endParaRPr lang="en-IN" b="1" u="sn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8C8FB-F6B8-A9F7-E560-E94B9D7A4B1B}"/>
              </a:ext>
            </a:extLst>
          </p:cNvPr>
          <p:cNvSpPr txBox="1"/>
          <p:nvPr/>
        </p:nvSpPr>
        <p:spPr>
          <a:xfrm>
            <a:off x="4501885" y="4413471"/>
            <a:ext cx="326836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u="sng"/>
              <a:t>GROUP-2</a:t>
            </a:r>
            <a:endParaRPr lang="en-IN" b="1" u="sn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C6339E-2D9A-2F76-90B0-BFA137C16533}"/>
              </a:ext>
            </a:extLst>
          </p:cNvPr>
          <p:cNvSpPr txBox="1"/>
          <p:nvPr/>
        </p:nvSpPr>
        <p:spPr>
          <a:xfrm>
            <a:off x="8610601" y="1767894"/>
            <a:ext cx="326836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u="sng"/>
              <a:t>GROUP-3</a:t>
            </a:r>
            <a:endParaRPr lang="en-IN" b="1" u="sng"/>
          </a:p>
        </p:txBody>
      </p:sp>
    </p:spTree>
    <p:extLst>
      <p:ext uri="{BB962C8B-B14F-4D97-AF65-F5344CB8AC3E}">
        <p14:creationId xmlns:p14="http://schemas.microsoft.com/office/powerpoint/2010/main" val="219197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A2D5-6980-BD4D-E186-51F1AF316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181" y="194230"/>
            <a:ext cx="5825343" cy="1598900"/>
          </a:xfrm>
        </p:spPr>
        <p:txBody>
          <a:bodyPr>
            <a:normAutofit fontScale="90000"/>
          </a:bodyPr>
          <a:lstStyle/>
          <a:p>
            <a:r>
              <a:rPr lang="en-US" dirty="0"/>
              <a:t>B Tech Project</a:t>
            </a:r>
            <a:br>
              <a:rPr lang="en-US" dirty="0"/>
            </a:br>
            <a:r>
              <a:rPr lang="en-US" sz="3500" dirty="0"/>
              <a:t>END-Term Review</a:t>
            </a:r>
            <a:br>
              <a:rPr lang="en-US" dirty="0"/>
            </a:br>
            <a:r>
              <a:rPr lang="en-US" sz="1600" dirty="0"/>
              <a:t>Prof </a:t>
            </a:r>
            <a:r>
              <a:rPr lang="en-US" sz="1600" dirty="0" err="1"/>
              <a:t>Amartansh</a:t>
            </a:r>
            <a:r>
              <a:rPr lang="en-US" sz="1600" dirty="0"/>
              <a:t> Dubey</a:t>
            </a:r>
            <a:endParaRPr lang="en-IN" sz="1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81F80-D30F-A7A5-05DA-A7FEC56EC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2576" y="5174667"/>
            <a:ext cx="5086525" cy="1058985"/>
          </a:xfrm>
        </p:spPr>
        <p:txBody>
          <a:bodyPr>
            <a:normAutofit/>
          </a:bodyPr>
          <a:lstStyle/>
          <a:p>
            <a:r>
              <a:rPr lang="en-US" sz="1800"/>
              <a:t>By-</a:t>
            </a:r>
            <a:br>
              <a:rPr lang="en-US" sz="1800"/>
            </a:br>
            <a:r>
              <a:rPr lang="en-US" sz="1800"/>
              <a:t>Sambhab Dalai – 2022EE11721</a:t>
            </a:r>
          </a:p>
          <a:p>
            <a:r>
              <a:rPr lang="en-US" sz="1800"/>
              <a:t>Priti Kumari Meena – 2022EE11185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E5EF6-D86D-2721-F5A5-1A9B8589B632}"/>
              </a:ext>
            </a:extLst>
          </p:cNvPr>
          <p:cNvSpPr/>
          <p:nvPr/>
        </p:nvSpPr>
        <p:spPr>
          <a:xfrm>
            <a:off x="7043954" y="0"/>
            <a:ext cx="5148045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CCEB1-4F74-932D-69C3-9F415CEC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C8711-8913-D698-EAF1-47FB086220D9}"/>
              </a:ext>
            </a:extLst>
          </p:cNvPr>
          <p:cNvSpPr txBox="1"/>
          <p:nvPr/>
        </p:nvSpPr>
        <p:spPr>
          <a:xfrm>
            <a:off x="634181" y="4288546"/>
            <a:ext cx="3593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</a:t>
            </a:r>
            <a:r>
              <a:rPr lang="en-US" baseline="30000" dirty="0"/>
              <a:t>th</a:t>
            </a:r>
            <a:r>
              <a:rPr lang="en-US" dirty="0"/>
              <a:t> November 2025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9866-EDDE-234B-494F-1D61C22FEF90}"/>
              </a:ext>
            </a:extLst>
          </p:cNvPr>
          <p:cNvSpPr txBox="1"/>
          <p:nvPr/>
        </p:nvSpPr>
        <p:spPr>
          <a:xfrm>
            <a:off x="761141" y="2186758"/>
            <a:ext cx="591901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u="sng" dirty="0"/>
              <a:t>Radio Tomographic Imaging (RTI):</a:t>
            </a:r>
          </a:p>
          <a:p>
            <a:pPr algn="ctr"/>
            <a:r>
              <a:rPr lang="en-US" sz="2000" b="1" dirty="0"/>
              <a:t>Utilizing Wi-Fi for Indoor Imaging and Sensing</a:t>
            </a:r>
          </a:p>
          <a:p>
            <a:endParaRPr lang="en-US" sz="2000" b="1" u="sng" dirty="0">
              <a:solidFill>
                <a:srgbClr val="FF0000"/>
              </a:solidFill>
            </a:endParaRP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Group 1: </a:t>
            </a:r>
            <a:r>
              <a:rPr lang="en-US" sz="2000" b="1" u="sng" dirty="0">
                <a:solidFill>
                  <a:srgbClr val="FF0000"/>
                </a:solidFill>
              </a:rPr>
              <a:t>Developing and Implementing Image Reconstruction Algorithms</a:t>
            </a:r>
            <a:endParaRPr lang="en-IN" sz="2000" b="1" u="sng" dirty="0">
              <a:solidFill>
                <a:srgbClr val="FF0000"/>
              </a:solidFill>
            </a:endParaRPr>
          </a:p>
        </p:txBody>
      </p:sp>
      <p:pic>
        <p:nvPicPr>
          <p:cNvPr id="11" name="Picture 10" descr="A diagram of multiple objects with red dots&#10;&#10;AI-generated content may be incorrect.">
            <a:extLst>
              <a:ext uri="{FF2B5EF4-FFF2-40B4-BE49-F238E27FC236}">
                <a16:creationId xmlns:a16="http://schemas.microsoft.com/office/drawing/2014/main" id="{690F0421-A803-F5DD-6DB9-35B774CF0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365" y="4288546"/>
            <a:ext cx="4114800" cy="1741018"/>
          </a:xfrm>
          <a:prstGeom prst="rect">
            <a:avLst/>
          </a:prstGeom>
        </p:spPr>
      </p:pic>
      <p:pic>
        <p:nvPicPr>
          <p:cNvPr id="14" name="Picture 13" descr="A diagram of a network&#10;&#10;AI-generated content may be incorrect.">
            <a:extLst>
              <a:ext uri="{FF2B5EF4-FFF2-40B4-BE49-F238E27FC236}">
                <a16:creationId xmlns:a16="http://schemas.microsoft.com/office/drawing/2014/main" id="{13B5645F-04C1-2D2A-3351-329B0670A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730" y="572848"/>
            <a:ext cx="3322070" cy="332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8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9CD0-7FA8-D776-E777-1AF2FAB4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37" y="405261"/>
            <a:ext cx="5630642" cy="393659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/>
              <a:t>What is Radio Tomographic Imaging (RTI)?</a:t>
            </a:r>
            <a:endParaRPr lang="en-IN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C6297-DA8A-C6CA-9F13-F734A5464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36" y="831801"/>
            <a:ext cx="5630643" cy="2296329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r>
              <a:rPr lang="en-US" sz="1700"/>
              <a:t>An imaging technology that maps signal attenuation caused by physical objects within a wireless network.</a:t>
            </a:r>
          </a:p>
          <a:p>
            <a:r>
              <a:rPr lang="en-US" sz="1700"/>
              <a:t>It's "</a:t>
            </a:r>
            <a:r>
              <a:rPr lang="en-US" sz="1700" b="1"/>
              <a:t>device-free</a:t>
            </a:r>
            <a:r>
              <a:rPr lang="en-US" sz="1700"/>
              <a:t>," meaning objects being imaged don't need to carry any electronic device.</a:t>
            </a:r>
          </a:p>
          <a:p>
            <a:r>
              <a:rPr lang="en-US" sz="1800"/>
              <a:t>Not Limited to Localization: Captures Shape, Size, and Attenuation</a:t>
            </a:r>
          </a:p>
          <a:p>
            <a:r>
              <a:rPr lang="en-US" sz="1700"/>
              <a:t>Imagine it as a large-scale CT scanner or MRI but instead of x-rays, we are using RF signals</a:t>
            </a:r>
          </a:p>
          <a:p>
            <a:endParaRPr lang="en-US" sz="1700"/>
          </a:p>
          <a:p>
            <a:endParaRPr lang="en-IN" sz="1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80056-3114-6E45-C8CE-48D891A9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5E0A4-50A2-6DC2-BB55-B32D72CA6E1C}"/>
              </a:ext>
            </a:extLst>
          </p:cNvPr>
          <p:cNvSpPr txBox="1"/>
          <p:nvPr/>
        </p:nvSpPr>
        <p:spPr>
          <a:xfrm>
            <a:off x="519436" y="3314370"/>
            <a:ext cx="5630642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/>
              <a:t>How RTI Works?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6B51D-E535-5832-4B39-E40B426F2A5C}"/>
              </a:ext>
            </a:extLst>
          </p:cNvPr>
          <p:cNvSpPr txBox="1"/>
          <p:nvPr/>
        </p:nvSpPr>
        <p:spPr>
          <a:xfrm>
            <a:off x="612845" y="6276874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C40C5-C6AC-49BD-32B1-BE5156D5AB4C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B461F8-08CA-FF4C-AF72-BF63708809E1}"/>
              </a:ext>
            </a:extLst>
          </p:cNvPr>
          <p:cNvSpPr txBox="1">
            <a:spLocks/>
          </p:cNvSpPr>
          <p:nvPr/>
        </p:nvSpPr>
        <p:spPr>
          <a:xfrm>
            <a:off x="554242" y="3729869"/>
            <a:ext cx="5630643" cy="25470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Multiple node pairs create numerous transmission paths through the monitored area</a:t>
            </a:r>
          </a:p>
          <a:p>
            <a:r>
              <a:rPr lang="en-US" sz="1800"/>
              <a:t>Objects moving into wireless network areas cause </a:t>
            </a:r>
            <a:r>
              <a:rPr lang="en-US" sz="1800" b="1"/>
              <a:t>shadowing losses </a:t>
            </a:r>
            <a:r>
              <a:rPr lang="en-US" sz="1800"/>
              <a:t>on radio links</a:t>
            </a:r>
          </a:p>
          <a:p>
            <a:r>
              <a:rPr lang="en-US" sz="1800"/>
              <a:t>Signal strength changes indicate object presence and location</a:t>
            </a:r>
          </a:p>
          <a:p>
            <a:r>
              <a:rPr lang="en-US" sz="1800"/>
              <a:t>Linear model processes RSS measurements to generate attenuation images.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CCCBBE-E37B-B674-4D28-86B1FF4D0BAA}"/>
              </a:ext>
            </a:extLst>
          </p:cNvPr>
          <p:cNvSpPr txBox="1"/>
          <p:nvPr/>
        </p:nvSpPr>
        <p:spPr>
          <a:xfrm>
            <a:off x="6359795" y="397758"/>
            <a:ext cx="5630642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K</a:t>
            </a:r>
            <a:r>
              <a:rPr lang="en-IN" sz="2000" b="1" err="1"/>
              <a:t>ey</a:t>
            </a:r>
            <a:r>
              <a:rPr lang="en-IN" sz="2000" b="1"/>
              <a:t> Advantages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26A95FC-5D1F-4DBF-7D92-36B4538B4EDE}"/>
              </a:ext>
            </a:extLst>
          </p:cNvPr>
          <p:cNvSpPr txBox="1">
            <a:spLocks/>
          </p:cNvSpPr>
          <p:nvPr/>
        </p:nvSpPr>
        <p:spPr>
          <a:xfrm>
            <a:off x="6359794" y="831802"/>
            <a:ext cx="5630643" cy="54450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/>
              <a:t>Works through through-the-wall and obstructions</a:t>
            </a:r>
            <a:r>
              <a:rPr lang="en-US" sz="1600"/>
              <a:t>: RTI utilizes radio signals that can pass through walls, trees, and smoke, unlike camera systems.</a:t>
            </a:r>
          </a:p>
          <a:p>
            <a:r>
              <a:rPr lang="en-US" sz="1600" b="1"/>
              <a:t>Functions in darkness</a:t>
            </a:r>
            <a:r>
              <a:rPr lang="en-US" sz="1600"/>
              <a:t>: The system operates on radio waves, allowing it to work effectively in complete darkness, where cameras fail.</a:t>
            </a:r>
          </a:p>
          <a:p>
            <a:r>
              <a:rPr lang="en-US" sz="1600" b="1"/>
              <a:t>Preserves privacy</a:t>
            </a:r>
            <a:r>
              <a:rPr lang="en-US" sz="1600"/>
              <a:t>: RTI provides a person's location and movement but cannot be used for identification, addressing privacy concerns.</a:t>
            </a:r>
          </a:p>
          <a:p>
            <a:r>
              <a:rPr lang="en-US" sz="1600" b="1"/>
              <a:t>The technology can be used for various applications</a:t>
            </a:r>
            <a:r>
              <a:rPr lang="en-US" sz="1600"/>
              <a:t>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400" b="1"/>
              <a:t>Emergency response:</a:t>
            </a:r>
            <a:r>
              <a:rPr lang="en-IN" sz="1400"/>
              <a:t> Locate survivors in fire, smoke, or collapsed buildings.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400" b="1"/>
              <a:t>Security and </a:t>
            </a:r>
            <a:r>
              <a:rPr lang="en-IN" sz="1400" b="1" err="1"/>
              <a:t>defense</a:t>
            </a:r>
            <a:r>
              <a:rPr lang="en-IN" sz="1400" b="1"/>
              <a:t>:</a:t>
            </a:r>
            <a:r>
              <a:rPr lang="en-IN" sz="1400"/>
              <a:t> Detect intruders or track offenders without devices.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400" b="1"/>
              <a:t>Smart buildings:</a:t>
            </a:r>
            <a:r>
              <a:rPr lang="en-IN" sz="1400"/>
              <a:t> Monitor occupancy for energy optimization and automated control.</a:t>
            </a:r>
            <a:endParaRPr lang="en-US" sz="1400"/>
          </a:p>
          <a:p>
            <a:r>
              <a:rPr lang="en-US" sz="1600" b="1"/>
              <a:t>“Device free” : No electronic device is needed on the person being imaged</a:t>
            </a:r>
            <a:r>
              <a:rPr lang="en-US" sz="1600"/>
              <a:t>. This makes it useful for applications like security breaches, rescue operations, and tracking offenders where the subjects may not be carrying an electronic device.</a:t>
            </a:r>
          </a:p>
        </p:txBody>
      </p:sp>
    </p:spTree>
    <p:extLst>
      <p:ext uri="{BB962C8B-B14F-4D97-AF65-F5344CB8AC3E}">
        <p14:creationId xmlns:p14="http://schemas.microsoft.com/office/powerpoint/2010/main" val="7424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6039C-8252-A8FF-0C70-91A834462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212"/>
            <a:ext cx="10515600" cy="671409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5000" b="1"/>
              <a:t>Mathematical Foundation: Linear RTI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70AA4-C85B-9EB7-2439-F829CDC3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7256"/>
            <a:ext cx="2743200" cy="365125"/>
          </a:xfrm>
        </p:spPr>
        <p:txBody>
          <a:bodyPr/>
          <a:lstStyle/>
          <a:p>
            <a:fld id="{18D9DABA-0385-4836-87A9-ADB21EF0095B}" type="slidenum">
              <a:rPr lang="en-IN" smtClean="0"/>
              <a:t>4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C9B306-70DA-B388-20A1-9CB611F551BB}"/>
              </a:ext>
            </a:extLst>
          </p:cNvPr>
          <p:cNvSpPr txBox="1">
            <a:spLocks/>
          </p:cNvSpPr>
          <p:nvPr/>
        </p:nvSpPr>
        <p:spPr>
          <a:xfrm>
            <a:off x="884981" y="2592729"/>
            <a:ext cx="5354256" cy="38890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Any pair of nodes is counted as a link, whether or not communication actually occurs between them. The signal strength</a:t>
            </a:r>
            <a:r>
              <a:rPr lang="en-US" sz="1600" b="1" dirty="0"/>
              <a:t> </a:t>
            </a:r>
            <a:r>
              <a:rPr lang="en-US" sz="1600" b="1" dirty="0" err="1"/>
              <a:t>y_i</a:t>
            </a:r>
            <a:r>
              <a:rPr lang="en-US" sz="1600" b="1" dirty="0"/>
              <a:t>(t) </a:t>
            </a:r>
            <a:r>
              <a:rPr lang="en-US" sz="1600" dirty="0"/>
              <a:t>of a particular link </a:t>
            </a:r>
            <a:r>
              <a:rPr lang="en-US" sz="1600" dirty="0" err="1"/>
              <a:t>i</a:t>
            </a:r>
            <a:r>
              <a:rPr lang="en-US" sz="1600" dirty="0"/>
              <a:t> at time t is dependent on:</a:t>
            </a:r>
            <a:endParaRPr lang="en-IN" sz="16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800" b="1" dirty="0"/>
              <a:t>Signal Components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sz="1600" b="1" dirty="0" err="1"/>
              <a:t>P_i</a:t>
            </a:r>
            <a:r>
              <a:rPr lang="en-IN" sz="1600" dirty="0"/>
              <a:t>:  Transmitted power in decibels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sz="1600" b="1" dirty="0" err="1"/>
              <a:t>L_i</a:t>
            </a:r>
            <a:r>
              <a:rPr lang="en-IN" sz="1600" dirty="0"/>
              <a:t>:  Static losses in decibels due to distance, antenna patterns, device inconsistencies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sz="1600" b="1" dirty="0" err="1"/>
              <a:t>S_i</a:t>
            </a:r>
            <a:r>
              <a:rPr lang="en-IN" sz="1600" b="1" dirty="0"/>
              <a:t>(t)</a:t>
            </a:r>
            <a:r>
              <a:rPr lang="en-IN" sz="1600" dirty="0"/>
              <a:t>: Shadowing loss in decibels due to objects that attenuate the signal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sz="1600" b="1" dirty="0" err="1"/>
              <a:t>F_i</a:t>
            </a:r>
            <a:r>
              <a:rPr lang="en-IN" sz="1600" b="1" dirty="0"/>
              <a:t>(t)</a:t>
            </a:r>
            <a:r>
              <a:rPr lang="en-IN" sz="1600" dirty="0"/>
              <a:t>: Fading loss in decibels that occurs from    constructive and destructive interference of narrow band signals in multipath environments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l-GR" sz="1600" b="1" dirty="0"/>
              <a:t>ν_</a:t>
            </a:r>
            <a:r>
              <a:rPr lang="en-IN" sz="1600" b="1" dirty="0" err="1"/>
              <a:t>i</a:t>
            </a:r>
            <a:r>
              <a:rPr lang="en-IN" sz="1600" b="1" dirty="0"/>
              <a:t>(t)</a:t>
            </a:r>
            <a:r>
              <a:rPr lang="en-IN" sz="1600" dirty="0"/>
              <a:t>: Measurement noise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DB576-135A-F791-ACFC-E82FF8E70AF3}"/>
                  </a:ext>
                </a:extLst>
              </p:cNvPr>
              <p:cNvSpPr txBox="1"/>
              <p:nvPr/>
            </p:nvSpPr>
            <p:spPr>
              <a:xfrm>
                <a:off x="884981" y="949574"/>
                <a:ext cx="5354256" cy="160043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Core Signal Equation (link budget equation and Friis equation) : </a:t>
                </a:r>
              </a:p>
              <a:p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2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DB576-135A-F791-ACFC-E82FF8E70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81" y="949574"/>
                <a:ext cx="5354256" cy="1600438"/>
              </a:xfrm>
              <a:prstGeom prst="rect">
                <a:avLst/>
              </a:prstGeom>
              <a:blipFill>
                <a:blip r:embed="rId2"/>
                <a:stretch>
                  <a:fillRect l="-1139" t="-2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94BF16E4-E3B5-28F2-FF51-C665F78CD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937" y="905621"/>
            <a:ext cx="4224759" cy="35803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196E7E-4B6F-2305-6F3A-F081038613B6}"/>
              </a:ext>
            </a:extLst>
          </p:cNvPr>
          <p:cNvSpPr txBox="1"/>
          <p:nvPr/>
        </p:nvSpPr>
        <p:spPr>
          <a:xfrm>
            <a:off x="7315199" y="4571374"/>
            <a:ext cx="3796497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/>
              <a:t>An illustration of a single link in an RTI network that travels in a direct LOS path. The signal is shadowed by objects as it crosses the area of the network in a particular path. The darkened voxels represent the image areas that have a nonzero weighting for this particular link.</a:t>
            </a:r>
            <a:endParaRPr lang="en-IN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A76CF3-880D-2189-9630-46BFD14DB28C}"/>
              </a:ext>
            </a:extLst>
          </p:cNvPr>
          <p:cNvSpPr txBox="1"/>
          <p:nvPr/>
        </p:nvSpPr>
        <p:spPr>
          <a:xfrm>
            <a:off x="725522" y="656725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4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47EB4-55C7-AF89-D560-8C24E6F5DF2C}"/>
              </a:ext>
            </a:extLst>
          </p:cNvPr>
          <p:cNvSpPr txBox="1"/>
          <p:nvPr/>
        </p:nvSpPr>
        <p:spPr>
          <a:xfrm>
            <a:off x="519436" y="1876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343564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0E5208E-DEBF-72BD-E049-F9D118136C6E}"/>
              </a:ext>
            </a:extLst>
          </p:cNvPr>
          <p:cNvSpPr txBox="1"/>
          <p:nvPr/>
        </p:nvSpPr>
        <p:spPr>
          <a:xfrm>
            <a:off x="3260802" y="1077415"/>
            <a:ext cx="2386275" cy="8818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3452DF-C7AE-A231-CD86-61A47969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5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2A129E-4298-98A9-540F-4EE105A158F0}"/>
              </a:ext>
            </a:extLst>
          </p:cNvPr>
          <p:cNvSpPr txBox="1">
            <a:spLocks/>
          </p:cNvSpPr>
          <p:nvPr/>
        </p:nvSpPr>
        <p:spPr>
          <a:xfrm>
            <a:off x="8333240" y="1298755"/>
            <a:ext cx="3548564" cy="50575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r>
              <a:rPr lang="en-IN" sz="1800" b="1"/>
              <a:t>Matrix Formulation</a:t>
            </a:r>
            <a:endParaRPr lang="en-IN" sz="1800"/>
          </a:p>
          <a:p>
            <a:pPr marL="0" indent="0" algn="ctr">
              <a:buNone/>
            </a:pPr>
            <a:r>
              <a:rPr lang="el-GR" sz="2000" b="1"/>
              <a:t>Δ</a:t>
            </a:r>
            <a:r>
              <a:rPr lang="en-IN" sz="2000" b="1"/>
              <a:t>y=W</a:t>
            </a:r>
            <a:r>
              <a:rPr lang="el-GR" sz="2000" b="1"/>
              <a:t>Δ</a:t>
            </a:r>
            <a:r>
              <a:rPr lang="en-IN" sz="2000" b="1" err="1"/>
              <a:t>x+n</a:t>
            </a:r>
            <a:endParaRPr lang="en-IN" sz="2000" b="1"/>
          </a:p>
          <a:p>
            <a:r>
              <a:rPr lang="en-US" sz="1800" b="1" err="1"/>
              <a:t>Δy</a:t>
            </a:r>
            <a:r>
              <a:rPr lang="en-US" sz="1800"/>
              <a:t>: RSS measurement changes</a:t>
            </a:r>
          </a:p>
          <a:p>
            <a:r>
              <a:rPr lang="en-US" sz="1800" b="1"/>
              <a:t>W</a:t>
            </a:r>
            <a:r>
              <a:rPr lang="en-US" sz="1800"/>
              <a:t>: Weighting matrix (M × N)</a:t>
            </a:r>
          </a:p>
          <a:p>
            <a:r>
              <a:rPr lang="en-US" sz="1800" b="1" err="1"/>
              <a:t>Δx</a:t>
            </a:r>
            <a:r>
              <a:rPr lang="en-US" sz="1800"/>
              <a:t>: Attenuation image to estimate</a:t>
            </a:r>
          </a:p>
          <a:p>
            <a:r>
              <a:rPr lang="en-US" sz="1800" b="1"/>
              <a:t>n</a:t>
            </a:r>
            <a:r>
              <a:rPr lang="en-US" sz="1800"/>
              <a:t>: Noise vector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43E89-B21B-B455-7238-A18AF4FF0D86}"/>
              </a:ext>
            </a:extLst>
          </p:cNvPr>
          <p:cNvSpPr txBox="1"/>
          <p:nvPr/>
        </p:nvSpPr>
        <p:spPr>
          <a:xfrm>
            <a:off x="535969" y="691099"/>
            <a:ext cx="7696822" cy="20928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Shadowing loss is the </a:t>
            </a:r>
            <a:r>
              <a:rPr lang="en-IN" b="1"/>
              <a:t>weighted sum </a:t>
            </a:r>
            <a:r>
              <a:rPr lang="en-IN"/>
              <a:t>of attenuation occurring in each voxel j:</a:t>
            </a:r>
          </a:p>
          <a:p>
            <a:endParaRPr lang="en-IN"/>
          </a:p>
          <a:p>
            <a:pPr algn="ctr"/>
            <a:r>
              <a:rPr lang="en-IN" sz="2200" b="1">
                <a:latin typeface="Cambria Math"/>
                <a:ea typeface="Cambria Math"/>
              </a:rPr>
              <a:t>    S</a:t>
            </a:r>
            <a:r>
              <a:rPr lang="en-IN" sz="1400" b="1">
                <a:latin typeface="Cambria Math"/>
                <a:ea typeface="Cambria Math"/>
              </a:rPr>
              <a:t>i</a:t>
            </a:r>
            <a:r>
              <a:rPr lang="en-IN" sz="2200" b="1">
                <a:latin typeface="Cambria Math"/>
                <a:ea typeface="Cambria Math"/>
              </a:rPr>
              <a:t>​(t)=​        </a:t>
            </a:r>
            <a:r>
              <a:rPr lang="en-IN" sz="2200" b="1" err="1">
                <a:latin typeface="Cambria Math"/>
                <a:ea typeface="Cambria Math"/>
              </a:rPr>
              <a:t>w</a:t>
            </a:r>
            <a:r>
              <a:rPr lang="en-IN" sz="1400" b="1" err="1">
                <a:latin typeface="Cambria Math"/>
                <a:ea typeface="Cambria Math"/>
              </a:rPr>
              <a:t>ij</a:t>
            </a:r>
            <a:r>
              <a:rPr lang="en-IN" sz="1600" b="1">
                <a:latin typeface="Cambria Math"/>
                <a:ea typeface="Cambria Math"/>
              </a:rPr>
              <a:t> </a:t>
            </a:r>
            <a:r>
              <a:rPr lang="en-IN" sz="2200" b="1">
                <a:latin typeface="Cambria Math"/>
                <a:ea typeface="Cambria Math"/>
              </a:rPr>
              <a:t>  ​</a:t>
            </a:r>
            <a:r>
              <a:rPr lang="en-IN" sz="2200" b="1" err="1">
                <a:latin typeface="Cambria Math"/>
                <a:ea typeface="Cambria Math"/>
              </a:rPr>
              <a:t>x</a:t>
            </a:r>
            <a:r>
              <a:rPr lang="en-IN" sz="1400" b="1" err="1">
                <a:latin typeface="Cambria Math"/>
                <a:ea typeface="Cambria Math"/>
              </a:rPr>
              <a:t>j</a:t>
            </a:r>
            <a:r>
              <a:rPr lang="en-IN" sz="2000" b="1">
                <a:latin typeface="Cambria Math"/>
                <a:ea typeface="Cambria Math"/>
              </a:rPr>
              <a:t>​</a:t>
            </a:r>
            <a:r>
              <a:rPr lang="en-IN" sz="2200" b="1">
                <a:latin typeface="Cambria Math"/>
                <a:ea typeface="Cambria Math"/>
              </a:rPr>
              <a:t>(t)</a:t>
            </a:r>
          </a:p>
          <a:p>
            <a:pPr algn="ctr"/>
            <a:endParaRPr lang="en-IN"/>
          </a:p>
          <a:p>
            <a:pPr lvl="0"/>
            <a:endParaRPr lang="en-IN"/>
          </a:p>
          <a:p>
            <a:r>
              <a:rPr lang="en-IN" err="1"/>
              <a:t>x</a:t>
            </a:r>
            <a:r>
              <a:rPr lang="en-IN" sz="1100" err="1"/>
              <a:t>j</a:t>
            </a:r>
            <a:r>
              <a:rPr lang="en-IN"/>
              <a:t>​(t): </a:t>
            </a:r>
            <a:r>
              <a:rPr lang="en-IN" sz="1600"/>
              <a:t>Attenuation in voxel j</a:t>
            </a:r>
            <a:endParaRPr lang="en-US" sz="1600"/>
          </a:p>
          <a:p>
            <a:r>
              <a:rPr lang="en-IN" err="1"/>
              <a:t>w</a:t>
            </a:r>
            <a:r>
              <a:rPr lang="en-IN" sz="1200" err="1"/>
              <a:t>ij</a:t>
            </a:r>
            <a:r>
              <a:rPr lang="en-IN"/>
              <a:t>​: </a:t>
            </a:r>
            <a:r>
              <a:rPr lang="en-IN" b="1"/>
              <a:t>Wei</a:t>
            </a:r>
            <a:r>
              <a:rPr lang="en-IN" sz="1600" b="1"/>
              <a:t>ghting</a:t>
            </a:r>
            <a:r>
              <a:rPr lang="en-IN" sz="1600"/>
              <a:t> of voxel j for link </a:t>
            </a:r>
            <a:r>
              <a:rPr lang="en-IN" sz="1600" err="1"/>
              <a:t>i</a:t>
            </a:r>
            <a:r>
              <a:rPr lang="en-IN" sz="1600"/>
              <a:t> (zero if the link doesn't "cross" the voxel)</a:t>
            </a:r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32B95-5D6E-7949-60A6-D7EBED94963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274664" y="1137932"/>
            <a:ext cx="359576" cy="621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7D0A70-8CA1-89F7-BAD8-C651795A3AF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60622" y="4362199"/>
            <a:ext cx="359576" cy="621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8124DB-51C9-9245-BF23-12B05FE093CB}"/>
              </a:ext>
            </a:extLst>
          </p:cNvPr>
          <p:cNvSpPr txBox="1"/>
          <p:nvPr/>
        </p:nvSpPr>
        <p:spPr>
          <a:xfrm>
            <a:off x="920160" y="3054149"/>
            <a:ext cx="6674267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y taking the difference in RSS between two times (t</a:t>
            </a:r>
            <a:r>
              <a:rPr lang="en-US" sz="1400"/>
              <a:t>a</a:t>
            </a:r>
            <a:r>
              <a:rPr lang="en-US" sz="1600"/>
              <a:t> and t</a:t>
            </a:r>
            <a:r>
              <a:rPr lang="en-US" sz="1200"/>
              <a:t>b</a:t>
            </a:r>
            <a:r>
              <a:rPr lang="en-US" sz="1600"/>
              <a:t> ), all static losses (Pi , Li ) are removed: </a:t>
            </a:r>
          </a:p>
          <a:p>
            <a:pPr algn="ctr"/>
            <a:r>
              <a:rPr lang="en-US" sz="2200" b="1">
                <a:latin typeface="Cambria Math"/>
                <a:ea typeface="Cambria Math"/>
              </a:rPr>
              <a:t>△</a:t>
            </a:r>
            <a:r>
              <a:rPr lang="en-US" sz="2200" b="1" err="1">
                <a:latin typeface="Cambria Math"/>
                <a:ea typeface="Cambria Math"/>
              </a:rPr>
              <a:t>y</a:t>
            </a:r>
            <a:r>
              <a:rPr lang="en-US" sz="1600" b="1" err="1">
                <a:latin typeface="Cambria Math"/>
                <a:ea typeface="Cambria Math"/>
              </a:rPr>
              <a:t>i</a:t>
            </a:r>
            <a:r>
              <a:rPr lang="en-US" sz="2200" b="1">
                <a:latin typeface="Cambria Math"/>
                <a:ea typeface="Cambria Math"/>
              </a:rPr>
              <a:t> = </a:t>
            </a:r>
            <a:r>
              <a:rPr lang="en-US" sz="2200" b="1" err="1">
                <a:latin typeface="Cambria Math"/>
                <a:ea typeface="Cambria Math"/>
              </a:rPr>
              <a:t>y</a:t>
            </a:r>
            <a:r>
              <a:rPr lang="en-US" sz="1600" b="1" err="1">
                <a:latin typeface="Cambria Math"/>
                <a:ea typeface="Cambria Math"/>
              </a:rPr>
              <a:t>i</a:t>
            </a:r>
            <a:r>
              <a:rPr lang="en-US" sz="1600" b="1">
                <a:latin typeface="Cambria Math"/>
                <a:ea typeface="Cambria Math"/>
              </a:rPr>
              <a:t> </a:t>
            </a:r>
            <a:r>
              <a:rPr lang="en-US" sz="2200" b="1">
                <a:latin typeface="Cambria Math"/>
                <a:ea typeface="Cambria Math"/>
              </a:rPr>
              <a:t>(t</a:t>
            </a:r>
            <a:r>
              <a:rPr lang="en-US" sz="1600" b="1">
                <a:latin typeface="Cambria Math"/>
                <a:ea typeface="Cambria Math"/>
              </a:rPr>
              <a:t>b</a:t>
            </a:r>
            <a:r>
              <a:rPr lang="en-US" sz="2200" b="1">
                <a:latin typeface="Cambria Math"/>
                <a:ea typeface="Cambria Math"/>
              </a:rPr>
              <a:t>)−</a:t>
            </a:r>
            <a:r>
              <a:rPr lang="en-US" sz="2200" b="1" err="1">
                <a:latin typeface="Cambria Math"/>
                <a:ea typeface="Cambria Math"/>
              </a:rPr>
              <a:t>y</a:t>
            </a:r>
            <a:r>
              <a:rPr lang="en-US" sz="1600" b="1" err="1">
                <a:latin typeface="Cambria Math"/>
                <a:ea typeface="Cambria Math"/>
              </a:rPr>
              <a:t>i</a:t>
            </a:r>
            <a:r>
              <a:rPr lang="en-US" sz="2200" b="1">
                <a:latin typeface="Cambria Math"/>
                <a:ea typeface="Cambria Math"/>
              </a:rPr>
              <a:t> (t</a:t>
            </a:r>
            <a:r>
              <a:rPr lang="en-US" sz="1600" b="1">
                <a:latin typeface="Cambria Math"/>
                <a:ea typeface="Cambria Math"/>
              </a:rPr>
              <a:t>a</a:t>
            </a:r>
            <a:r>
              <a:rPr lang="en-US" sz="2200" b="1">
                <a:latin typeface="Cambria Math"/>
                <a:ea typeface="Cambria Math"/>
              </a:rPr>
              <a:t>)</a:t>
            </a:r>
            <a:endParaRPr lang="en-US" sz="2200">
              <a:latin typeface="Cambria Math"/>
              <a:ea typeface="Cambria Math"/>
            </a:endParaRPr>
          </a:p>
          <a:p>
            <a:r>
              <a:rPr lang="en-US" sz="1600"/>
              <a:t>The difference in RSS is related to the </a:t>
            </a:r>
            <a:r>
              <a:rPr lang="en-US" sz="1600" b="1"/>
              <a:t>change in attenuation</a:t>
            </a:r>
            <a:r>
              <a:rPr lang="en-US" sz="1600"/>
              <a:t> </a:t>
            </a:r>
            <a:r>
              <a:rPr lang="en-US"/>
              <a:t>(△</a:t>
            </a:r>
            <a:r>
              <a:rPr lang="en-US" err="1"/>
              <a:t>xj</a:t>
            </a:r>
            <a:r>
              <a:rPr lang="en-US"/>
              <a:t> ) </a:t>
            </a:r>
            <a:r>
              <a:rPr lang="en-US" sz="1600"/>
              <a:t>and a grouped noise term </a:t>
            </a:r>
            <a:r>
              <a:rPr lang="en-US"/>
              <a:t>(</a:t>
            </a:r>
            <a:r>
              <a:rPr lang="en-US" b="1" err="1"/>
              <a:t>n</a:t>
            </a:r>
            <a:r>
              <a:rPr lang="en-US" sz="1400" b="1" err="1"/>
              <a:t>i</a:t>
            </a:r>
            <a:r>
              <a:rPr lang="en-US"/>
              <a:t> ): </a:t>
            </a:r>
          </a:p>
          <a:p>
            <a:pPr algn="ctr"/>
            <a:r>
              <a:rPr lang="en-US" sz="2000" b="1">
                <a:latin typeface="Cambria Math"/>
                <a:ea typeface="Cambria Math"/>
              </a:rPr>
              <a:t>△</a:t>
            </a:r>
            <a:r>
              <a:rPr lang="en-US" sz="2000" b="1" err="1">
                <a:latin typeface="Cambria Math"/>
                <a:ea typeface="Cambria Math"/>
              </a:rPr>
              <a:t>y</a:t>
            </a:r>
            <a:r>
              <a:rPr lang="en-US" sz="1600" b="1" err="1">
                <a:latin typeface="Cambria Math"/>
                <a:ea typeface="Cambria Math"/>
              </a:rPr>
              <a:t>i</a:t>
            </a:r>
            <a:r>
              <a:rPr lang="en-US" sz="2000" b="1">
                <a:latin typeface="Cambria Math"/>
                <a:ea typeface="Cambria Math"/>
              </a:rPr>
              <a:t>  =        </a:t>
            </a:r>
            <a:r>
              <a:rPr lang="en-US" sz="2000" b="1" err="1">
                <a:latin typeface="Cambria Math"/>
                <a:ea typeface="Cambria Math"/>
              </a:rPr>
              <a:t>w</a:t>
            </a:r>
            <a:r>
              <a:rPr lang="en-US" sz="1600" b="1" err="1">
                <a:latin typeface="Cambria Math"/>
                <a:ea typeface="Cambria Math"/>
              </a:rPr>
              <a:t>ij</a:t>
            </a:r>
            <a:r>
              <a:rPr lang="en-US" sz="2000" b="1">
                <a:latin typeface="Cambria Math"/>
                <a:ea typeface="Cambria Math"/>
              </a:rPr>
              <a:t> △</a:t>
            </a:r>
            <a:r>
              <a:rPr lang="en-US" sz="2000" b="1" err="1">
                <a:latin typeface="Cambria Math"/>
                <a:ea typeface="Cambria Math"/>
              </a:rPr>
              <a:t>x</a:t>
            </a:r>
            <a:r>
              <a:rPr lang="en-US" sz="1600" b="1" err="1">
                <a:latin typeface="Cambria Math"/>
                <a:ea typeface="Cambria Math"/>
              </a:rPr>
              <a:t>j</a:t>
            </a:r>
            <a:r>
              <a:rPr lang="en-US" sz="2000" b="1">
                <a:latin typeface="Cambria Math"/>
                <a:ea typeface="Cambria Math"/>
              </a:rPr>
              <a:t> +</a:t>
            </a:r>
            <a:r>
              <a:rPr lang="en-US" sz="2000" b="1" err="1">
                <a:latin typeface="Cambria Math"/>
                <a:ea typeface="Cambria Math"/>
              </a:rPr>
              <a:t>n</a:t>
            </a:r>
            <a:r>
              <a:rPr lang="en-US" sz="1600" b="1" err="1">
                <a:latin typeface="Cambria Math"/>
                <a:ea typeface="Cambria Math"/>
              </a:rPr>
              <a:t>i</a:t>
            </a:r>
            <a:r>
              <a:rPr lang="en-US" sz="1600" b="1">
                <a:latin typeface="Cambria Math"/>
                <a:ea typeface="Cambria Math"/>
              </a:rPr>
              <a:t> </a:t>
            </a:r>
          </a:p>
          <a:p>
            <a:pPr algn="ctr"/>
            <a:endParaRPr lang="en-US" sz="1600"/>
          </a:p>
          <a:p>
            <a:r>
              <a:rPr lang="en-IN" b="1" err="1"/>
              <a:t>n</a:t>
            </a:r>
            <a:r>
              <a:rPr lang="en-IN" sz="1600" b="1" err="1"/>
              <a:t>i</a:t>
            </a:r>
            <a:r>
              <a:rPr lang="en-IN" b="1"/>
              <a:t> </a:t>
            </a:r>
            <a:r>
              <a:rPr lang="en-IN"/>
              <a:t>groups the fading and measurement noise :</a:t>
            </a:r>
          </a:p>
          <a:p>
            <a:pPr algn="ctr"/>
            <a:r>
              <a:rPr lang="en-IN"/>
              <a:t> </a:t>
            </a:r>
            <a:r>
              <a:rPr lang="en-IN" sz="2000" b="1" err="1">
                <a:latin typeface="Cambria Math"/>
                <a:ea typeface="Cambria Math"/>
              </a:rPr>
              <a:t>n</a:t>
            </a:r>
            <a:r>
              <a:rPr lang="en-IN" sz="1600" b="1" err="1">
                <a:latin typeface="Cambria Math"/>
                <a:ea typeface="Cambria Math"/>
              </a:rPr>
              <a:t>i</a:t>
            </a:r>
            <a:r>
              <a:rPr lang="en-IN" sz="2000" b="1">
                <a:latin typeface="Cambria Math"/>
                <a:ea typeface="Cambria Math"/>
              </a:rPr>
              <a:t> =Fi (t</a:t>
            </a:r>
            <a:r>
              <a:rPr lang="en-IN" sz="1600" b="1">
                <a:latin typeface="Cambria Math"/>
                <a:ea typeface="Cambria Math"/>
              </a:rPr>
              <a:t>b</a:t>
            </a:r>
            <a:r>
              <a:rPr lang="en-IN" sz="2000" b="1">
                <a:latin typeface="Cambria Math"/>
                <a:ea typeface="Cambria Math"/>
              </a:rPr>
              <a:t> )−F</a:t>
            </a:r>
            <a:r>
              <a:rPr lang="en-IN" sz="1600" b="1">
                <a:latin typeface="Cambria Math"/>
                <a:ea typeface="Cambria Math"/>
              </a:rPr>
              <a:t>i </a:t>
            </a:r>
            <a:r>
              <a:rPr lang="en-IN" sz="2000" b="1">
                <a:latin typeface="Cambria Math"/>
                <a:ea typeface="Cambria Math"/>
              </a:rPr>
              <a:t>(t</a:t>
            </a:r>
            <a:r>
              <a:rPr lang="en-IN" sz="1600" b="1">
                <a:latin typeface="Cambria Math"/>
                <a:ea typeface="Cambria Math"/>
              </a:rPr>
              <a:t>a</a:t>
            </a:r>
            <a:r>
              <a:rPr lang="en-IN" sz="2000" b="1">
                <a:latin typeface="Cambria Math"/>
                <a:ea typeface="Cambria Math"/>
              </a:rPr>
              <a:t> )+</a:t>
            </a:r>
            <a:r>
              <a:rPr lang="el-GR" sz="2000" b="1">
                <a:latin typeface="Cambria Math"/>
                <a:ea typeface="Cambria Math"/>
              </a:rPr>
              <a:t>ν</a:t>
            </a:r>
            <a:r>
              <a:rPr lang="en-IN" sz="1600" b="1" err="1">
                <a:latin typeface="Cambria Math"/>
                <a:ea typeface="Cambria Math"/>
              </a:rPr>
              <a:t>i</a:t>
            </a:r>
            <a:r>
              <a:rPr lang="en-IN" sz="2000" b="1">
                <a:latin typeface="Cambria Math"/>
                <a:ea typeface="Cambria Math"/>
              </a:rPr>
              <a:t> (t</a:t>
            </a:r>
            <a:r>
              <a:rPr lang="en-IN" sz="1600" b="1">
                <a:latin typeface="Cambria Math"/>
                <a:ea typeface="Cambria Math"/>
              </a:rPr>
              <a:t>b</a:t>
            </a:r>
            <a:r>
              <a:rPr lang="en-IN" sz="2000" b="1">
                <a:latin typeface="Cambria Math"/>
                <a:ea typeface="Cambria Math"/>
              </a:rPr>
              <a:t> )−</a:t>
            </a:r>
            <a:r>
              <a:rPr lang="el-GR" sz="2000" b="1">
                <a:latin typeface="Cambria Math"/>
                <a:ea typeface="Cambria Math"/>
              </a:rPr>
              <a:t>ν</a:t>
            </a:r>
            <a:r>
              <a:rPr lang="en-IN" sz="1600" b="1" err="1">
                <a:latin typeface="Cambria Math"/>
                <a:ea typeface="Cambria Math"/>
              </a:rPr>
              <a:t>i</a:t>
            </a:r>
            <a:r>
              <a:rPr lang="en-IN" sz="2000" b="1">
                <a:latin typeface="Cambria Math"/>
                <a:ea typeface="Cambria Math"/>
              </a:rPr>
              <a:t> (t</a:t>
            </a:r>
            <a:r>
              <a:rPr lang="en-IN" sz="1600" b="1">
                <a:latin typeface="Cambria Math"/>
                <a:ea typeface="Cambria Math"/>
              </a:rPr>
              <a:t>a</a:t>
            </a:r>
            <a:r>
              <a:rPr lang="en-IN" sz="2000" b="1">
                <a:latin typeface="Cambria Math"/>
                <a:ea typeface="Cambria Math"/>
              </a:rPr>
              <a:t>) </a:t>
            </a:r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7E3148-1415-6C21-1998-63636C07D489}"/>
              </a:ext>
            </a:extLst>
          </p:cNvPr>
          <p:cNvSpPr txBox="1"/>
          <p:nvPr/>
        </p:nvSpPr>
        <p:spPr>
          <a:xfrm>
            <a:off x="8333238" y="898645"/>
            <a:ext cx="354856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FINAL RESULTS</a:t>
            </a:r>
            <a:endParaRPr lang="en-IN" sz="2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4F7A3-FAB7-75BD-4F73-916C43CEAEEC}"/>
              </a:ext>
            </a:extLst>
          </p:cNvPr>
          <p:cNvSpPr txBox="1"/>
          <p:nvPr/>
        </p:nvSpPr>
        <p:spPr>
          <a:xfrm>
            <a:off x="612845" y="6538912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3"/>
              </a:rPr>
              <a:t>Reference</a:t>
            </a:r>
            <a:endParaRPr lang="en-IN" sz="800"/>
          </a:p>
        </p:txBody>
      </p:sp>
      <p:pic>
        <p:nvPicPr>
          <p:cNvPr id="8" name="Picture 7" descr="A diagram of a person standing on a graph&#10;&#10;AI-generated content may be incorrect.">
            <a:extLst>
              <a:ext uri="{FF2B5EF4-FFF2-40B4-BE49-F238E27FC236}">
                <a16:creationId xmlns:a16="http://schemas.microsoft.com/office/drawing/2014/main" id="{16ACE6B3-A781-F5E9-9AF1-6F96321DD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289" y="1298755"/>
            <a:ext cx="3141259" cy="25613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E91D7-38C1-484C-3920-6E0169057C86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152360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0AED-07FB-CC4E-8303-A752DD51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76A59-95F6-AEDB-94B7-79B1F88A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sz="3900" b="1"/>
              <a:t>The Linear RTI Model and its Limitations</a:t>
            </a:r>
            <a:endParaRPr lang="en-IN" sz="3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E8D9D-DB6E-15CA-D960-B5E4686D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949D8-99FD-4B35-1ED4-0762BCC9EC77}"/>
              </a:ext>
            </a:extLst>
          </p:cNvPr>
          <p:cNvSpPr txBox="1"/>
          <p:nvPr/>
        </p:nvSpPr>
        <p:spPr>
          <a:xfrm>
            <a:off x="838200" y="1411392"/>
            <a:ext cx="10515600" cy="32624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Model:</a:t>
            </a:r>
            <a:r>
              <a:rPr lang="en-IN"/>
              <a:t> We model the change in received signal strength, △y, as a linear function of the change in attenuation in each voxel, △x:</a:t>
            </a:r>
          </a:p>
          <a:p>
            <a:pPr lvl="0" algn="ctr"/>
            <a:r>
              <a:rPr lang="en-IN" sz="2400" b="1"/>
              <a:t>y=</a:t>
            </a:r>
            <a:r>
              <a:rPr lang="en-IN" sz="2400" b="1" err="1"/>
              <a:t>Wx+n</a:t>
            </a:r>
            <a:endParaRPr lang="en-IN" sz="2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y : Vector of RSS changes for all M links.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W : The </a:t>
            </a:r>
            <a:r>
              <a:rPr lang="en-IN" b="1"/>
              <a:t>weighting matrix</a:t>
            </a:r>
            <a:r>
              <a:rPr lang="en-IN"/>
              <a:t> (M×N) that links each voxel to each link.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/>
              <a:t>M = (K</a:t>
            </a:r>
            <a:r>
              <a:rPr lang="en-IN" baseline="30000"/>
              <a:t>2</a:t>
            </a:r>
            <a:r>
              <a:rPr lang="en-IN"/>
              <a:t> – K) / 2    :   If </a:t>
            </a:r>
            <a:r>
              <a:rPr lang="en-IN" b="1"/>
              <a:t>K</a:t>
            </a:r>
            <a:r>
              <a:rPr lang="en-IN"/>
              <a:t> is the number of nodes in the RTI network</a:t>
            </a:r>
            <a:endParaRPr lang="en-IN" baseline="3000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/>
              <a:t>N = Number of Pixels of the Image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x : The attenuation image vector (N×1) to be estimated.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n : The noise vector, including multipath fading and measurement noise.</a:t>
            </a:r>
          </a:p>
          <a:p>
            <a:pPr lvl="0"/>
            <a:r>
              <a:rPr lang="en-IN" b="1"/>
              <a:t>Why a Simple Inverse Fails: The Ill-Posed Inverse Problem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A direct inverse solution,                             </a:t>
            </a:r>
            <a:r>
              <a:rPr lang="en-IN" sz="2000" b="1"/>
              <a:t>x=W</a:t>
            </a:r>
            <a:r>
              <a:rPr lang="en-IN" sz="2000" b="1" baseline="30000"/>
              <a:t> -1</a:t>
            </a:r>
            <a:r>
              <a:rPr lang="en-IN" sz="2000" b="1"/>
              <a:t> y,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DB32118-62CB-B787-2CEF-4C55BF2EA11F}"/>
              </a:ext>
            </a:extLst>
          </p:cNvPr>
          <p:cNvSpPr/>
          <p:nvPr/>
        </p:nvSpPr>
        <p:spPr>
          <a:xfrm>
            <a:off x="4472940" y="4339247"/>
            <a:ext cx="617220" cy="189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A4FF37-F8BC-F69C-D197-33FBA84EE2E9}"/>
              </a:ext>
            </a:extLst>
          </p:cNvPr>
          <p:cNvSpPr txBox="1"/>
          <p:nvPr/>
        </p:nvSpPr>
        <p:spPr>
          <a:xfrm>
            <a:off x="838200" y="5710019"/>
            <a:ext cx="105156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Problem:</a:t>
            </a:r>
            <a:r>
              <a:rPr lang="en-IN"/>
              <a:t> Small amounts of noise in the measurements (n) get significantly amplified during inversion, leading to a corrupted image.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399CFA4-5B42-D54E-679E-EB6C90ED20FC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3900" b="1"/>
              <a:t>IMAGE RECONSTRUCTION</a:t>
            </a:r>
            <a:endParaRPr lang="en-IN" sz="3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C9ADCC-5AAC-7422-6630-77316B47609D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06745A-58C1-8AF5-7C35-7276B2C7E85D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607671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BE4B4-9846-7EA7-C9A9-BC9657AB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3BBC6-3DED-B551-35B1-DD2A857DD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sz="3900" b="1"/>
              <a:t>The Linear RTI Model and its Limitations</a:t>
            </a:r>
            <a:endParaRPr lang="en-IN" sz="3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983AA-F303-63EF-1148-7F0EBDA5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E7EDB7-7910-B683-D095-000409BE489A}"/>
              </a:ext>
            </a:extLst>
          </p:cNvPr>
          <p:cNvSpPr txBox="1"/>
          <p:nvPr/>
        </p:nvSpPr>
        <p:spPr>
          <a:xfrm>
            <a:off x="838200" y="1411392"/>
            <a:ext cx="10515600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Model:</a:t>
            </a:r>
            <a:r>
              <a:rPr lang="en-IN"/>
              <a:t> We model the change in received signal strength, △y, as a linear function of the change in attenuation in each voxel, △x:</a:t>
            </a:r>
          </a:p>
          <a:p>
            <a:pPr lvl="0" algn="ctr"/>
            <a:r>
              <a:rPr lang="en-IN" sz="2400" b="1"/>
              <a:t>y=</a:t>
            </a:r>
            <a:r>
              <a:rPr lang="en-IN" sz="2400" b="1" err="1"/>
              <a:t>Wx+n</a:t>
            </a:r>
            <a:endParaRPr lang="en-IN" sz="2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y : Vector of RSS changes for all M links.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W : The </a:t>
            </a:r>
            <a:r>
              <a:rPr lang="en-IN" b="1"/>
              <a:t>weighting matrix</a:t>
            </a:r>
            <a:r>
              <a:rPr lang="en-IN"/>
              <a:t> (M×N) that links each voxel to each link.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/>
              <a:t>M = (K</a:t>
            </a:r>
            <a:r>
              <a:rPr lang="en-IN" baseline="30000"/>
              <a:t>2</a:t>
            </a:r>
            <a:r>
              <a:rPr lang="en-IN"/>
              <a:t> – K) / 2    :   If </a:t>
            </a:r>
            <a:r>
              <a:rPr lang="en-IN" b="1"/>
              <a:t>K</a:t>
            </a:r>
            <a:r>
              <a:rPr lang="en-IN"/>
              <a:t> is the number of nodes in the RTI network</a:t>
            </a:r>
            <a:endParaRPr lang="en-IN" baseline="3000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/>
              <a:t>N = Number of Pixels of the Image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x : The attenuation image vector (N×1) to be estimated.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n : The noise vector, including multipath fading and measurement noise.</a:t>
            </a:r>
          </a:p>
          <a:p>
            <a:pPr lvl="0"/>
            <a:r>
              <a:rPr lang="en-IN" b="1"/>
              <a:t>Why a Simple Inverse Fails: The Ill-Posed Inverse Problem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A direct inverse solution,                             </a:t>
            </a:r>
            <a:r>
              <a:rPr lang="en-IN" sz="2000" b="1"/>
              <a:t>x=W</a:t>
            </a:r>
            <a:r>
              <a:rPr lang="en-IN" sz="2000" b="1" baseline="30000"/>
              <a:t> -1</a:t>
            </a:r>
            <a:r>
              <a:rPr lang="en-IN" sz="2000" b="1"/>
              <a:t> y,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It is impossible because </a:t>
            </a:r>
            <a:r>
              <a:rPr lang="en-IN" b="1"/>
              <a:t>W is not a square matrix</a:t>
            </a:r>
            <a:r>
              <a:rPr lang="en-IN"/>
              <a:t>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A7F8FF7-CF1E-5364-D975-4DA70C70690F}"/>
              </a:ext>
            </a:extLst>
          </p:cNvPr>
          <p:cNvSpPr/>
          <p:nvPr/>
        </p:nvSpPr>
        <p:spPr>
          <a:xfrm>
            <a:off x="4472940" y="4339247"/>
            <a:ext cx="617220" cy="189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DB8446-6BA6-68E2-5866-081020F80151}"/>
              </a:ext>
            </a:extLst>
          </p:cNvPr>
          <p:cNvSpPr txBox="1"/>
          <p:nvPr/>
        </p:nvSpPr>
        <p:spPr>
          <a:xfrm>
            <a:off x="838200" y="5710019"/>
            <a:ext cx="105156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Problem:</a:t>
            </a:r>
            <a:r>
              <a:rPr lang="en-IN"/>
              <a:t> Small amounts of noise in the measurements (n) get significantly amplified during inversion, leading to a corrupted image.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A0D80FD-55D1-E947-03C5-5645B26843A1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3900" b="1"/>
              <a:t>IMAGE RECONSTRUCTION</a:t>
            </a:r>
            <a:endParaRPr lang="en-IN" sz="3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41FF27-2CA7-8788-0812-B14C7F1E9295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35250B-C0C2-B87B-5129-BBD6D80DB9FD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428893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D968-25A5-C66B-D31E-6E701FBB9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AFF0-D955-DC32-D317-C790A4D18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sz="3900" b="1"/>
              <a:t>The Linear RTI Model and its Limitations</a:t>
            </a:r>
            <a:endParaRPr lang="en-IN" sz="3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7BFDF-5120-5D71-D11C-EC7245AC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8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51A27-0942-B742-2A20-EB10D8B8B736}"/>
              </a:ext>
            </a:extLst>
          </p:cNvPr>
          <p:cNvSpPr txBox="1"/>
          <p:nvPr/>
        </p:nvSpPr>
        <p:spPr>
          <a:xfrm>
            <a:off x="838200" y="1411392"/>
            <a:ext cx="10515600" cy="3847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Model:</a:t>
            </a:r>
            <a:r>
              <a:rPr lang="en-IN"/>
              <a:t> We model the change in received signal strength, △y, as a linear function of the change in attenuation in each voxel, △x:</a:t>
            </a:r>
          </a:p>
          <a:p>
            <a:pPr lvl="0" algn="ctr"/>
            <a:r>
              <a:rPr lang="en-IN" sz="2400" b="1"/>
              <a:t>y=</a:t>
            </a:r>
            <a:r>
              <a:rPr lang="en-IN" sz="2400" b="1" err="1"/>
              <a:t>Wx+n</a:t>
            </a:r>
            <a:endParaRPr lang="en-IN" sz="2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y : Vector of RSS changes for all M links.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W : The </a:t>
            </a:r>
            <a:r>
              <a:rPr lang="en-IN" b="1"/>
              <a:t>weighting matrix</a:t>
            </a:r>
            <a:r>
              <a:rPr lang="en-IN"/>
              <a:t> (M×N) that links each voxel to each link.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/>
              <a:t>M = (K</a:t>
            </a:r>
            <a:r>
              <a:rPr lang="en-IN" baseline="30000"/>
              <a:t>2</a:t>
            </a:r>
            <a:r>
              <a:rPr lang="en-IN"/>
              <a:t> – K) / 2    :   If </a:t>
            </a:r>
            <a:r>
              <a:rPr lang="en-IN" b="1"/>
              <a:t>K</a:t>
            </a:r>
            <a:r>
              <a:rPr lang="en-IN"/>
              <a:t> is the number of nodes in the RTI network</a:t>
            </a:r>
            <a:endParaRPr lang="en-IN" baseline="3000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/>
              <a:t>N = Number of Pixels of the Image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x : The attenuation image vector (N×1) to be estimated.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n : The noise vector, including multipath fading and measurement noise.</a:t>
            </a:r>
          </a:p>
          <a:p>
            <a:pPr lvl="0"/>
            <a:r>
              <a:rPr lang="en-IN" b="1"/>
              <a:t>Why a Simple Inverse Fails: The Ill-Posed Inverse Problem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A direct inverse solution,                             </a:t>
            </a:r>
            <a:r>
              <a:rPr lang="en-IN" sz="2000" b="1"/>
              <a:t>x=W</a:t>
            </a:r>
            <a:r>
              <a:rPr lang="en-IN" sz="2000" b="1" baseline="30000"/>
              <a:t> -1</a:t>
            </a:r>
            <a:r>
              <a:rPr lang="en-IN" sz="2000" b="1"/>
              <a:t> y,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It is impossible because </a:t>
            </a:r>
            <a:r>
              <a:rPr lang="en-IN" b="1"/>
              <a:t>W is not a square matrix</a:t>
            </a:r>
            <a:r>
              <a:rPr lang="en-IN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The least-squares solution</a:t>
            </a:r>
            <a:r>
              <a:rPr lang="en-IN" sz="2000"/>
              <a:t>                      </a:t>
            </a:r>
            <a:r>
              <a:rPr lang="en-IN" sz="2000" b="1" err="1"/>
              <a:t>x</a:t>
            </a:r>
            <a:r>
              <a:rPr lang="en-IN" sz="1200" b="1" err="1"/>
              <a:t>LS</a:t>
            </a:r>
            <a:r>
              <a:rPr lang="en-IN" sz="2000" b="1"/>
              <a:t>​=(W </a:t>
            </a:r>
            <a:r>
              <a:rPr lang="en-IN" sz="2000" b="1" baseline="30000"/>
              <a:t>T </a:t>
            </a:r>
            <a:r>
              <a:rPr lang="en-IN" sz="2000" b="1"/>
              <a:t>W)</a:t>
            </a:r>
            <a:r>
              <a:rPr lang="en-IN" sz="2000" b="1" baseline="30000"/>
              <a:t>−1</a:t>
            </a:r>
            <a:r>
              <a:rPr lang="en-IN" sz="2000" b="1"/>
              <a:t>W</a:t>
            </a:r>
            <a:r>
              <a:rPr lang="en-IN" sz="2000" b="1" baseline="30000"/>
              <a:t>T</a:t>
            </a:r>
            <a:r>
              <a:rPr lang="en-IN" sz="2000" b="1"/>
              <a:t>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079B591-80DA-7849-071A-D1A87759FA25}"/>
              </a:ext>
            </a:extLst>
          </p:cNvPr>
          <p:cNvSpPr/>
          <p:nvPr/>
        </p:nvSpPr>
        <p:spPr>
          <a:xfrm>
            <a:off x="4472940" y="4930604"/>
            <a:ext cx="617220" cy="18931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A904DED-74FE-DEF0-A6BC-451C12C1E09E}"/>
              </a:ext>
            </a:extLst>
          </p:cNvPr>
          <p:cNvSpPr/>
          <p:nvPr/>
        </p:nvSpPr>
        <p:spPr>
          <a:xfrm>
            <a:off x="4472940" y="4339247"/>
            <a:ext cx="617220" cy="189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D0EFD2-E128-EEB7-C0F9-DAC245E2B917}"/>
              </a:ext>
            </a:extLst>
          </p:cNvPr>
          <p:cNvSpPr txBox="1"/>
          <p:nvPr/>
        </p:nvSpPr>
        <p:spPr>
          <a:xfrm>
            <a:off x="838200" y="5710019"/>
            <a:ext cx="105156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Problem:</a:t>
            </a:r>
            <a:r>
              <a:rPr lang="en-IN"/>
              <a:t> Small amounts of noise in the measurements (n) get significantly amplified during inversion, leading to a corrupted image.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E7429CA-0CD7-469C-2572-359EC332DCBB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3900" b="1"/>
              <a:t>IMAGE RECONSTRUCTION</a:t>
            </a:r>
            <a:endParaRPr lang="en-IN" sz="3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3F6879-30DC-63EA-3249-C670CD7DCDCE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2397550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6BC8E-0351-F924-C087-EAC65552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92BF9-95C2-125B-07A9-6D3599F28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sz="3900" b="1"/>
              <a:t>The Linear RTI Model and its Limitations</a:t>
            </a:r>
            <a:endParaRPr lang="en-IN" sz="3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D5777-77CF-83F4-38D4-92667E84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D3036-9994-1766-C69B-0A52BF76D76F}"/>
              </a:ext>
            </a:extLst>
          </p:cNvPr>
          <p:cNvSpPr txBox="1"/>
          <p:nvPr/>
        </p:nvSpPr>
        <p:spPr>
          <a:xfrm>
            <a:off x="838200" y="1411392"/>
            <a:ext cx="10515600" cy="41242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Model:</a:t>
            </a:r>
            <a:r>
              <a:rPr lang="en-IN"/>
              <a:t> We model the change in received signal strength, △y, as a linear function of the change in attenuation in each voxel, △x:</a:t>
            </a:r>
          </a:p>
          <a:p>
            <a:pPr lvl="0" algn="ctr"/>
            <a:r>
              <a:rPr lang="en-IN" sz="2400" b="1"/>
              <a:t>y=</a:t>
            </a:r>
            <a:r>
              <a:rPr lang="en-IN" sz="2400" b="1" err="1"/>
              <a:t>Wx+n</a:t>
            </a:r>
            <a:endParaRPr lang="en-IN" sz="24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y : Vector of RSS changes for all M links.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W : The </a:t>
            </a:r>
            <a:r>
              <a:rPr lang="en-IN" b="1"/>
              <a:t>weighting matrix</a:t>
            </a:r>
            <a:r>
              <a:rPr lang="en-IN"/>
              <a:t> (M×N) that links each voxel to each link.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/>
              <a:t>M = (K</a:t>
            </a:r>
            <a:r>
              <a:rPr lang="en-IN" baseline="30000"/>
              <a:t>2</a:t>
            </a:r>
            <a:r>
              <a:rPr lang="en-IN"/>
              <a:t> – K) / 2    :   If </a:t>
            </a:r>
            <a:r>
              <a:rPr lang="en-IN" b="1"/>
              <a:t>K</a:t>
            </a:r>
            <a:r>
              <a:rPr lang="en-IN"/>
              <a:t> is the number of nodes in the RTI network</a:t>
            </a:r>
            <a:endParaRPr lang="en-IN" baseline="3000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/>
              <a:t>N = Number of Pixels of the Image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x : The attenuation image vector (N×1) to be estimated.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n : The noise vector, including multipath fading and measurement noise.</a:t>
            </a:r>
          </a:p>
          <a:p>
            <a:pPr lvl="0"/>
            <a:r>
              <a:rPr lang="en-IN" b="1"/>
              <a:t>Why a Simple Inverse Fails: The Ill-Posed Inverse Problem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A direct inverse solution,                             </a:t>
            </a:r>
            <a:r>
              <a:rPr lang="en-IN" sz="2000" b="1"/>
              <a:t>x=W</a:t>
            </a:r>
            <a:r>
              <a:rPr lang="en-IN" sz="2000" b="1" baseline="30000"/>
              <a:t> -1</a:t>
            </a:r>
            <a:r>
              <a:rPr lang="en-IN" sz="2000" b="1"/>
              <a:t> y,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It is impossible because </a:t>
            </a:r>
            <a:r>
              <a:rPr lang="en-IN" b="1"/>
              <a:t>W is not a square matrix</a:t>
            </a:r>
            <a:r>
              <a:rPr lang="en-IN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The least-squares solution</a:t>
            </a:r>
            <a:r>
              <a:rPr lang="en-IN" sz="2000"/>
              <a:t>                      </a:t>
            </a:r>
            <a:r>
              <a:rPr lang="en-IN" sz="2000" b="1" err="1"/>
              <a:t>x</a:t>
            </a:r>
            <a:r>
              <a:rPr lang="en-IN" sz="1200" b="1" err="1"/>
              <a:t>LS</a:t>
            </a:r>
            <a:r>
              <a:rPr lang="en-IN" sz="2000" b="1"/>
              <a:t>​=(W </a:t>
            </a:r>
            <a:r>
              <a:rPr lang="en-IN" sz="2000" b="1" baseline="30000"/>
              <a:t>T </a:t>
            </a:r>
            <a:r>
              <a:rPr lang="en-IN" sz="2000" b="1"/>
              <a:t>W)</a:t>
            </a:r>
            <a:r>
              <a:rPr lang="en-IN" sz="2000" b="1" baseline="30000"/>
              <a:t>−1</a:t>
            </a:r>
            <a:r>
              <a:rPr lang="en-IN" sz="2000" b="1"/>
              <a:t>W</a:t>
            </a:r>
            <a:r>
              <a:rPr lang="en-IN" sz="2000" b="1" baseline="30000"/>
              <a:t>T</a:t>
            </a:r>
            <a:r>
              <a:rPr lang="en-IN" sz="2000" b="1"/>
              <a:t>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This is numerically unstable because </a:t>
            </a:r>
            <a:r>
              <a:rPr lang="en-IN" b="1"/>
              <a:t>W is not full-rank</a:t>
            </a:r>
            <a:r>
              <a:rPr lang="en-IN"/>
              <a:t>.(Let’s understand this more deeply !)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4C58FEF-234B-38FD-C00E-DF8005469D7D}"/>
              </a:ext>
            </a:extLst>
          </p:cNvPr>
          <p:cNvSpPr/>
          <p:nvPr/>
        </p:nvSpPr>
        <p:spPr>
          <a:xfrm>
            <a:off x="4472940" y="4930604"/>
            <a:ext cx="617220" cy="18931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11E5105-1DF4-7B27-A717-FD084E1F75D1}"/>
              </a:ext>
            </a:extLst>
          </p:cNvPr>
          <p:cNvSpPr/>
          <p:nvPr/>
        </p:nvSpPr>
        <p:spPr>
          <a:xfrm>
            <a:off x="4472940" y="4339247"/>
            <a:ext cx="617220" cy="189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FBB68-B41E-990D-972B-3DA3F8F26AAA}"/>
              </a:ext>
            </a:extLst>
          </p:cNvPr>
          <p:cNvSpPr txBox="1"/>
          <p:nvPr/>
        </p:nvSpPr>
        <p:spPr>
          <a:xfrm>
            <a:off x="838200" y="5710019"/>
            <a:ext cx="105156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Problem:</a:t>
            </a:r>
            <a:r>
              <a:rPr lang="en-IN"/>
              <a:t> Small amounts of noise in the measurements (n) get significantly amplified during inversion, leading to a corrupted image.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D004EC9-5758-BD69-A528-FCC152200F38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3900" b="1"/>
              <a:t>IMAGE RECONSTRUCTION</a:t>
            </a:r>
            <a:endParaRPr lang="en-IN" sz="3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C82A56-B940-AA4E-5750-C1454A545FDF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1F29BF-E937-7C4D-70F2-7DF1092B2F62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1572783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8444-C77B-F9D1-CE4F-90DAC26C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A4BE1-AA10-BD22-4A9C-4569EB89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4000" b="1"/>
              <a:t>Why Regularization is Important ? (The Problem)</a:t>
            </a:r>
            <a:endParaRPr lang="en-IN" sz="39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FC453-74A7-832F-5145-D8D4C38E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10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A6416-8B5F-9B39-F1D9-B980705E093A}"/>
              </a:ext>
            </a:extLst>
          </p:cNvPr>
          <p:cNvSpPr txBox="1"/>
          <p:nvPr/>
        </p:nvSpPr>
        <p:spPr>
          <a:xfrm>
            <a:off x="838200" y="1412329"/>
            <a:ext cx="10515600" cy="50321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/>
              <a:t>Singular Matrix Inversion:</a:t>
            </a:r>
            <a:r>
              <a:rPr lang="en-IN"/>
              <a:t> The least-squares solution is solution </a:t>
            </a:r>
            <a:r>
              <a:rPr lang="en-IN" b="1" err="1"/>
              <a:t>x</a:t>
            </a:r>
            <a:r>
              <a:rPr lang="en-IN" sz="1100" b="1" err="1"/>
              <a:t>LS</a:t>
            </a:r>
            <a:r>
              <a:rPr lang="en-IN" b="1"/>
              <a:t>​=(W </a:t>
            </a:r>
            <a:r>
              <a:rPr lang="en-IN" b="1" baseline="30000"/>
              <a:t>T </a:t>
            </a:r>
            <a:r>
              <a:rPr lang="en-IN" b="1"/>
              <a:t>W)</a:t>
            </a:r>
            <a:r>
              <a:rPr lang="en-IN" b="1" baseline="30000"/>
              <a:t>−1</a:t>
            </a:r>
            <a:r>
              <a:rPr lang="en-IN" b="1"/>
              <a:t>W</a:t>
            </a:r>
            <a:r>
              <a:rPr lang="en-IN" b="1" baseline="30000"/>
              <a:t>T</a:t>
            </a:r>
            <a:r>
              <a:rPr lang="en-IN" b="1"/>
              <a:t>y</a:t>
            </a:r>
            <a:r>
              <a:rPr lang="en-IN"/>
              <a:t>. However, the matrix W is typically </a:t>
            </a:r>
            <a:r>
              <a:rPr lang="en-IN" b="1"/>
              <a:t>not full-rank</a:t>
            </a:r>
            <a:r>
              <a:rPr lang="en-IN"/>
              <a:t> because </a:t>
            </a:r>
            <a:r>
              <a:rPr lang="en-IN" b="1"/>
              <a:t>many voxels are estimated from relatively few links</a:t>
            </a:r>
            <a:r>
              <a:rPr lang="en-IN"/>
              <a:t>.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/>
              <a:t>Unbounded Solution:</a:t>
            </a:r>
            <a:r>
              <a:rPr lang="en-IN"/>
              <a:t> When W is decomposed using Singular Value Decomposition (SVD), the presence of zero or near-zero singular values in W means that inverting them (as required for the least-squares solution) leads to </a:t>
            </a:r>
            <a:r>
              <a:rPr lang="en-IN" b="1"/>
              <a:t>unbounded</a:t>
            </a:r>
            <a:r>
              <a:rPr lang="en-IN"/>
              <a:t> results for the corresponding image components, rendering the image unusable.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/>
              <a:t>Un-crossed Voxels:</a:t>
            </a:r>
            <a:r>
              <a:rPr lang="en-IN"/>
              <a:t> If a pixel (voxel) is not crossed by any wireless link, its entire column in the W matrix will be all zeros. This means the column vector is </a:t>
            </a:r>
            <a:r>
              <a:rPr lang="en-IN" b="1"/>
              <a:t>linearly dependent </a:t>
            </a:r>
            <a:r>
              <a:rPr lang="en-IN"/>
              <a:t>on other columns, making the rank of </a:t>
            </a:r>
            <a:r>
              <a:rPr lang="en-IN" b="1"/>
              <a:t>W less than N</a:t>
            </a:r>
            <a:r>
              <a:rPr lang="en-IN"/>
              <a:t>. If a pixel isn't crossed, every possible attenuation value for that pixel would yield the same measurement data, making inversion impossible for that pixel.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/>
              <a:t>Highly Correlated Paths:</a:t>
            </a:r>
            <a:r>
              <a:rPr lang="en-IN"/>
              <a:t> Multiple links may pass through nearly the same set of voxels, making their rows in W nearly identical (</a:t>
            </a:r>
            <a:r>
              <a:rPr lang="en-IN" b="1"/>
              <a:t>highly correlated</a:t>
            </a:r>
            <a:r>
              <a:rPr lang="en-IN"/>
              <a:t>). This leads to </a:t>
            </a:r>
            <a:r>
              <a:rPr lang="en-IN" b="1"/>
              <a:t>near-zero singular values.</a:t>
            </a:r>
            <a:endParaRPr lang="en-IN" b="1" baseline="30000"/>
          </a:p>
          <a:p>
            <a:pPr lvl="1"/>
            <a:endParaRPr lang="en-IN"/>
          </a:p>
          <a:p>
            <a:r>
              <a:rPr lang="en-IN"/>
              <a:t>Therefore, W is typically </a:t>
            </a:r>
            <a:r>
              <a:rPr lang="en-IN" b="1"/>
              <a:t>rank-deficient</a:t>
            </a:r>
            <a:r>
              <a:rPr lang="en-IN"/>
              <a:t>: rank (W) &lt; N.</a:t>
            </a:r>
          </a:p>
          <a:p>
            <a:pPr lvl="0"/>
            <a:endParaRPr lang="en-IN"/>
          </a:p>
          <a:p>
            <a:r>
              <a:rPr lang="en-IN"/>
              <a:t>In summary, regularization is essential to stabilize the inversion and suppress the noise amplification, turning the unstable least-squares solution into a stable estimate.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1B37848-B70C-D097-D60C-42995A96EDCC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3900" b="1"/>
              <a:t>IMAGE RECONSTRUCTION</a:t>
            </a:r>
            <a:endParaRPr lang="en-IN" sz="39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07058C-71EA-5B12-8C4B-8DEBDAC923A2}"/>
              </a:ext>
            </a:extLst>
          </p:cNvPr>
          <p:cNvSpPr txBox="1"/>
          <p:nvPr/>
        </p:nvSpPr>
        <p:spPr>
          <a:xfrm>
            <a:off x="725522" y="6524553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05F3D-1DE2-65D9-BB92-ABCD5FBC2DE2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306033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E249-65A6-14A9-27D7-E2C2D7442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7F186-7B32-FA4E-428E-A05BB54D3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sz="3900" b="1"/>
              <a:t>The Linear RTI Model and its Limitations</a:t>
            </a:r>
            <a:endParaRPr lang="en-IN" sz="3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941F1-BEF3-DA21-6FB4-3A7B0E1E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016F65-93F7-4F55-7AC0-62E126FEFF2D}"/>
                  </a:ext>
                </a:extLst>
              </p:cNvPr>
              <p:cNvSpPr txBox="1"/>
              <p:nvPr/>
            </p:nvSpPr>
            <p:spPr>
              <a:xfrm>
                <a:off x="838200" y="1411392"/>
                <a:ext cx="10515600" cy="44012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b="1" dirty="0"/>
                  <a:t>The Model:</a:t>
                </a:r>
                <a:r>
                  <a:rPr lang="en-IN" dirty="0"/>
                  <a:t> We model the change in received signal strength, △y, as a linear function of the change in attenuation in each voxel, △x:</a:t>
                </a:r>
              </a:p>
              <a:p>
                <a:pPr lvl="0" algn="ctr"/>
                <a:r>
                  <a:rPr lang="en-IN" sz="2400" b="1" dirty="0"/>
                  <a:t>y=</a:t>
                </a:r>
                <a:r>
                  <a:rPr lang="en-IN" sz="2400" b="1" dirty="0" err="1"/>
                  <a:t>Wx+n</a:t>
                </a:r>
                <a:endParaRPr lang="en-IN" sz="2400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y : Vector of RSS changes for all M links.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W : The </a:t>
                </a:r>
                <a:r>
                  <a:rPr lang="en-IN" b="1" dirty="0"/>
                  <a:t>weighting matrix</a:t>
                </a:r>
                <a:r>
                  <a:rPr lang="en-IN" dirty="0"/>
                  <a:t> (M×N) that links each voxel to each link.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M = (K</a:t>
                </a:r>
                <a:r>
                  <a:rPr lang="en-IN" baseline="30000" dirty="0"/>
                  <a:t>2</a:t>
                </a:r>
                <a:r>
                  <a:rPr lang="en-IN" dirty="0"/>
                  <a:t> – K) / 2    :   If </a:t>
                </a:r>
                <a:r>
                  <a:rPr lang="en-IN" b="1" dirty="0"/>
                  <a:t>K</a:t>
                </a:r>
                <a:r>
                  <a:rPr lang="en-IN" dirty="0"/>
                  <a:t> is the number of nodes in the RTI network</a:t>
                </a:r>
                <a:endParaRPr lang="en-IN" baseline="300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N = Number of Pixels of the Image vector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x : The attenuation image vector (N×1) to be estimated.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n : The noise vector, including multipath fading and measurement noise.</a:t>
                </a:r>
              </a:p>
              <a:p>
                <a:pPr lvl="0"/>
                <a:r>
                  <a:rPr lang="en-IN" b="1" dirty="0"/>
                  <a:t>Why a Simple Inverse Fails: The Ill-Posed Inverse Problem</a:t>
                </a:r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 direct inverse solution,                             </a:t>
                </a:r>
                <a:r>
                  <a:rPr lang="en-IN" sz="2000" b="1" dirty="0"/>
                  <a:t>x=W</a:t>
                </a:r>
                <a:r>
                  <a:rPr lang="en-IN" sz="2000" b="1" baseline="30000" dirty="0"/>
                  <a:t> -1</a:t>
                </a:r>
                <a:r>
                  <a:rPr lang="en-IN" sz="2000" b="1" dirty="0"/>
                  <a:t> y,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It is impossible because </a:t>
                </a:r>
                <a:r>
                  <a:rPr lang="en-IN" b="1" dirty="0"/>
                  <a:t>W is not a square matrix</a:t>
                </a:r>
                <a:r>
                  <a:rPr lang="en-IN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least-squares solution</a:t>
                </a:r>
                <a:r>
                  <a:rPr lang="en-IN" sz="2000" dirty="0"/>
                  <a:t>                      </a:t>
                </a:r>
                <a:r>
                  <a:rPr lang="en-IN" sz="2000" b="1" dirty="0" err="1"/>
                  <a:t>x</a:t>
                </a:r>
                <a:r>
                  <a:rPr lang="en-IN" sz="1200" b="1" dirty="0" err="1"/>
                  <a:t>LS</a:t>
                </a:r>
                <a:r>
                  <a:rPr lang="en-IN" sz="2000" b="1" dirty="0"/>
                  <a:t>​=(W </a:t>
                </a:r>
                <a:r>
                  <a:rPr lang="en-IN" sz="2000" b="1" baseline="30000" dirty="0"/>
                  <a:t>T </a:t>
                </a:r>
                <a:r>
                  <a:rPr lang="en-IN" sz="2000" b="1" dirty="0"/>
                  <a:t>W)</a:t>
                </a:r>
                <a:r>
                  <a:rPr lang="en-IN" sz="2000" b="1" baseline="30000" dirty="0"/>
                  <a:t>−1</a:t>
                </a:r>
                <a:r>
                  <a:rPr lang="en-IN" sz="2000" b="1" dirty="0"/>
                  <a:t>W</a:t>
                </a:r>
                <a:r>
                  <a:rPr lang="en-IN" sz="2000" b="1" baseline="30000" dirty="0"/>
                  <a:t>T</a:t>
                </a:r>
                <a:r>
                  <a:rPr lang="en-IN" sz="2000" b="1" dirty="0"/>
                  <a:t>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This is numerically unstable because </a:t>
                </a:r>
                <a:r>
                  <a:rPr lang="en-IN" b="1" dirty="0"/>
                  <a:t>W is not full-rank</a:t>
                </a:r>
                <a:r>
                  <a:rPr lang="en-IN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b="1" dirty="0">
                    <a:solidFill>
                      <a:srgbClr val="FF0000"/>
                    </a:solidFill>
                  </a:rPr>
                  <a:t>Regularized solution: </a:t>
                </a:r>
                <a:r>
                  <a:rPr lang="en-IN" b="1" dirty="0" err="1">
                    <a:solidFill>
                      <a:srgbClr val="FF0000"/>
                    </a:solidFill>
                  </a:rPr>
                  <a:t>x</a:t>
                </a:r>
                <a:r>
                  <a:rPr lang="en-IN" sz="1100" b="1" dirty="0" err="1">
                    <a:solidFill>
                      <a:srgbClr val="FF0000"/>
                    </a:solidFill>
                  </a:rPr>
                  <a:t>LS</a:t>
                </a:r>
                <a:r>
                  <a:rPr lang="en-IN" b="1" dirty="0">
                    <a:solidFill>
                      <a:srgbClr val="FF0000"/>
                    </a:solidFill>
                  </a:rPr>
                  <a:t>​=(W </a:t>
                </a:r>
                <a:r>
                  <a:rPr lang="en-IN" b="1" baseline="30000" dirty="0">
                    <a:solidFill>
                      <a:srgbClr val="FF0000"/>
                    </a:solidFill>
                  </a:rPr>
                  <a:t>T </a:t>
                </a:r>
                <a:r>
                  <a:rPr lang="en-IN" b="1" dirty="0">
                    <a:solidFill>
                      <a:srgbClr val="FF0000"/>
                    </a:solidFill>
                  </a:rPr>
                  <a:t>W +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</a:rPr>
                  <a:t>)</a:t>
                </a:r>
                <a:r>
                  <a:rPr lang="en-IN" b="1" baseline="30000" dirty="0">
                    <a:solidFill>
                      <a:srgbClr val="FF0000"/>
                    </a:solidFill>
                  </a:rPr>
                  <a:t>−1</a:t>
                </a:r>
                <a:r>
                  <a:rPr lang="en-IN" b="1" dirty="0">
                    <a:solidFill>
                      <a:srgbClr val="FF0000"/>
                    </a:solidFill>
                  </a:rPr>
                  <a:t>W</a:t>
                </a:r>
                <a:r>
                  <a:rPr lang="en-IN" b="1" baseline="30000" dirty="0">
                    <a:solidFill>
                      <a:srgbClr val="FF0000"/>
                    </a:solidFill>
                  </a:rPr>
                  <a:t>T</a:t>
                </a:r>
                <a:r>
                  <a:rPr lang="en-IN" b="1" dirty="0">
                    <a:solidFill>
                      <a:srgbClr val="FF0000"/>
                    </a:solidFill>
                  </a:rPr>
                  <a:t>y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016F65-93F7-4F55-7AC0-62E126FEF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11392"/>
                <a:ext cx="10515600" cy="4401205"/>
              </a:xfrm>
              <a:prstGeom prst="rect">
                <a:avLst/>
              </a:prstGeom>
              <a:blipFill>
                <a:blip r:embed="rId2"/>
                <a:stretch>
                  <a:fillRect l="-522" t="-1108" b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47A8C56F-B8BA-352C-6C90-4C0A1CD1F78A}"/>
              </a:ext>
            </a:extLst>
          </p:cNvPr>
          <p:cNvSpPr/>
          <p:nvPr/>
        </p:nvSpPr>
        <p:spPr>
          <a:xfrm>
            <a:off x="4472940" y="4930604"/>
            <a:ext cx="617220" cy="18931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9F99AF4-7C21-6005-4018-C2D2C6D1D598}"/>
              </a:ext>
            </a:extLst>
          </p:cNvPr>
          <p:cNvSpPr/>
          <p:nvPr/>
        </p:nvSpPr>
        <p:spPr>
          <a:xfrm>
            <a:off x="4472940" y="4339247"/>
            <a:ext cx="617220" cy="189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EFB997-1A03-0315-DDA5-25C4E33CA919}"/>
              </a:ext>
            </a:extLst>
          </p:cNvPr>
          <p:cNvSpPr txBox="1"/>
          <p:nvPr/>
        </p:nvSpPr>
        <p:spPr>
          <a:xfrm>
            <a:off x="838200" y="5710019"/>
            <a:ext cx="105156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The Problem:</a:t>
            </a:r>
            <a:r>
              <a:rPr lang="en-IN"/>
              <a:t> Small amounts of noise in the measurements (n) get significantly amplified during inversion, leading to a corrupted image.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241BA19-D6FA-40C9-B3E3-F91FC524110B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3900" b="1"/>
              <a:t>IMAGE RECONSTRUCTION</a:t>
            </a:r>
            <a:endParaRPr lang="en-IN" sz="3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54158-9D05-62A4-4D22-28F6111AF8EB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3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CDB31-96B3-18CC-D676-3802EA44F58F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985471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F37-1B0F-6689-33DD-4FCCA737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229092"/>
            <a:ext cx="10515600" cy="1325563"/>
          </a:xfrm>
        </p:spPr>
        <p:txBody>
          <a:bodyPr/>
          <a:lstStyle/>
          <a:p>
            <a:r>
              <a:rPr lang="en-US"/>
              <a:t>The preliminary results should look like :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563DD-056D-886F-2E57-D09C752B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12</a:t>
            </a:fld>
            <a:endParaRPr lang="en-IN"/>
          </a:p>
        </p:txBody>
      </p:sp>
      <p:pic>
        <p:nvPicPr>
          <p:cNvPr id="1026" name="Picture 2" descr="Radio Waves 'See' through Walls – UNews Archive">
            <a:extLst>
              <a:ext uri="{FF2B5EF4-FFF2-40B4-BE49-F238E27FC236}">
                <a16:creationId xmlns:a16="http://schemas.microsoft.com/office/drawing/2014/main" id="{1FD1648A-48F5-63BA-4B08-0B7A0A30B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876" y="1622918"/>
            <a:ext cx="7973962" cy="361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4966F3-EE89-C49F-E4F5-BCE655427ECE}"/>
              </a:ext>
            </a:extLst>
          </p:cNvPr>
          <p:cNvSpPr txBox="1"/>
          <p:nvPr/>
        </p:nvSpPr>
        <p:spPr>
          <a:xfrm>
            <a:off x="1671734" y="6492875"/>
            <a:ext cx="8848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>
                <a:solidFill>
                  <a:srgbClr val="333333"/>
                </a:solidFill>
                <a:effectLst/>
                <a:latin typeface="HelveticaNeue Regular"/>
              </a:rPr>
              <a:t>REFERENCE: J. Wilson and N. Patwari, "Radio Tomographic Imaging with Wireless Networks," in </a:t>
            </a:r>
            <a:r>
              <a:rPr lang="en-US" sz="1000" b="0" i="1">
                <a:solidFill>
                  <a:srgbClr val="333333"/>
                </a:solidFill>
                <a:effectLst/>
                <a:latin typeface="HelveticaNeue Regular"/>
              </a:rPr>
              <a:t>IEEE Transactions on Mobile Computing</a:t>
            </a:r>
            <a:r>
              <a:rPr lang="en-US" sz="1000" b="0" i="0">
                <a:solidFill>
                  <a:srgbClr val="333333"/>
                </a:solidFill>
                <a:effectLst/>
                <a:latin typeface="HelveticaNeue Regular"/>
              </a:rPr>
              <a:t>, vol. 9, no. 5, pp. 621-632, May 2010, </a:t>
            </a:r>
            <a:r>
              <a:rPr lang="en-US" sz="1000" b="0" i="0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US" sz="1000" b="0" i="0">
                <a:solidFill>
                  <a:srgbClr val="333333"/>
                </a:solidFill>
                <a:effectLst/>
                <a:latin typeface="HelveticaNeue Regular"/>
              </a:rPr>
              <a:t>: 10.1109/TMC.2009.174.</a:t>
            </a:r>
            <a:endParaRPr lang="en-IN" sz="10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13D0E7-6BFD-551F-1C64-3181DA5DFEB5}"/>
              </a:ext>
            </a:extLst>
          </p:cNvPr>
          <p:cNvSpPr txBox="1">
            <a:spLocks/>
          </p:cNvSpPr>
          <p:nvPr/>
        </p:nvSpPr>
        <p:spPr>
          <a:xfrm>
            <a:off x="500492" y="50990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1800"/>
              <a:t>Goal is to first achieve localization and imaging results with low resolution, then improve the results using machine learning. We also aim to </a:t>
            </a:r>
            <a:r>
              <a:rPr lang="en-US" sz="1800" b="1"/>
              <a:t>reduce the required number of </a:t>
            </a:r>
            <a:r>
              <a:rPr lang="en-US" sz="1800" b="1" err="1"/>
              <a:t>WiFi</a:t>
            </a:r>
            <a:r>
              <a:rPr lang="en-US" sz="1800" b="1"/>
              <a:t> sensors.</a:t>
            </a:r>
            <a:endParaRPr lang="en-IN" sz="1800" b="1"/>
          </a:p>
        </p:txBody>
      </p:sp>
    </p:spTree>
    <p:extLst>
      <p:ext uri="{BB962C8B-B14F-4D97-AF65-F5344CB8AC3E}">
        <p14:creationId xmlns:p14="http://schemas.microsoft.com/office/powerpoint/2010/main" val="134557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2687" y="3989040"/>
            <a:ext cx="7286625" cy="124172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19902" y="1401310"/>
            <a:ext cx="683085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 pitchFamily="34" charset="0"/>
                <a:ea typeface="Merriweather"/>
                <a:cs typeface="Merriweather"/>
                <a:sym typeface="Merriweather"/>
              </a:rPr>
              <a:t>Regularization in RTI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77828" y="2669253"/>
            <a:ext cx="571500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Solving the Ill-Posed Inverse Problem: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y = </a:t>
            </a:r>
            <a:r>
              <a:rPr kumimoji="0" 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Wx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52687" y="4379565"/>
            <a:ext cx="728662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Implementation and Comparison of </a:t>
            </a:r>
            <a:r>
              <a:rPr lang="en-US" sz="2000" kern="0" dirty="0">
                <a:solidFill>
                  <a:srgbClr val="11CAA0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Ridge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 and TV Norms for Stable Trajectory Tracking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0A66B1-3B0D-9735-118D-5D8BDDCC710A}"/>
              </a:ext>
            </a:extLst>
          </p:cNvPr>
          <p:cNvCxnSpPr/>
          <p:nvPr/>
        </p:nvCxnSpPr>
        <p:spPr>
          <a:xfrm>
            <a:off x="1229032" y="3795252"/>
            <a:ext cx="981259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D87D-4A28-FF75-E2F3-C75FE27A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B863B-EF00-57D8-5A1C-D98F55A5C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380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47500" lnSpcReduction="20000"/>
          </a:bodyPr>
          <a:lstStyle/>
          <a:p>
            <a:pPr marL="0" lvl="0" indent="0" algn="ctr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lang="en-US" sz="4000" b="1" kern="0" dirty="0">
                <a:latin typeface="Merriweather"/>
                <a:ea typeface="Merriweather"/>
                <a:cs typeface="Merriweather"/>
                <a:sym typeface="Merriweather"/>
              </a:rPr>
              <a:t>The Inverse Problem: Why Regularization is Mandatory</a:t>
            </a:r>
            <a:endParaRPr lang="en-US" sz="1600" kern="0" dirty="0">
              <a:latin typeface="Arial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8807E-8CF4-D9B9-3A76-B6F7153A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14</a:t>
            </a:fld>
            <a:endParaRPr lang="en-IN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45DFA4A-0FDE-0A96-38DB-D1BA7B70514A}"/>
              </a:ext>
            </a:extLst>
          </p:cNvPr>
          <p:cNvSpPr txBox="1">
            <a:spLocks/>
          </p:cNvSpPr>
          <p:nvPr/>
        </p:nvSpPr>
        <p:spPr>
          <a:xfrm>
            <a:off x="838200" y="450665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/>
              <a:t>R</a:t>
            </a:r>
            <a:r>
              <a:rPr lang="en-IN" sz="3900" b="1" dirty="0"/>
              <a:t>EGULARIZATION  </a:t>
            </a:r>
            <a:endParaRPr lang="en-IN" sz="3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763417-704B-203A-5C39-6B8EBDA24ADD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676C1-72BF-CD49-53BA-DD8BDFC29062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  <p:pic>
        <p:nvPicPr>
          <p:cNvPr id="17" name="Google Shape;92;p14" descr="image.png">
            <a:extLst>
              <a:ext uri="{FF2B5EF4-FFF2-40B4-BE49-F238E27FC236}">
                <a16:creationId xmlns:a16="http://schemas.microsoft.com/office/drawing/2014/main" id="{6C43B10A-972B-E0F9-BBEC-AC32B2A0CF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667" y="3225051"/>
            <a:ext cx="5381625" cy="1484738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</p:spPr>
      </p:pic>
      <p:sp>
        <p:nvSpPr>
          <p:cNvPr id="18" name="Google Shape;105;p14">
            <a:extLst>
              <a:ext uri="{FF2B5EF4-FFF2-40B4-BE49-F238E27FC236}">
                <a16:creationId xmlns:a16="http://schemas.microsoft.com/office/drawing/2014/main" id="{D7C73075-A299-3DFC-BEA7-C6BA9B9A717E}"/>
              </a:ext>
            </a:extLst>
          </p:cNvPr>
          <p:cNvSpPr txBox="1"/>
          <p:nvPr/>
        </p:nvSpPr>
        <p:spPr>
          <a:xfrm>
            <a:off x="6683476" y="3447509"/>
            <a:ext cx="47910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Min ||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Wx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- y||₂²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+ α ·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79C6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R(x)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106;p14">
            <a:extLst>
              <a:ext uri="{FF2B5EF4-FFF2-40B4-BE49-F238E27FC236}">
                <a16:creationId xmlns:a16="http://schemas.microsoft.com/office/drawing/2014/main" id="{42B5E2C3-02CF-17DF-B8F9-2FA682E7B0BA}"/>
              </a:ext>
            </a:extLst>
          </p:cNvPr>
          <p:cNvSpPr txBox="1"/>
          <p:nvPr/>
        </p:nvSpPr>
        <p:spPr>
          <a:xfrm>
            <a:off x="6683476" y="4113159"/>
            <a:ext cx="47910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Data Fidelity (Least-Squares Fit) + Regularization Penalty (Solution Structure)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22" name="Google Shape;97;p14">
            <a:extLst>
              <a:ext uri="{FF2B5EF4-FFF2-40B4-BE49-F238E27FC236}">
                <a16:creationId xmlns:a16="http://schemas.microsoft.com/office/drawing/2014/main" id="{1021614E-6508-6249-2026-C03DD35C8D59}"/>
              </a:ext>
            </a:extLst>
          </p:cNvPr>
          <p:cNvSpPr txBox="1"/>
          <p:nvPr/>
        </p:nvSpPr>
        <p:spPr>
          <a:xfrm>
            <a:off x="6343957" y="2374265"/>
            <a:ext cx="53816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We introduce a prior belief</a:t>
            </a:r>
            <a:r>
              <a:rPr lang="en-US" kern="0" dirty="0"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R(x)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, to find a stable, unique solution:</a:t>
            </a:r>
            <a:endParaRPr kumimoji="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23" name="Google Shape;96;p14">
            <a:extLst>
              <a:ext uri="{FF2B5EF4-FFF2-40B4-BE49-F238E27FC236}">
                <a16:creationId xmlns:a16="http://schemas.microsoft.com/office/drawing/2014/main" id="{F825893C-8FC4-C77B-2981-EDE17DB88D9D}"/>
              </a:ext>
            </a:extLst>
          </p:cNvPr>
          <p:cNvSpPr txBox="1"/>
          <p:nvPr/>
        </p:nvSpPr>
        <p:spPr>
          <a:xfrm>
            <a:off x="6334125" y="1996826"/>
            <a:ext cx="565070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The Solution: Tikhonov Form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98;p14">
            <a:extLst>
              <a:ext uri="{FF2B5EF4-FFF2-40B4-BE49-F238E27FC236}">
                <a16:creationId xmlns:a16="http://schemas.microsoft.com/office/drawing/2014/main" id="{646CC2F6-0D8A-0A05-BEFD-8172DC9CD7BF}"/>
              </a:ext>
            </a:extLst>
          </p:cNvPr>
          <p:cNvSpPr txBox="1"/>
          <p:nvPr/>
        </p:nvSpPr>
        <p:spPr>
          <a:xfrm>
            <a:off x="6331667" y="4979071"/>
            <a:ext cx="53816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The choice of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R(x)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dictates the final reconstructed image properties (smooth vs. sharp)</a:t>
            </a:r>
            <a:endParaRPr kumimoji="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2DCA7CD2-775F-33E9-7464-3EC4246BB6EC}"/>
              </a:ext>
            </a:extLst>
          </p:cNvPr>
          <p:cNvSpPr txBox="1"/>
          <p:nvPr/>
        </p:nvSpPr>
        <p:spPr>
          <a:xfrm>
            <a:off x="759891" y="1672492"/>
            <a:ext cx="565070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The Challenge: Ill-Posed System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99;p14">
            <a:extLst>
              <a:ext uri="{FF2B5EF4-FFF2-40B4-BE49-F238E27FC236}">
                <a16:creationId xmlns:a16="http://schemas.microsoft.com/office/drawing/2014/main" id="{2F5F7910-9BD5-A278-BF25-260244A07679}"/>
              </a:ext>
            </a:extLst>
          </p:cNvPr>
          <p:cNvSpPr txBox="1"/>
          <p:nvPr/>
        </p:nvSpPr>
        <p:spPr>
          <a:xfrm>
            <a:off x="739655" y="2184717"/>
            <a:ext cx="76200" cy="25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•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29" name="Google Shape;100;p14">
            <a:extLst>
              <a:ext uri="{FF2B5EF4-FFF2-40B4-BE49-F238E27FC236}">
                <a16:creationId xmlns:a16="http://schemas.microsoft.com/office/drawing/2014/main" id="{65E46B62-BDA7-AE09-A475-17981DEB7114}"/>
              </a:ext>
            </a:extLst>
          </p:cNvPr>
          <p:cNvSpPr txBox="1"/>
          <p:nvPr/>
        </p:nvSpPr>
        <p:spPr>
          <a:xfrm>
            <a:off x="874540" y="2101476"/>
            <a:ext cx="5143500" cy="406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System: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y = </a:t>
            </a:r>
            <a:r>
              <a:rPr kumimoji="0" lang="en-US" sz="1650" b="0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Wx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+ n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(RTI Linear Model).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30" name="Google Shape;101;p14">
            <a:extLst>
              <a:ext uri="{FF2B5EF4-FFF2-40B4-BE49-F238E27FC236}">
                <a16:creationId xmlns:a16="http://schemas.microsoft.com/office/drawing/2014/main" id="{34A1D7C4-CB93-C8B0-5806-3F68766F495B}"/>
              </a:ext>
            </a:extLst>
          </p:cNvPr>
          <p:cNvSpPr txBox="1"/>
          <p:nvPr/>
        </p:nvSpPr>
        <p:spPr>
          <a:xfrm>
            <a:off x="771610" y="2681444"/>
            <a:ext cx="76200" cy="25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•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31" name="Google Shape;102;p14">
            <a:extLst>
              <a:ext uri="{FF2B5EF4-FFF2-40B4-BE49-F238E27FC236}">
                <a16:creationId xmlns:a16="http://schemas.microsoft.com/office/drawing/2014/main" id="{B9DC5FF8-94D1-71D3-94F9-82F2D639E666}"/>
              </a:ext>
            </a:extLst>
          </p:cNvPr>
          <p:cNvSpPr txBox="1"/>
          <p:nvPr/>
        </p:nvSpPr>
        <p:spPr>
          <a:xfrm>
            <a:off x="903883" y="2649591"/>
            <a:ext cx="5143500" cy="507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Underdetermined: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We solve for 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N=3600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pixels using only 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M=380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link measurements.</a:t>
            </a:r>
            <a:r>
              <a:rPr lang="en-US" sz="1650" kern="0" dirty="0"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Infinite solutions exist.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32" name="Google Shape;103;p14">
            <a:extLst>
              <a:ext uri="{FF2B5EF4-FFF2-40B4-BE49-F238E27FC236}">
                <a16:creationId xmlns:a16="http://schemas.microsoft.com/office/drawing/2014/main" id="{16748A3A-4DAE-B5D7-B5AC-A410E6E6E02A}"/>
              </a:ext>
            </a:extLst>
          </p:cNvPr>
          <p:cNvSpPr txBox="1"/>
          <p:nvPr/>
        </p:nvSpPr>
        <p:spPr>
          <a:xfrm>
            <a:off x="764971" y="3419926"/>
            <a:ext cx="76200" cy="25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•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33" name="Google Shape;104;p14">
            <a:extLst>
              <a:ext uri="{FF2B5EF4-FFF2-40B4-BE49-F238E27FC236}">
                <a16:creationId xmlns:a16="http://schemas.microsoft.com/office/drawing/2014/main" id="{A316E2B3-D631-D263-9080-1C30F444CC88}"/>
              </a:ext>
            </a:extLst>
          </p:cNvPr>
          <p:cNvSpPr txBox="1"/>
          <p:nvPr/>
        </p:nvSpPr>
        <p:spPr>
          <a:xfrm>
            <a:off x="886524" y="3378688"/>
            <a:ext cx="5143500" cy="784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Ill-Conditioned: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The sensitivity matrix 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W'W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 is nearly singular. Small measurement noise (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n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) is massively amplified (by factors like 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1/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λ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DM Sans"/>
                <a:cs typeface="DM Sans"/>
                <a:sym typeface="DM Sans"/>
              </a:rPr>
              <a:t>), destroying the image.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51FCDAD-6EB0-0909-7079-AEC7492339C2}"/>
              </a:ext>
            </a:extLst>
          </p:cNvPr>
          <p:cNvSpPr/>
          <p:nvPr/>
        </p:nvSpPr>
        <p:spPr>
          <a:xfrm>
            <a:off x="903883" y="4489772"/>
            <a:ext cx="4773614" cy="15141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71E18C-3165-041E-CC64-E3288A2BEC98}"/>
              </a:ext>
            </a:extLst>
          </p:cNvPr>
          <p:cNvCxnSpPr/>
          <p:nvPr/>
        </p:nvCxnSpPr>
        <p:spPr>
          <a:xfrm>
            <a:off x="6076726" y="1926625"/>
            <a:ext cx="0" cy="4031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oogle Shape;92;p14" descr="image.png">
            <a:extLst>
              <a:ext uri="{FF2B5EF4-FFF2-40B4-BE49-F238E27FC236}">
                <a16:creationId xmlns:a16="http://schemas.microsoft.com/office/drawing/2014/main" id="{8F4F23E6-DF92-1ADE-EDD5-4570AFB699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0718" y="4489772"/>
            <a:ext cx="5136811" cy="151412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04;p14">
            <a:extLst>
              <a:ext uri="{FF2B5EF4-FFF2-40B4-BE49-F238E27FC236}">
                <a16:creationId xmlns:a16="http://schemas.microsoft.com/office/drawing/2014/main" id="{3E0EDA06-49AF-8C3E-7022-DDCEA6552BD0}"/>
              </a:ext>
            </a:extLst>
          </p:cNvPr>
          <p:cNvSpPr txBox="1"/>
          <p:nvPr/>
        </p:nvSpPr>
        <p:spPr>
          <a:xfrm>
            <a:off x="1029870" y="4442618"/>
            <a:ext cx="4610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Why we can't just invert it: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38" name="Google Shape;105;p14">
            <a:extLst>
              <a:ext uri="{FF2B5EF4-FFF2-40B4-BE49-F238E27FC236}">
                <a16:creationId xmlns:a16="http://schemas.microsoft.com/office/drawing/2014/main" id="{9390AF0C-EDB3-B7C7-80D5-0CB9648C46EF}"/>
              </a:ext>
            </a:extLst>
          </p:cNvPr>
          <p:cNvSpPr txBox="1"/>
          <p:nvPr/>
        </p:nvSpPr>
        <p:spPr>
          <a:xfrm>
            <a:off x="1023570" y="4926823"/>
            <a:ext cx="4610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Small noise in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 gets divided by near-zero eigenvalues (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λ ≈ 0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).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39" name="Google Shape;106;p14">
            <a:extLst>
              <a:ext uri="{FF2B5EF4-FFF2-40B4-BE49-F238E27FC236}">
                <a16:creationId xmlns:a16="http://schemas.microsoft.com/office/drawing/2014/main" id="{190FD7A9-E9B0-0D2F-9D3A-2FEAE25A177E}"/>
              </a:ext>
            </a:extLst>
          </p:cNvPr>
          <p:cNvSpPr txBox="1"/>
          <p:nvPr/>
        </p:nvSpPr>
        <p:spPr>
          <a:xfrm>
            <a:off x="838200" y="5400807"/>
            <a:ext cx="4610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Output = </a:t>
            </a:r>
            <a:r>
              <a:rPr kumimoji="0" lang="en-US" sz="21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Noise / 0.000001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 = </a:t>
            </a: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"/>
                <a:cs typeface="Roboto"/>
                <a:sym typeface="Roboto"/>
              </a:rPr>
              <a:t>Explosion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055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5219D-6576-699E-3037-8CBBD094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D1AB-7BA0-BD94-D92B-7FE21AB79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Ridge Regression (L2): The Logic of Smoothness</a:t>
            </a:r>
            <a:endParaRPr lang="en-IN" sz="40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263C3-983E-9850-A763-EC25F465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15</a:t>
            </a:fld>
            <a:endParaRPr lang="en-IN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DF2469-9A25-8B16-5E9E-5C28BB2334DA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/>
              <a:t>R</a:t>
            </a:r>
            <a:r>
              <a:rPr lang="en-IN" sz="3900" b="1" dirty="0"/>
              <a:t>EGULARIZATION  </a:t>
            </a:r>
            <a:endParaRPr lang="en-IN" sz="3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04A630-23B8-1B29-71C4-AB1B49C16CF3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4CEC35-16E7-A93A-534D-9B23586BBEFE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  <p:pic>
        <p:nvPicPr>
          <p:cNvPr id="7" name="Google Shape;111;p15" descr="image.png">
            <a:extLst>
              <a:ext uri="{FF2B5EF4-FFF2-40B4-BE49-F238E27FC236}">
                <a16:creationId xmlns:a16="http://schemas.microsoft.com/office/drawing/2014/main" id="{6C660CB2-E209-DAF0-F352-91506F52A1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8094" y="1529909"/>
            <a:ext cx="5271457" cy="473724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15">
            <a:extLst>
              <a:ext uri="{FF2B5EF4-FFF2-40B4-BE49-F238E27FC236}">
                <a16:creationId xmlns:a16="http://schemas.microsoft.com/office/drawing/2014/main" id="{9D55B11A-D7DD-515D-2480-7281163CEC9E}"/>
              </a:ext>
            </a:extLst>
          </p:cNvPr>
          <p:cNvSpPr txBox="1"/>
          <p:nvPr/>
        </p:nvSpPr>
        <p:spPr>
          <a:xfrm>
            <a:off x="637221" y="1316575"/>
            <a:ext cx="58673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We add a penalty to the squared magnitude of pixels: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||x||²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9" name="Google Shape;115;p15">
            <a:extLst>
              <a:ext uri="{FF2B5EF4-FFF2-40B4-BE49-F238E27FC236}">
                <a16:creationId xmlns:a16="http://schemas.microsoft.com/office/drawing/2014/main" id="{4A039913-5F6C-8BA0-036F-00057B0AA0E1}"/>
              </a:ext>
            </a:extLst>
          </p:cNvPr>
          <p:cNvSpPr txBox="1"/>
          <p:nvPr/>
        </p:nvSpPr>
        <p:spPr>
          <a:xfrm>
            <a:off x="637222" y="1874379"/>
            <a:ext cx="58673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anose="020B0004020202020204" pitchFamily="34" charset="0"/>
                <a:ea typeface="Merriweather"/>
                <a:cs typeface="Merriweather"/>
                <a:sym typeface="Merriweather"/>
              </a:rPr>
              <a:t>How "Squares" Create "Smoothness"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10" name="Google Shape;116;p15">
            <a:extLst>
              <a:ext uri="{FF2B5EF4-FFF2-40B4-BE49-F238E27FC236}">
                <a16:creationId xmlns:a16="http://schemas.microsoft.com/office/drawing/2014/main" id="{199E5E84-28CA-9A83-8DA3-5B9E5DA604A7}"/>
              </a:ext>
            </a:extLst>
          </p:cNvPr>
          <p:cNvSpPr txBox="1"/>
          <p:nvPr/>
        </p:nvSpPr>
        <p:spPr>
          <a:xfrm>
            <a:off x="585158" y="2304192"/>
            <a:ext cx="5238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Imagine we need to assign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10 units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 of energy.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15" name="Google Shape;119;p15">
            <a:extLst>
              <a:ext uri="{FF2B5EF4-FFF2-40B4-BE49-F238E27FC236}">
                <a16:creationId xmlns:a16="http://schemas.microsoft.com/office/drawing/2014/main" id="{49DBE3D0-64E2-8727-0401-A89FF6833771}"/>
              </a:ext>
            </a:extLst>
          </p:cNvPr>
          <p:cNvSpPr txBox="1"/>
          <p:nvPr/>
        </p:nvSpPr>
        <p:spPr>
          <a:xfrm>
            <a:off x="899482" y="4398305"/>
            <a:ext cx="5135557" cy="1735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9944"/>
              </a:lnSpc>
              <a:buClr>
                <a:srgbClr val="000000"/>
              </a:buClr>
            </a:pPr>
            <a:r>
              <a:rPr lang="en-US" b="1" u="sng" kern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The Result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ea typeface="Roboto"/>
              <a:cs typeface="Roboto"/>
              <a:sym typeface="Roboto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The math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hates spikes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 because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x²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  <a:sym typeface="Roboto"/>
              </a:rPr>
              <a:t> makes large numbers expensive.</a:t>
            </a:r>
          </a:p>
          <a:p>
            <a:pPr algn="ctr">
              <a:lnSpc>
                <a:spcPct val="159944"/>
              </a:lnSpc>
              <a:buClr>
                <a:srgbClr val="000000"/>
              </a:buClr>
            </a:pPr>
            <a:r>
              <a:rPr lang="en-US" sz="1500" kern="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It prefers to </a:t>
            </a:r>
            <a:r>
              <a:rPr lang="en-US" sz="1500" b="1" kern="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spread energy</a:t>
            </a:r>
            <a:r>
              <a:rPr lang="en-US" sz="1500" kern="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 out evenly</a:t>
            </a:r>
          </a:p>
          <a:p>
            <a:pPr algn="ctr">
              <a:lnSpc>
                <a:spcPct val="159944"/>
              </a:lnSpc>
              <a:buClr>
                <a:srgbClr val="000000"/>
              </a:buClr>
            </a:pPr>
            <a:r>
              <a:rPr lang="en-US" sz="1500" kern="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Spreading = </a:t>
            </a:r>
            <a:r>
              <a:rPr lang="en-US" sz="1500" b="1" kern="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Blurring</a:t>
            </a:r>
            <a:endParaRPr lang="en-US" sz="1500" kern="0" dirty="0">
              <a:latin typeface="Aptos" panose="020B0004020202020204" pitchFamily="34" charset="0"/>
              <a:cs typeface="Arial"/>
              <a:sym typeface="Arial"/>
            </a:endParaRPr>
          </a:p>
        </p:txBody>
      </p:sp>
      <p:graphicFrame>
        <p:nvGraphicFramePr>
          <p:cNvPr id="18" name="Google Shape;117;p15">
            <a:extLst>
              <a:ext uri="{FF2B5EF4-FFF2-40B4-BE49-F238E27FC236}">
                <a16:creationId xmlns:a16="http://schemas.microsoft.com/office/drawing/2014/main" id="{82F2DF65-B0E6-4D7D-67A0-B61E1CD534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7294952"/>
              </p:ext>
            </p:extLst>
          </p:nvPr>
        </p:nvGraphicFramePr>
        <p:xfrm>
          <a:off x="838200" y="2767401"/>
          <a:ext cx="4840606" cy="154170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21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9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9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8BDF8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Option A: Spike</a:t>
                      </a:r>
                      <a:endParaRPr dirty="0"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8BDF8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Option B: Smooth Hill</a:t>
                      </a:r>
                      <a:endParaRPr dirty="0"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9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Put 10 in </a:t>
                      </a: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1 pixel</a:t>
                      </a:r>
                      <a:endParaRPr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Put 1 in </a:t>
                      </a: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10 pixels</a:t>
                      </a:r>
                      <a:endParaRPr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9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Cost: 10² =  </a:t>
                      </a: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Cost: 1² × 10 =  </a:t>
                      </a: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Google Shape;130;p16">
            <a:extLst>
              <a:ext uri="{FF2B5EF4-FFF2-40B4-BE49-F238E27FC236}">
                <a16:creationId xmlns:a16="http://schemas.microsoft.com/office/drawing/2014/main" id="{47187E51-C3C2-262F-6C8F-0B247A805A6C}"/>
              </a:ext>
            </a:extLst>
          </p:cNvPr>
          <p:cNvSpPr txBox="1"/>
          <p:nvPr/>
        </p:nvSpPr>
        <p:spPr>
          <a:xfrm>
            <a:off x="6598512" y="1449055"/>
            <a:ext cx="50482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latin typeface="Aptos" panose="020B0004020202020204" pitchFamily="34" charset="0"/>
                <a:ea typeface="Roboto" panose="02000000000000000000" pitchFamily="2" charset="0"/>
                <a:cs typeface="Roboto"/>
                <a:sym typeface="Roboto"/>
              </a:rPr>
              <a:t>Step 1:   The Cost Function</a:t>
            </a:r>
            <a:r>
              <a:rPr lang="en-US" b="0" i="0" u="none" strike="noStrike" cap="none" dirty="0">
                <a:latin typeface="Aptos" panose="020B0004020202020204" pitchFamily="34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b="0" i="1" u="none" strike="noStrike" cap="none" dirty="0">
                <a:latin typeface="Aptos" panose="020B0004020202020204" pitchFamily="34" charset="0"/>
                <a:ea typeface="Roboto" panose="02000000000000000000" pitchFamily="2" charset="0"/>
                <a:cs typeface="Roboto"/>
                <a:sym typeface="Roboto"/>
              </a:rPr>
              <a:t>J(x) = ||</a:t>
            </a:r>
            <a:r>
              <a:rPr lang="en-US" b="0" i="1" u="none" strike="noStrike" cap="none" dirty="0" err="1">
                <a:latin typeface="Aptos" panose="020B0004020202020204" pitchFamily="34" charset="0"/>
                <a:ea typeface="Roboto" panose="02000000000000000000" pitchFamily="2" charset="0"/>
                <a:cs typeface="Roboto"/>
                <a:sym typeface="Roboto"/>
              </a:rPr>
              <a:t>Wx</a:t>
            </a:r>
            <a:r>
              <a:rPr lang="en-US" b="0" i="1" u="none" strike="noStrike" cap="none" dirty="0">
                <a:latin typeface="Aptos" panose="020B0004020202020204" pitchFamily="34" charset="0"/>
                <a:ea typeface="Roboto" panose="02000000000000000000" pitchFamily="2" charset="0"/>
                <a:cs typeface="Roboto"/>
                <a:sym typeface="Roboto"/>
              </a:rPr>
              <a:t> - y||² + α||x||²</a:t>
            </a:r>
            <a:endParaRPr dirty="0">
              <a:latin typeface="Aptos" panose="020B0004020202020204" pitchFamily="34" charset="0"/>
              <a:ea typeface="Roboto" panose="02000000000000000000" pitchFamily="2" charset="0"/>
            </a:endParaRPr>
          </a:p>
        </p:txBody>
      </p:sp>
      <p:sp>
        <p:nvSpPr>
          <p:cNvPr id="20" name="Google Shape;132;p16">
            <a:extLst>
              <a:ext uri="{FF2B5EF4-FFF2-40B4-BE49-F238E27FC236}">
                <a16:creationId xmlns:a16="http://schemas.microsoft.com/office/drawing/2014/main" id="{D0E742AE-AC3A-E01A-3B2A-7C8A513E324C}"/>
              </a:ext>
            </a:extLst>
          </p:cNvPr>
          <p:cNvSpPr txBox="1"/>
          <p:nvPr/>
        </p:nvSpPr>
        <p:spPr>
          <a:xfrm>
            <a:off x="6591301" y="1885570"/>
            <a:ext cx="5048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latin typeface="+mj-lt"/>
                <a:ea typeface="Roboto"/>
                <a:cs typeface="Roboto"/>
                <a:sym typeface="Roboto"/>
              </a:rPr>
              <a:t>Step 2: Expand Terms</a:t>
            </a:r>
            <a:r>
              <a:rPr lang="en-US" dirty="0"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||x||²</a:t>
            </a:r>
            <a:r>
              <a:rPr lang="en-US" b="0" u="none" strike="noStrike" cap="none" dirty="0">
                <a:latin typeface="+mj-lt"/>
                <a:ea typeface="Roboto"/>
                <a:cs typeface="Roboto"/>
                <a:sym typeface="Roboto"/>
              </a:rPr>
              <a:t> is actually </a:t>
            </a:r>
            <a:r>
              <a:rPr lang="en-US" b="0" i="1" u="none" strike="noStrike" cap="none" dirty="0" err="1">
                <a:latin typeface="+mj-lt"/>
                <a:ea typeface="Roboto"/>
                <a:cs typeface="Roboto"/>
                <a:sym typeface="Roboto"/>
              </a:rPr>
              <a:t>x</a:t>
            </a:r>
            <a:r>
              <a:rPr lang="en-US" b="0" i="1" u="none" strike="noStrike" cap="none" baseline="30000" dirty="0" err="1">
                <a:latin typeface="+mj-lt"/>
                <a:ea typeface="Roboto"/>
                <a:cs typeface="Roboto"/>
                <a:sym typeface="Roboto"/>
              </a:rPr>
              <a:t>T</a:t>
            </a:r>
            <a:r>
              <a:rPr lang="en-US" b="0" i="1" u="none" strike="noStrike" cap="none" dirty="0" err="1">
                <a:latin typeface="+mj-lt"/>
                <a:ea typeface="Roboto"/>
                <a:cs typeface="Roboto"/>
                <a:sym typeface="Roboto"/>
              </a:rPr>
              <a:t>x</a:t>
            </a:r>
            <a:r>
              <a:rPr lang="en-US" b="0" u="none" strike="noStrike" cap="none" dirty="0">
                <a:latin typeface="+mj-lt"/>
                <a:ea typeface="Roboto"/>
                <a:cs typeface="Roboto"/>
                <a:sym typeface="Roboto"/>
              </a:rPr>
              <a:t>. </a:t>
            </a:r>
            <a:br>
              <a:rPr lang="en-US" b="0" u="none" strike="noStrike" cap="none" dirty="0">
                <a:latin typeface="+mj-lt"/>
                <a:ea typeface="Calibri"/>
                <a:cs typeface="Calibri"/>
                <a:sym typeface="Calibri"/>
              </a:rPr>
            </a:b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J(x) = (</a:t>
            </a:r>
            <a:r>
              <a:rPr lang="en-US" b="0" i="1" u="none" strike="noStrike" cap="none" dirty="0" err="1">
                <a:latin typeface="+mj-lt"/>
                <a:ea typeface="Roboto"/>
                <a:cs typeface="Roboto"/>
                <a:sym typeface="Roboto"/>
              </a:rPr>
              <a:t>Wx</a:t>
            </a: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 - y)² + α(</a:t>
            </a:r>
            <a:r>
              <a:rPr lang="en-US" b="0" i="1" u="none" strike="noStrike" cap="none" dirty="0" err="1">
                <a:latin typeface="+mj-lt"/>
                <a:ea typeface="Roboto"/>
                <a:cs typeface="Roboto"/>
                <a:sym typeface="Roboto"/>
              </a:rPr>
              <a:t>x</a:t>
            </a:r>
            <a:r>
              <a:rPr lang="en-US" b="0" i="1" u="none" strike="noStrike" cap="none" baseline="30000" dirty="0" err="1">
                <a:latin typeface="+mj-lt"/>
                <a:ea typeface="Roboto"/>
                <a:cs typeface="Roboto"/>
                <a:sym typeface="Roboto"/>
              </a:rPr>
              <a:t>T</a:t>
            </a:r>
            <a:r>
              <a:rPr lang="en-US" b="0" i="1" u="none" strike="noStrike" cap="none" dirty="0" err="1">
                <a:latin typeface="+mj-lt"/>
                <a:ea typeface="Roboto"/>
                <a:cs typeface="Roboto"/>
                <a:sym typeface="Roboto"/>
              </a:rPr>
              <a:t>x</a:t>
            </a: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)</a:t>
            </a:r>
            <a:endParaRPr dirty="0">
              <a:latin typeface="+mj-lt"/>
            </a:endParaRPr>
          </a:p>
        </p:txBody>
      </p:sp>
      <p:sp>
        <p:nvSpPr>
          <p:cNvPr id="21" name="Google Shape;134;p16">
            <a:extLst>
              <a:ext uri="{FF2B5EF4-FFF2-40B4-BE49-F238E27FC236}">
                <a16:creationId xmlns:a16="http://schemas.microsoft.com/office/drawing/2014/main" id="{88D5F70E-0F3E-87AA-6B62-ED2EB2ADDD91}"/>
              </a:ext>
            </a:extLst>
          </p:cNvPr>
          <p:cNvSpPr txBox="1"/>
          <p:nvPr/>
        </p:nvSpPr>
        <p:spPr>
          <a:xfrm>
            <a:off x="6598512" y="2639776"/>
            <a:ext cx="5048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latin typeface="+mj-lt"/>
                <a:ea typeface="Roboto"/>
                <a:cs typeface="Roboto"/>
                <a:sym typeface="Roboto"/>
              </a:rPr>
              <a:t>Step 3: Take Gradient (= 0)</a:t>
            </a:r>
            <a:r>
              <a:rPr lang="en-US" b="0" i="0" u="none" strike="noStrike" cap="none" dirty="0">
                <a:latin typeface="+mj-lt"/>
                <a:ea typeface="Roboto"/>
                <a:cs typeface="Roboto"/>
                <a:sym typeface="Roboto"/>
              </a:rPr>
              <a:t> Derivative of </a:t>
            </a:r>
            <a:r>
              <a:rPr lang="en-US" b="0" i="1" u="none" strike="noStrike" cap="none" dirty="0" err="1">
                <a:latin typeface="+mj-lt"/>
                <a:ea typeface="Roboto"/>
                <a:cs typeface="Roboto"/>
                <a:sym typeface="Roboto"/>
              </a:rPr>
              <a:t>x</a:t>
            </a:r>
            <a:r>
              <a:rPr lang="en-US" b="0" i="1" u="none" strike="noStrike" cap="none" baseline="30000" dirty="0" err="1">
                <a:latin typeface="+mj-lt"/>
                <a:ea typeface="Roboto"/>
                <a:cs typeface="Roboto"/>
                <a:sym typeface="Roboto"/>
              </a:rPr>
              <a:t>T</a:t>
            </a:r>
            <a:r>
              <a:rPr lang="en-US" b="0" i="1" u="none" strike="noStrike" cap="none" dirty="0" err="1">
                <a:latin typeface="+mj-lt"/>
                <a:ea typeface="Roboto"/>
                <a:cs typeface="Roboto"/>
                <a:sym typeface="Roboto"/>
              </a:rPr>
              <a:t>x</a:t>
            </a:r>
            <a:r>
              <a:rPr lang="en-US" b="0" i="0" u="none" strike="noStrike" cap="none" dirty="0">
                <a:latin typeface="+mj-lt"/>
                <a:ea typeface="Roboto"/>
                <a:cs typeface="Roboto"/>
                <a:sym typeface="Roboto"/>
              </a:rPr>
              <a:t> is </a:t>
            </a: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2Ix</a:t>
            </a:r>
            <a:r>
              <a:rPr lang="en-US" b="0" i="0" u="none" strike="noStrike" cap="none" dirty="0">
                <a:latin typeface="+mj-lt"/>
                <a:ea typeface="Roboto"/>
                <a:cs typeface="Roboto"/>
                <a:sym typeface="Roboto"/>
              </a:rPr>
              <a:t>. </a:t>
            </a:r>
            <a:br>
              <a:rPr lang="en-US" b="0" i="0" u="none" strike="noStrike" cap="none" dirty="0">
                <a:latin typeface="+mj-lt"/>
                <a:ea typeface="Calibri"/>
                <a:cs typeface="Calibri"/>
                <a:sym typeface="Calibri"/>
              </a:rPr>
            </a:b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2W</a:t>
            </a:r>
            <a:r>
              <a:rPr lang="en-US" b="0" i="1" u="none" strike="noStrike" cap="none" baseline="30000" dirty="0">
                <a:latin typeface="+mj-lt"/>
                <a:ea typeface="Roboto"/>
                <a:cs typeface="Roboto"/>
                <a:sym typeface="Roboto"/>
              </a:rPr>
              <a:t>T</a:t>
            </a: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Wx - 2W</a:t>
            </a:r>
            <a:r>
              <a:rPr lang="en-US" b="0" i="1" u="none" strike="noStrike" cap="none" baseline="30000" dirty="0">
                <a:latin typeface="+mj-lt"/>
                <a:ea typeface="Roboto"/>
                <a:cs typeface="Roboto"/>
                <a:sym typeface="Roboto"/>
              </a:rPr>
              <a:t>T</a:t>
            </a: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y + 2αIx = 0</a:t>
            </a:r>
            <a:endParaRPr dirty="0">
              <a:latin typeface="+mj-lt"/>
            </a:endParaRPr>
          </a:p>
        </p:txBody>
      </p:sp>
      <p:sp>
        <p:nvSpPr>
          <p:cNvPr id="22" name="Google Shape;136;p16">
            <a:extLst>
              <a:ext uri="{FF2B5EF4-FFF2-40B4-BE49-F238E27FC236}">
                <a16:creationId xmlns:a16="http://schemas.microsoft.com/office/drawing/2014/main" id="{A9C11632-CF31-4B9F-FA39-26F0E11E75CC}"/>
              </a:ext>
            </a:extLst>
          </p:cNvPr>
          <p:cNvSpPr txBox="1"/>
          <p:nvPr/>
        </p:nvSpPr>
        <p:spPr>
          <a:xfrm>
            <a:off x="6547322" y="3330720"/>
            <a:ext cx="5048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i="0" u="none" strike="noStrike" cap="none" dirty="0">
                <a:latin typeface="+mj-lt"/>
                <a:ea typeface="Roboto"/>
                <a:cs typeface="Roboto"/>
                <a:sym typeface="Roboto"/>
              </a:rPr>
              <a:t>Step 4: Solve for x  </a:t>
            </a:r>
            <a:r>
              <a:rPr lang="en-US" b="0" i="0" u="none" strike="noStrike" cap="none" dirty="0"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US" b="0" i="0" u="none" strike="noStrike" cap="none" dirty="0">
                <a:latin typeface="+mj-lt"/>
                <a:ea typeface="Roboto"/>
                <a:cs typeface="Roboto"/>
                <a:sym typeface="Wingdings" panose="05000000000000000000" pitchFamily="2" charset="2"/>
              </a:rPr>
              <a:t>  </a:t>
            </a:r>
            <a:r>
              <a:rPr lang="en-US" b="0" i="0" u="none" strike="noStrike" cap="none" dirty="0">
                <a:latin typeface="+mj-lt"/>
                <a:ea typeface="Roboto"/>
                <a:cs typeface="Roboto"/>
                <a:sym typeface="Roboto"/>
              </a:rPr>
              <a:t>Group the </a:t>
            </a: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x</a:t>
            </a:r>
            <a:r>
              <a:rPr lang="en-US" b="0" i="0" u="none" strike="noStrike" cap="none" dirty="0">
                <a:latin typeface="+mj-lt"/>
                <a:ea typeface="Roboto"/>
                <a:cs typeface="Roboto"/>
                <a:sym typeface="Roboto"/>
              </a:rPr>
              <a:t> terms: </a:t>
            </a:r>
            <a:br>
              <a:rPr lang="en-US" b="0" i="0" u="none" strike="noStrike" cap="none" dirty="0">
                <a:latin typeface="+mj-lt"/>
                <a:ea typeface="Calibri"/>
                <a:cs typeface="Calibri"/>
                <a:sym typeface="Calibri"/>
              </a:rPr>
            </a:b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(</a:t>
            </a:r>
            <a:r>
              <a:rPr lang="en-US" i="1" dirty="0">
                <a:ea typeface="Roboto"/>
                <a:cs typeface="Roboto"/>
                <a:sym typeface="Roboto"/>
              </a:rPr>
              <a:t>W</a:t>
            </a:r>
            <a:r>
              <a:rPr lang="en-US" i="1" baseline="30000" dirty="0">
                <a:ea typeface="Roboto"/>
                <a:cs typeface="Roboto"/>
                <a:sym typeface="Roboto"/>
              </a:rPr>
              <a:t>T</a:t>
            </a:r>
            <a:r>
              <a:rPr lang="en-US" i="1" dirty="0">
                <a:ea typeface="Roboto"/>
                <a:cs typeface="Roboto"/>
                <a:sym typeface="Roboto"/>
              </a:rPr>
              <a:t>W</a:t>
            </a:r>
            <a:r>
              <a:rPr lang="en-US" b="0" i="1" u="none" strike="noStrike" cap="none" dirty="0">
                <a:latin typeface="+mj-lt"/>
                <a:ea typeface="Roboto"/>
                <a:cs typeface="Roboto"/>
                <a:sym typeface="Roboto"/>
              </a:rPr>
              <a:t>+ αI)x = </a:t>
            </a:r>
            <a:r>
              <a:rPr lang="en-US" i="1" dirty="0" err="1">
                <a:ea typeface="Roboto"/>
                <a:cs typeface="Roboto"/>
                <a:sym typeface="Roboto"/>
              </a:rPr>
              <a:t>W</a:t>
            </a:r>
            <a:r>
              <a:rPr lang="en-US" i="1" baseline="30000" dirty="0" err="1">
                <a:ea typeface="Roboto"/>
                <a:cs typeface="Roboto"/>
                <a:sym typeface="Roboto"/>
              </a:rPr>
              <a:t>T</a:t>
            </a:r>
            <a:r>
              <a:rPr lang="en-US" b="0" i="1" u="none" strike="noStrike" cap="none" dirty="0" err="1">
                <a:latin typeface="+mj-lt"/>
                <a:ea typeface="Roboto"/>
                <a:cs typeface="Roboto"/>
                <a:sym typeface="Roboto"/>
              </a:rPr>
              <a:t>y</a:t>
            </a:r>
            <a:endParaRPr dirty="0">
              <a:latin typeface="+mj-lt"/>
            </a:endParaRPr>
          </a:p>
        </p:txBody>
      </p:sp>
      <p:sp>
        <p:nvSpPr>
          <p:cNvPr id="25" name="Google Shape;138;p16">
            <a:extLst>
              <a:ext uri="{FF2B5EF4-FFF2-40B4-BE49-F238E27FC236}">
                <a16:creationId xmlns:a16="http://schemas.microsoft.com/office/drawing/2014/main" id="{1A45C533-C38A-3B11-6CB4-547461BFE45F}"/>
              </a:ext>
            </a:extLst>
          </p:cNvPr>
          <p:cNvSpPr txBox="1"/>
          <p:nvPr/>
        </p:nvSpPr>
        <p:spPr>
          <a:xfrm>
            <a:off x="7752080" y="3898529"/>
            <a:ext cx="2997200" cy="492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2000" b="0" i="1" u="none" strike="noStrike" cap="none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x = (</a:t>
            </a:r>
            <a:r>
              <a:rPr lang="en-US" sz="2000" i="1" dirty="0">
                <a:ea typeface="Roboto"/>
                <a:cs typeface="Roboto"/>
                <a:sym typeface="Roboto"/>
              </a:rPr>
              <a:t>W</a:t>
            </a:r>
            <a:r>
              <a:rPr lang="en-US" sz="2000" i="1" baseline="30000" dirty="0">
                <a:ea typeface="Roboto"/>
                <a:cs typeface="Roboto"/>
                <a:sym typeface="Roboto"/>
              </a:rPr>
              <a:t>T</a:t>
            </a:r>
            <a:r>
              <a:rPr lang="en-US" sz="2000" i="1" dirty="0">
                <a:ea typeface="Roboto"/>
                <a:cs typeface="Roboto"/>
                <a:sym typeface="Roboto"/>
              </a:rPr>
              <a:t>W </a:t>
            </a:r>
            <a:r>
              <a:rPr lang="en-US" sz="2000" b="0" i="1" u="none" strike="noStrike" cap="none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+ </a:t>
            </a:r>
            <a:r>
              <a:rPr lang="en-US" sz="2000" b="1" i="1" u="none" strike="noStrike" cap="none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αI</a:t>
            </a:r>
            <a:r>
              <a:rPr lang="en-US" sz="2000" b="0" i="1" u="none" strike="noStrike" cap="none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)⁻¹ </a:t>
            </a:r>
            <a:r>
              <a:rPr lang="en-US" sz="2000" i="1" dirty="0" err="1">
                <a:ea typeface="Roboto"/>
                <a:cs typeface="Roboto"/>
                <a:sym typeface="Roboto"/>
              </a:rPr>
              <a:t>W</a:t>
            </a:r>
            <a:r>
              <a:rPr lang="en-US" sz="2000" i="1" baseline="30000" dirty="0" err="1">
                <a:ea typeface="Roboto"/>
                <a:cs typeface="Roboto"/>
                <a:sym typeface="Roboto"/>
              </a:rPr>
              <a:t>T</a:t>
            </a:r>
            <a:r>
              <a:rPr lang="en-US" sz="2000" i="1" dirty="0" err="1">
                <a:ea typeface="Roboto"/>
                <a:cs typeface="Roboto"/>
                <a:sym typeface="Roboto"/>
              </a:rPr>
              <a:t>y</a:t>
            </a:r>
            <a:endParaRPr sz="2000" dirty="0"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6A1BE6-E2D9-06E3-B778-C198E71AEDC0}"/>
              </a:ext>
            </a:extLst>
          </p:cNvPr>
          <p:cNvSpPr/>
          <p:nvPr/>
        </p:nvSpPr>
        <p:spPr>
          <a:xfrm>
            <a:off x="6547322" y="4480172"/>
            <a:ext cx="5390678" cy="1978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52597CB-5EAA-C324-62F1-0A1F70FA4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572" y="4884545"/>
            <a:ext cx="3448216" cy="605150"/>
          </a:xfrm>
          <a:prstGeom prst="rect">
            <a:avLst/>
          </a:prstGeom>
        </p:spPr>
      </p:pic>
      <p:sp>
        <p:nvSpPr>
          <p:cNvPr id="30" name="Google Shape;115;p15">
            <a:extLst>
              <a:ext uri="{FF2B5EF4-FFF2-40B4-BE49-F238E27FC236}">
                <a16:creationId xmlns:a16="http://schemas.microsoft.com/office/drawing/2014/main" id="{94FA6965-1A3F-34C0-B3A7-43D13B8A7735}"/>
              </a:ext>
            </a:extLst>
          </p:cNvPr>
          <p:cNvSpPr txBox="1"/>
          <p:nvPr/>
        </p:nvSpPr>
        <p:spPr>
          <a:xfrm>
            <a:off x="6724327" y="4480172"/>
            <a:ext cx="565070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Code Implementation (Closed-Form Solution)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31" name="Google Shape;125;p15">
            <a:extLst>
              <a:ext uri="{FF2B5EF4-FFF2-40B4-BE49-F238E27FC236}">
                <a16:creationId xmlns:a16="http://schemas.microsoft.com/office/drawing/2014/main" id="{3004927E-A46F-BCEB-E9B1-5A94DC93A232}"/>
              </a:ext>
            </a:extLst>
          </p:cNvPr>
          <p:cNvSpPr txBox="1"/>
          <p:nvPr/>
        </p:nvSpPr>
        <p:spPr>
          <a:xfrm>
            <a:off x="6749976" y="5700816"/>
            <a:ext cx="324802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Pre-computation (W </a:t>
            </a:r>
            <a:r>
              <a:rPr lang="en-US" sz="1350" i="1" kern="0" baseline="30000" dirty="0">
                <a:solidFill>
                  <a:srgbClr val="6272A4"/>
                </a:solidFill>
                <a:latin typeface="Fira Code"/>
                <a:ea typeface="Fira Code"/>
                <a:cs typeface="Fira Code"/>
                <a:sym typeface="Fira Code"/>
              </a:rPr>
              <a:t>T </a:t>
            </a: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W + αI)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126;p15">
            <a:extLst>
              <a:ext uri="{FF2B5EF4-FFF2-40B4-BE49-F238E27FC236}">
                <a16:creationId xmlns:a16="http://schemas.microsoft.com/office/drawing/2014/main" id="{4827EC0D-3C47-994A-3531-4D0E38F239E6}"/>
              </a:ext>
            </a:extLst>
          </p:cNvPr>
          <p:cNvSpPr txBox="1"/>
          <p:nvPr/>
        </p:nvSpPr>
        <p:spPr>
          <a:xfrm>
            <a:off x="6724327" y="5970498"/>
            <a:ext cx="4924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Solve the linear system </a:t>
            </a:r>
            <a:r>
              <a:rPr kumimoji="0" lang="en-US" sz="1350" b="0" i="1" u="none" strike="noStrike" kern="0" cap="none" spc="0" normalizeH="0" baseline="0" noProof="0" dirty="0" err="1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A_ridge</a:t>
            </a: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 * x = W </a:t>
            </a:r>
            <a:r>
              <a:rPr kumimoji="0" lang="en-US" sz="1350" b="0" i="1" u="none" strike="noStrike" kern="0" cap="none" spc="0" normalizeH="0" baseline="3000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T</a:t>
            </a: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y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127;p15">
            <a:extLst>
              <a:ext uri="{FF2B5EF4-FFF2-40B4-BE49-F238E27FC236}">
                <a16:creationId xmlns:a16="http://schemas.microsoft.com/office/drawing/2014/main" id="{205471E6-F932-01B6-1271-C55AB4111BC0}"/>
              </a:ext>
            </a:extLst>
          </p:cNvPr>
          <p:cNvSpPr txBox="1"/>
          <p:nvPr/>
        </p:nvSpPr>
        <p:spPr>
          <a:xfrm>
            <a:off x="6743700" y="6250591"/>
            <a:ext cx="4610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Non-iterative, fast, stable solution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3549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9841B-8D1C-5E61-67E6-87B68A73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2536-3523-3FB3-B704-CC3539C86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900" b="1"/>
              <a:t>R</a:t>
            </a:r>
            <a:r>
              <a:rPr lang="en-IN" sz="3900" b="1"/>
              <a:t>EGULARIZATION – RIDGE </a:t>
            </a:r>
            <a:endParaRPr lang="en-IN" sz="3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599DD-BBE3-0D4F-BFA1-A8278E8A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16</a:t>
            </a:fld>
            <a:endParaRPr lang="en-IN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8231E82-957C-86D0-AC2B-75D46BBA0D76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900" b="1"/>
              <a:t>F</a:t>
            </a:r>
            <a:r>
              <a:rPr lang="en-IN" sz="3900" b="1"/>
              <a:t>INAL RESULTS</a:t>
            </a:r>
            <a:endParaRPr lang="en-IN" sz="3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4C83AD-C009-7DD1-42CE-3DF93B33BCF2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9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C1788-2C68-8EA3-2628-F66F0B1C8E21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  <p:pic>
        <p:nvPicPr>
          <p:cNvPr id="5" name="Figures 2025-11-20 11-15-18">
            <a:hlinkClick r:id="" action="ppaction://media"/>
            <a:extLst>
              <a:ext uri="{FF2B5EF4-FFF2-40B4-BE49-F238E27FC236}">
                <a16:creationId xmlns:a16="http://schemas.microsoft.com/office/drawing/2014/main" id="{F68AA19D-333B-BCB4-DD82-9A6946C440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0860" y="1711140"/>
            <a:ext cx="3914638" cy="3135037"/>
          </a:xfrm>
          <a:prstGeom prst="rect">
            <a:avLst/>
          </a:prstGeom>
        </p:spPr>
      </p:pic>
      <p:pic>
        <p:nvPicPr>
          <p:cNvPr id="6" name="Figures 2025-11-20 11-37-14">
            <a:hlinkClick r:id="" action="ppaction://media"/>
            <a:extLst>
              <a:ext uri="{FF2B5EF4-FFF2-40B4-BE49-F238E27FC236}">
                <a16:creationId xmlns:a16="http://schemas.microsoft.com/office/drawing/2014/main" id="{1B626DB9-6E01-0828-ED9B-4B54BCAE95D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118837" y="1711140"/>
            <a:ext cx="3954326" cy="3135037"/>
          </a:xfrm>
          <a:prstGeom prst="rect">
            <a:avLst/>
          </a:prstGeom>
        </p:spPr>
      </p:pic>
      <p:pic>
        <p:nvPicPr>
          <p:cNvPr id="9" name="20251127-0549-34.3440391">
            <a:hlinkClick r:id="" action="ppaction://media"/>
            <a:extLst>
              <a:ext uri="{FF2B5EF4-FFF2-40B4-BE49-F238E27FC236}">
                <a16:creationId xmlns:a16="http://schemas.microsoft.com/office/drawing/2014/main" id="{9682316D-9CCC-EBED-9396-EAB939A11D04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rcRect t="10442" b="4785"/>
          <a:stretch>
            <a:fillRect/>
          </a:stretch>
        </p:blipFill>
        <p:spPr>
          <a:xfrm>
            <a:off x="8166502" y="2054942"/>
            <a:ext cx="4070976" cy="27912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1B19B3-2F4B-FD26-DBEC-025AE471C490}"/>
              </a:ext>
            </a:extLst>
          </p:cNvPr>
          <p:cNvSpPr txBox="1"/>
          <p:nvPr/>
        </p:nvSpPr>
        <p:spPr>
          <a:xfrm>
            <a:off x="4948280" y="5525615"/>
            <a:ext cx="229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Assigned Weight as 1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0E3D2E-8EA1-6643-ED24-411D1C233758}"/>
              </a:ext>
            </a:extLst>
          </p:cNvPr>
          <p:cNvSpPr txBox="1"/>
          <p:nvPr/>
        </p:nvSpPr>
        <p:spPr>
          <a:xfrm>
            <a:off x="9026209" y="5465134"/>
            <a:ext cx="2605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Assigned Weight as 1/d </a:t>
            </a:r>
          </a:p>
          <a:p>
            <a:pPr algn="ctr"/>
            <a:r>
              <a:rPr lang="en-US" sz="1200" dirty="0"/>
              <a:t>Where d is distance between the transmitter and receiver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9648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8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22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>
                <p:cTn id="2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8F78-6D36-26BD-603A-AD37936E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A60CB-D7C1-F07D-D203-B8CA43A3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17</a:t>
            </a:fld>
            <a:endParaRPr lang="en-IN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1D925C5-860D-4AC6-BBB2-B477013692AB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977880" cy="324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900" b="1" dirty="0"/>
              <a:t>GRAPH EXPLAINATION</a:t>
            </a:r>
            <a:endParaRPr lang="en-IN" sz="3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2A6E30-5B0F-D873-710E-89D1A10D5D97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921D4A-7128-1DC8-25F9-347A05431DA1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23990C5-9434-5052-13AD-5B4AC7A0A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19252"/>
            <a:ext cx="4941884" cy="31025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CC1421-F6E7-02EE-7A81-5F598303C9AA}"/>
              </a:ext>
            </a:extLst>
          </p:cNvPr>
          <p:cNvSpPr txBox="1"/>
          <p:nvPr/>
        </p:nvSpPr>
        <p:spPr>
          <a:xfrm>
            <a:off x="5954718" y="819252"/>
            <a:ext cx="586136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rgbClr val="FF0000"/>
                </a:solidFill>
              </a:rPr>
              <a:t>Zone 1: The "Vanishing" Zone (Signal Magnitude x&lt;1)</a:t>
            </a:r>
          </a:p>
          <a:p>
            <a:r>
              <a:rPr lang="en-US" sz="1200" dirty="0"/>
              <a:t>This zone represents the low-amplitude signals, which is often where background noise resides in your reconstructed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L2 Penalty (x2 - Ridge)</a:t>
            </a:r>
          </a:p>
          <a:p>
            <a:r>
              <a:rPr lang="en-US" sz="1200" b="1" dirty="0"/>
              <a:t>Cost Behavior:</a:t>
            </a:r>
            <a:r>
              <a:rPr lang="en-US" sz="1200" dirty="0"/>
              <a:t> The slope of the x2 curve is very shallow near zero. When x is small the penalty cost is </a:t>
            </a:r>
            <a:r>
              <a:rPr lang="en-US" sz="1200" b="1" dirty="0"/>
              <a:t>significantly smaller</a:t>
            </a:r>
            <a:r>
              <a:rPr lang="en-US" sz="1200" dirty="0"/>
              <a:t> than the L1​ cost.</a:t>
            </a:r>
          </a:p>
          <a:p>
            <a:r>
              <a:rPr lang="en-US" sz="1200" b="1" dirty="0"/>
              <a:t>Result (Weak Penalization):</a:t>
            </a:r>
            <a:r>
              <a:rPr lang="en-US" sz="1200" dirty="0"/>
              <a:t> The cost function barely penalizes the small noise components. Consequently, the noise values are shrunk but </a:t>
            </a:r>
            <a:r>
              <a:rPr lang="en-US" sz="1200" b="1" dirty="0"/>
              <a:t>never forced exactly to zero</a:t>
            </a:r>
            <a:r>
              <a:rPr lang="en-US" sz="1200" dirty="0"/>
              <a:t>. This is why Ridge solutions often have a noisy, non-zero background baseline.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L1 Penalty (∣x∣ - TV/Lasso)</a:t>
            </a:r>
          </a:p>
          <a:p>
            <a:r>
              <a:rPr lang="en-US" sz="1200" b="1" dirty="0"/>
              <a:t>Cost Behavior:</a:t>
            </a:r>
            <a:r>
              <a:rPr lang="en-US" sz="1200" dirty="0"/>
              <a:t> The slope of the ∣x∣ curve is steep and constant near zero. When x is small , the penalty cost is </a:t>
            </a:r>
            <a:r>
              <a:rPr lang="en-US" sz="1200" b="1" dirty="0"/>
              <a:t>relatively large</a:t>
            </a:r>
            <a:r>
              <a:rPr lang="en-US" sz="1200" dirty="0"/>
              <a:t> compared to the L2 cost.</a:t>
            </a:r>
          </a:p>
          <a:p>
            <a:r>
              <a:rPr lang="en-US" sz="1200" b="1" dirty="0"/>
              <a:t>Result (Sparsity Promotion):</a:t>
            </a:r>
            <a:r>
              <a:rPr lang="en-US" sz="1200" dirty="0"/>
              <a:t> The L1 penalty aggressively punishes even small, non-zero values. The optimizer finds that the cheapest way to satisfy the penalty is to set the noise values </a:t>
            </a:r>
            <a:r>
              <a:rPr lang="en-US" sz="1200" b="1" dirty="0"/>
              <a:t>exactly to zero</a:t>
            </a:r>
            <a:r>
              <a:rPr lang="en-US" sz="1200" dirty="0"/>
              <a:t>. This ability to force coefficients to zero is called </a:t>
            </a:r>
            <a:r>
              <a:rPr lang="en-US" sz="1200" b="1" dirty="0"/>
              <a:t>Sparsity</a:t>
            </a:r>
            <a:r>
              <a:rPr lang="en-US" sz="1200" dirty="0"/>
              <a:t>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052C2-6237-922E-FB01-772CECA4DC00}"/>
              </a:ext>
            </a:extLst>
          </p:cNvPr>
          <p:cNvSpPr txBox="1"/>
          <p:nvPr/>
        </p:nvSpPr>
        <p:spPr>
          <a:xfrm>
            <a:off x="3901440" y="3989351"/>
            <a:ext cx="791464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Zone 2: The "Explosive" Zone (Signal Magnitude x&gt;1)</a:t>
            </a:r>
          </a:p>
          <a:p>
            <a:r>
              <a:rPr lang="en-US" sz="1200" dirty="0"/>
              <a:t>This zone represents the high-amplitude signals, such as the core of your object's attenuation blob.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L2 Penalty (x2 - Ridge)</a:t>
            </a:r>
          </a:p>
          <a:p>
            <a:r>
              <a:rPr lang="en-US" sz="1200" b="1" dirty="0"/>
              <a:t>Cost Behavior:</a:t>
            </a:r>
            <a:r>
              <a:rPr lang="en-US" sz="1200" dirty="0"/>
              <a:t> The cost grows </a:t>
            </a:r>
            <a:r>
              <a:rPr lang="en-US" sz="1200" b="1" dirty="0"/>
              <a:t>quadratically</a:t>
            </a:r>
            <a:r>
              <a:rPr lang="en-US" sz="1200" dirty="0"/>
              <a:t> . The penalty cost rapidly outweighs the data fitting cost.</a:t>
            </a:r>
          </a:p>
          <a:p>
            <a:r>
              <a:rPr lang="en-US" sz="1200" b="1" dirty="0"/>
              <a:t>Result (Edge Crushing):</a:t>
            </a:r>
            <a:r>
              <a:rPr lang="en-US" sz="1200" dirty="0"/>
              <a:t> The algorithm violently suppresses large values. It cannot tolerate sharp, high-intensity edges and is forced to </a:t>
            </a:r>
            <a:r>
              <a:rPr lang="en-US" sz="1200" b="1" dirty="0"/>
              <a:t>crush and spread</a:t>
            </a:r>
            <a:r>
              <a:rPr lang="en-US" sz="1200" dirty="0"/>
              <a:t> the energy to minimize the squared cost. This is the source of the blurring in Ridge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L1 Penalty (∣x∣ - TV/Lasso)</a:t>
            </a:r>
          </a:p>
          <a:p>
            <a:r>
              <a:rPr lang="en-US" sz="1200" b="1" dirty="0"/>
              <a:t>Cost Behavior:</a:t>
            </a:r>
            <a:r>
              <a:rPr lang="en-US" sz="1200" dirty="0"/>
              <a:t> The cost grows </a:t>
            </a:r>
            <a:r>
              <a:rPr lang="en-US" sz="1200" b="1" dirty="0"/>
              <a:t>linearly</a:t>
            </a:r>
            <a:r>
              <a:rPr lang="en-US" sz="1200" dirty="0"/>
              <a:t> (10×α). While high, the cost increase is manageable.</a:t>
            </a:r>
          </a:p>
          <a:p>
            <a:r>
              <a:rPr lang="en-US" sz="1200" b="1" dirty="0"/>
              <a:t>Result (Acceptance of Large Values):</a:t>
            </a:r>
            <a:r>
              <a:rPr lang="en-US" sz="1200" dirty="0"/>
              <a:t> The L1 penalty does not disproportionately punish large values. Therefore, it is willing to tolerate the high pixel values needed to reconstruct </a:t>
            </a:r>
            <a:r>
              <a:rPr lang="en-US" sz="1200" b="1" dirty="0"/>
              <a:t>sharp, clear edges</a:t>
            </a:r>
            <a:r>
              <a:rPr lang="en-US" sz="1200" dirty="0"/>
              <a:t> as long as those edges are sparse (which is the premise of TV regularization).</a:t>
            </a:r>
          </a:p>
        </p:txBody>
      </p:sp>
    </p:spTree>
    <p:extLst>
      <p:ext uri="{BB962C8B-B14F-4D97-AF65-F5344CB8AC3E}">
        <p14:creationId xmlns:p14="http://schemas.microsoft.com/office/powerpoint/2010/main" val="186349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CC4D-9CF9-2CAC-46D6-30C850A7D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E7F43-A4FE-5D15-3A1C-2FCAFA8F2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1186122" cy="33855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b="1" dirty="0"/>
              <a:t>TV Regression : Preserving Edges</a:t>
            </a:r>
            <a:endParaRPr lang="en-IN" sz="40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94D8B-C7B9-1A4E-68AC-E618CAB5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18</a:t>
            </a:fld>
            <a:endParaRPr lang="en-IN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C8C239-717F-9F47-CED1-C48FA710B4C1}"/>
              </a:ext>
            </a:extLst>
          </p:cNvPr>
          <p:cNvSpPr txBox="1">
            <a:spLocks/>
          </p:cNvSpPr>
          <p:nvPr/>
        </p:nvSpPr>
        <p:spPr>
          <a:xfrm>
            <a:off x="838199" y="333447"/>
            <a:ext cx="11186123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/>
              <a:t>R</a:t>
            </a:r>
            <a:r>
              <a:rPr lang="en-IN" sz="3900" b="1" dirty="0"/>
              <a:t>EGULARIZATION  </a:t>
            </a:r>
            <a:endParaRPr lang="en-IN" sz="3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D6E36C-E875-0F79-F228-AF5F3C1A9B02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C60159-45A3-2030-AB3D-18D6ADEA8725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  <p:pic>
        <p:nvPicPr>
          <p:cNvPr id="7" name="Google Shape;111;p15" descr="image.png">
            <a:extLst>
              <a:ext uri="{FF2B5EF4-FFF2-40B4-BE49-F238E27FC236}">
                <a16:creationId xmlns:a16="http://schemas.microsoft.com/office/drawing/2014/main" id="{4A5A4C23-03E9-9D59-B3B4-61042391D9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8094" y="1529909"/>
            <a:ext cx="5271457" cy="473724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6;p15">
            <a:extLst>
              <a:ext uri="{FF2B5EF4-FFF2-40B4-BE49-F238E27FC236}">
                <a16:creationId xmlns:a16="http://schemas.microsoft.com/office/drawing/2014/main" id="{296793F0-6FB9-E52E-95BF-208E53B32BD5}"/>
              </a:ext>
            </a:extLst>
          </p:cNvPr>
          <p:cNvSpPr txBox="1"/>
          <p:nvPr/>
        </p:nvSpPr>
        <p:spPr>
          <a:xfrm>
            <a:off x="944003" y="2697632"/>
            <a:ext cx="586739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1600" kern="0" dirty="0">
                <a:ea typeface="Roboto"/>
                <a:cs typeface="Roboto"/>
                <a:sym typeface="Roboto"/>
              </a:rPr>
              <a:t>Comparison of transitioning from </a:t>
            </a:r>
            <a:r>
              <a:rPr lang="en-US" sz="1600" b="1" kern="0" dirty="0">
                <a:ea typeface="Roboto"/>
                <a:cs typeface="Roboto"/>
                <a:sym typeface="Roboto"/>
              </a:rPr>
              <a:t>0 to 10</a:t>
            </a:r>
            <a:r>
              <a:rPr lang="en-US" sz="1600" kern="0" dirty="0">
                <a:ea typeface="Roboto"/>
                <a:cs typeface="Roboto"/>
                <a:sym typeface="Roboto"/>
              </a:rPr>
              <a:t> using L1 Norm of Gradient (</a:t>
            </a:r>
            <a:r>
              <a:rPr lang="en-US" sz="1600" i="1" kern="0" dirty="0">
                <a:ea typeface="Roboto"/>
                <a:cs typeface="Roboto"/>
                <a:sym typeface="Roboto"/>
              </a:rPr>
              <a:t>|Change|</a:t>
            </a:r>
            <a:r>
              <a:rPr lang="en-US" sz="1600" kern="0" dirty="0">
                <a:ea typeface="Roboto"/>
                <a:cs typeface="Roboto"/>
                <a:sym typeface="Roboto"/>
              </a:rPr>
              <a:t>).</a:t>
            </a:r>
            <a:endParaRPr lang="en-US" sz="1600" kern="0" dirty="0">
              <a:cs typeface="Arial"/>
              <a:sym typeface="Arial"/>
            </a:endParaRPr>
          </a:p>
        </p:txBody>
      </p:sp>
      <p:sp>
        <p:nvSpPr>
          <p:cNvPr id="15" name="Google Shape;119;p15">
            <a:extLst>
              <a:ext uri="{FF2B5EF4-FFF2-40B4-BE49-F238E27FC236}">
                <a16:creationId xmlns:a16="http://schemas.microsoft.com/office/drawing/2014/main" id="{FDAF167B-5561-DA71-CA50-99F9DC085C77}"/>
              </a:ext>
            </a:extLst>
          </p:cNvPr>
          <p:cNvSpPr txBox="1"/>
          <p:nvPr/>
        </p:nvSpPr>
        <p:spPr>
          <a:xfrm>
            <a:off x="612845" y="4674706"/>
            <a:ext cx="5665974" cy="16773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1500" b="1" kern="0" dirty="0">
                <a:solidFill>
                  <a:srgbClr val="00B0F0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rPr>
              <a:t>RESULT: </a:t>
            </a:r>
            <a:r>
              <a:rPr lang="en-US" sz="140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Since the cost is the same, the solver chooses </a:t>
            </a:r>
            <a:r>
              <a:rPr lang="en-US" sz="1400" b="1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Option B</a:t>
            </a:r>
            <a:r>
              <a:rPr lang="en-US" sz="140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 because L1 norms promote </a:t>
            </a:r>
            <a:r>
              <a:rPr lang="en-US" sz="1400" b="1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Sparsity</a:t>
            </a:r>
            <a:r>
              <a:rPr lang="en-US" sz="140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 (zeros). Option B has 4 zeros; Option A has none.</a:t>
            </a:r>
            <a:endParaRPr lang="en-US" sz="1400" dirty="0">
              <a:latin typeface="Aptos" panose="020B0004020202020204" pitchFamily="34" charset="0"/>
            </a:endParaRPr>
          </a:p>
          <a:p>
            <a:pPr>
              <a:buClr>
                <a:srgbClr val="000000"/>
              </a:buClr>
            </a:pPr>
            <a:r>
              <a:rPr lang="en-US" sz="1500" b="1" dirty="0">
                <a:solidFill>
                  <a:srgbClr val="00B0F0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rPr>
              <a:t>CONCLUSION:</a:t>
            </a:r>
            <a:r>
              <a:rPr lang="en-US" sz="1500" dirty="0">
                <a:solidFill>
                  <a:srgbClr val="00B0F0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50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The math forces the image to be flat everywhere and jump all at once. </a:t>
            </a:r>
            <a:r>
              <a:rPr lang="en-US" sz="1500" b="1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That is an edge.</a:t>
            </a:r>
            <a:r>
              <a:rPr lang="en-US" sz="1600" b="1" kern="0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Promotes </a:t>
            </a:r>
            <a:r>
              <a:rPr lang="en-US" sz="1600" b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sparsity in the gradient domain</a:t>
            </a:r>
            <a:r>
              <a:rPr lang="en-US" sz="16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, resulting in large, flat regions and </a:t>
            </a:r>
            <a:r>
              <a:rPr lang="en-US" sz="1600" b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sharp, clean boundaries. </a:t>
            </a:r>
            <a:r>
              <a:rPr lang="en-US" sz="16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Ideal for imaging distinct, blocky objects.</a:t>
            </a:r>
            <a:endParaRPr lang="en-US" sz="1200" kern="0" dirty="0">
              <a:latin typeface="Aptos" panose="020B0004020202020204" pitchFamily="34" charset="0"/>
              <a:cs typeface="Arial"/>
              <a:sym typeface="Arial"/>
            </a:endParaRPr>
          </a:p>
        </p:txBody>
      </p:sp>
      <p:graphicFrame>
        <p:nvGraphicFramePr>
          <p:cNvPr id="18" name="Google Shape;117;p15">
            <a:extLst>
              <a:ext uri="{FF2B5EF4-FFF2-40B4-BE49-F238E27FC236}">
                <a16:creationId xmlns:a16="http://schemas.microsoft.com/office/drawing/2014/main" id="{C743BEAD-1510-D90D-0156-65FE691CC4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854501"/>
              </p:ext>
            </p:extLst>
          </p:nvPr>
        </p:nvGraphicFramePr>
        <p:xfrm>
          <a:off x="896508" y="3282010"/>
          <a:ext cx="5038069" cy="137173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505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12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38BDF8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Option A: Smooth Ramp</a:t>
                      </a:r>
                      <a:endParaRPr sz="1600" dirty="0"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38BDF8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Option B: Sharp Edge</a:t>
                      </a:r>
                      <a:endParaRPr sz="1600" dirty="0">
                        <a:latin typeface="+mj-lt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0 → 2 → 4 → 6 → 8 → 10</a:t>
                      </a:r>
                      <a:endParaRPr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0 → 0 → 0 → 0 → 10 → 10</a:t>
                      </a:r>
                      <a:endParaRPr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Cost: |2| + |2| + |2| + |2| + |2|</a:t>
                      </a:r>
                      <a:br>
                        <a:rPr lang="en-US" sz="160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Total = 10</a:t>
                      </a:r>
                      <a:endParaRPr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Cost: |0| + |0| + |0| + |10| + |0|</a:t>
                      </a:r>
                      <a:br>
                        <a:rPr lang="en-US" sz="160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Total = 10</a:t>
                      </a:r>
                      <a:endParaRPr sz="16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Google Shape;130;p16">
            <a:extLst>
              <a:ext uri="{FF2B5EF4-FFF2-40B4-BE49-F238E27FC236}">
                <a16:creationId xmlns:a16="http://schemas.microsoft.com/office/drawing/2014/main" id="{7FDACF3E-F8C6-3B66-3072-AF8CF4524E5B}"/>
              </a:ext>
            </a:extLst>
          </p:cNvPr>
          <p:cNvSpPr txBox="1"/>
          <p:nvPr/>
        </p:nvSpPr>
        <p:spPr>
          <a:xfrm>
            <a:off x="6591301" y="1277083"/>
            <a:ext cx="50482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latin typeface="Aptos" panose="020B0004020202020204" pitchFamily="34" charset="0"/>
                <a:ea typeface="Roboto" panose="02000000000000000000" pitchFamily="2" charset="0"/>
                <a:cs typeface="Roboto"/>
                <a:sym typeface="Roboto"/>
              </a:rPr>
              <a:t>Step 1:   The Cost Function</a:t>
            </a:r>
            <a:endParaRPr dirty="0">
              <a:latin typeface="Aptos" panose="020B0004020202020204" pitchFamily="34" charset="0"/>
              <a:ea typeface="Roboto" panose="02000000000000000000" pitchFamily="2" charset="0"/>
            </a:endParaRPr>
          </a:p>
        </p:txBody>
      </p:sp>
      <p:sp>
        <p:nvSpPr>
          <p:cNvPr id="21" name="Google Shape;134;p16">
            <a:extLst>
              <a:ext uri="{FF2B5EF4-FFF2-40B4-BE49-F238E27FC236}">
                <a16:creationId xmlns:a16="http://schemas.microsoft.com/office/drawing/2014/main" id="{B7558BC2-82C4-2811-DDA0-33ED5C237E64}"/>
              </a:ext>
            </a:extLst>
          </p:cNvPr>
          <p:cNvSpPr txBox="1"/>
          <p:nvPr/>
        </p:nvSpPr>
        <p:spPr>
          <a:xfrm>
            <a:off x="6591301" y="2457048"/>
            <a:ext cx="5425811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/>
              <a:t>TV Solution Process: Iteration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Non-Differentiable:</a:t>
            </a:r>
            <a:r>
              <a:rPr lang="en-US" sz="1600" dirty="0"/>
              <a:t> The L1 norm prevents direct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Iterative Optimization:</a:t>
            </a:r>
            <a:r>
              <a:rPr lang="en-US" sz="1600" dirty="0"/>
              <a:t> The solver refines the image (x) over thousands of steps to minimize the total cost, until it converges.</a:t>
            </a:r>
            <a:endParaRPr lang="en-US" sz="1600" dirty="0">
              <a:effectLst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E065BC-B2E7-E1A2-1ECF-FB013A8411AD}"/>
              </a:ext>
            </a:extLst>
          </p:cNvPr>
          <p:cNvSpPr/>
          <p:nvPr/>
        </p:nvSpPr>
        <p:spPr>
          <a:xfrm>
            <a:off x="6513739" y="4034399"/>
            <a:ext cx="5510584" cy="23564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Google Shape;115;p15">
            <a:extLst>
              <a:ext uri="{FF2B5EF4-FFF2-40B4-BE49-F238E27FC236}">
                <a16:creationId xmlns:a16="http://schemas.microsoft.com/office/drawing/2014/main" id="{0F67E2C6-D844-D59C-DC3B-630F2880AD6C}"/>
              </a:ext>
            </a:extLst>
          </p:cNvPr>
          <p:cNvSpPr txBox="1"/>
          <p:nvPr/>
        </p:nvSpPr>
        <p:spPr>
          <a:xfrm>
            <a:off x="6598512" y="4061699"/>
            <a:ext cx="565070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Code Implementation (Closed-Form Solution)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5" name="Google Shape;146;p17">
            <a:extLst>
              <a:ext uri="{FF2B5EF4-FFF2-40B4-BE49-F238E27FC236}">
                <a16:creationId xmlns:a16="http://schemas.microsoft.com/office/drawing/2014/main" id="{D9376129-B6AA-1B76-D6B5-D3971E2268DA}"/>
              </a:ext>
            </a:extLst>
          </p:cNvPr>
          <p:cNvSpPr txBox="1"/>
          <p:nvPr/>
        </p:nvSpPr>
        <p:spPr>
          <a:xfrm>
            <a:off x="944003" y="1299929"/>
            <a:ext cx="55006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Why we switched to TV</a:t>
            </a:r>
            <a:endParaRPr sz="2200" dirty="0"/>
          </a:p>
        </p:txBody>
      </p:sp>
      <p:sp>
        <p:nvSpPr>
          <p:cNvPr id="6" name="Google Shape;147;p17">
            <a:extLst>
              <a:ext uri="{FF2B5EF4-FFF2-40B4-BE49-F238E27FC236}">
                <a16:creationId xmlns:a16="http://schemas.microsoft.com/office/drawing/2014/main" id="{60F0A152-ACFE-9422-BE87-814556548856}"/>
              </a:ext>
            </a:extLst>
          </p:cNvPr>
          <p:cNvSpPr txBox="1"/>
          <p:nvPr/>
        </p:nvSpPr>
        <p:spPr>
          <a:xfrm>
            <a:off x="838199" y="1640554"/>
            <a:ext cx="52387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Ridge creates blurry blobs. Real objects have </a:t>
            </a:r>
            <a:r>
              <a:rPr lang="en-US" sz="1600" b="1" i="0" u="none" strike="noStrike" cap="none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hard edges</a:t>
            </a:r>
            <a:r>
              <a:rPr lang="en-US" sz="1600" b="0" i="0" u="none" strike="noStrike" cap="none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TV penalizes the </a:t>
            </a:r>
            <a:r>
              <a:rPr lang="en-US" sz="1600" b="1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Gradient</a:t>
            </a:r>
            <a:r>
              <a:rPr lang="en-US" sz="160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 (</a:t>
            </a:r>
            <a:r>
              <a:rPr lang="en-US" sz="1600" i="1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∇x</a:t>
            </a:r>
            <a:r>
              <a:rPr lang="en-US" sz="160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), which is the </a:t>
            </a:r>
            <a:r>
              <a:rPr lang="en-US" sz="1600" i="1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change</a:t>
            </a:r>
            <a:r>
              <a:rPr lang="en-US" sz="1600" dirty="0">
                <a:latin typeface="Aptos" panose="020B0004020202020204" pitchFamily="34" charset="0"/>
                <a:ea typeface="Roboto"/>
                <a:cs typeface="Roboto"/>
                <a:sym typeface="Roboto"/>
              </a:rPr>
              <a:t> between pixels.</a:t>
            </a: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EB96DC-9EB5-5C38-B37E-55AE90FA0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603" y="4437112"/>
            <a:ext cx="3808950" cy="980876"/>
          </a:xfrm>
          <a:prstGeom prst="rect">
            <a:avLst/>
          </a:prstGeom>
        </p:spPr>
      </p:pic>
      <p:sp>
        <p:nvSpPr>
          <p:cNvPr id="17" name="Google Shape;146;p16">
            <a:extLst>
              <a:ext uri="{FF2B5EF4-FFF2-40B4-BE49-F238E27FC236}">
                <a16:creationId xmlns:a16="http://schemas.microsoft.com/office/drawing/2014/main" id="{8A881937-B8C8-9EBC-812E-7FE65B3C13EA}"/>
              </a:ext>
            </a:extLst>
          </p:cNvPr>
          <p:cNvSpPr txBox="1"/>
          <p:nvPr/>
        </p:nvSpPr>
        <p:spPr>
          <a:xfrm>
            <a:off x="6598512" y="5494092"/>
            <a:ext cx="2724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1. Define Solver Options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148;p16">
            <a:extLst>
              <a:ext uri="{FF2B5EF4-FFF2-40B4-BE49-F238E27FC236}">
                <a16:creationId xmlns:a16="http://schemas.microsoft.com/office/drawing/2014/main" id="{3B863DB4-5F37-C200-CD28-F0C08AB089CC}"/>
              </a:ext>
            </a:extLst>
          </p:cNvPr>
          <p:cNvSpPr txBox="1"/>
          <p:nvPr/>
        </p:nvSpPr>
        <p:spPr>
          <a:xfrm>
            <a:off x="6591301" y="5708017"/>
            <a:ext cx="591845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2. Call specialized iterative solver (e.g., TVAL3)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149;p16">
            <a:extLst>
              <a:ext uri="{FF2B5EF4-FFF2-40B4-BE49-F238E27FC236}">
                <a16:creationId xmlns:a16="http://schemas.microsoft.com/office/drawing/2014/main" id="{CA6EF411-4D4E-833D-E2DC-2D9C1DA88121}"/>
              </a:ext>
            </a:extLst>
          </p:cNvPr>
          <p:cNvSpPr txBox="1"/>
          <p:nvPr/>
        </p:nvSpPr>
        <p:spPr>
          <a:xfrm>
            <a:off x="6598512" y="5928896"/>
            <a:ext cx="511812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Finds optimal x over many steps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150;p16">
            <a:extLst>
              <a:ext uri="{FF2B5EF4-FFF2-40B4-BE49-F238E27FC236}">
                <a16:creationId xmlns:a16="http://schemas.microsoft.com/office/drawing/2014/main" id="{47D21A56-0A05-0B19-56A8-CF33BD35B9A7}"/>
              </a:ext>
            </a:extLst>
          </p:cNvPr>
          <p:cNvSpPr txBox="1"/>
          <p:nvPr/>
        </p:nvSpPr>
        <p:spPr>
          <a:xfrm>
            <a:off x="6598512" y="6148601"/>
            <a:ext cx="511812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3. Vectorization and Constraint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C8D6A64-280D-BAAD-A649-8A13C798E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85" y="1582581"/>
            <a:ext cx="4341515" cy="84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54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7DFF-24A1-2FB5-C58C-3F9D4BA5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D110-F245-802F-6266-2939DA985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1186122" cy="33855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Autofit/>
          </a:bodyPr>
          <a:lstStyle/>
          <a:p>
            <a:pPr marL="0" lvl="0" indent="0" algn="ctr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lang="en-US" sz="1800" b="1" kern="0" dirty="0">
                <a:latin typeface="+mj-lt"/>
                <a:ea typeface="Merriweather"/>
                <a:cs typeface="Merriweather"/>
                <a:sym typeface="Merriweather"/>
              </a:rPr>
              <a:t>Centroid Extraction: From Image to Trajectory Point</a:t>
            </a:r>
            <a:endParaRPr lang="en-US" sz="1800" kern="0" dirty="0">
              <a:latin typeface="+mj-lt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14536-97DD-A420-2666-4C64CEED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19</a:t>
            </a:fld>
            <a:endParaRPr lang="en-IN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FDC87B6-3045-B9AF-6BCC-A324BF176229}"/>
              </a:ext>
            </a:extLst>
          </p:cNvPr>
          <p:cNvSpPr txBox="1">
            <a:spLocks/>
          </p:cNvSpPr>
          <p:nvPr/>
        </p:nvSpPr>
        <p:spPr>
          <a:xfrm>
            <a:off x="838199" y="333447"/>
            <a:ext cx="11186123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/>
              <a:t>FINAL TRAJECTORY</a:t>
            </a:r>
            <a:endParaRPr lang="en-IN" sz="3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057DF3-527D-F90A-8FC3-B6E5524CCEF4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2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FE0586-7F55-22A8-461D-433CAD50ABB4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  <p:sp>
        <p:nvSpPr>
          <p:cNvPr id="9" name="Google Shape;182;p18">
            <a:extLst>
              <a:ext uri="{FF2B5EF4-FFF2-40B4-BE49-F238E27FC236}">
                <a16:creationId xmlns:a16="http://schemas.microsoft.com/office/drawing/2014/main" id="{92FF7EF1-C32A-8C9E-A963-55FE5E1A4E26}"/>
              </a:ext>
            </a:extLst>
          </p:cNvPr>
          <p:cNvSpPr txBox="1"/>
          <p:nvPr/>
        </p:nvSpPr>
        <p:spPr>
          <a:xfrm>
            <a:off x="852681" y="1362285"/>
            <a:ext cx="5130641" cy="2049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  <a:buClr>
                <a:srgbClr val="000000"/>
              </a:buClr>
              <a:defRPr/>
            </a:pPr>
            <a:r>
              <a:rPr lang="en-US" sz="2100" b="1" kern="0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Trajectory Construction</a:t>
            </a:r>
            <a:endParaRPr lang="en-US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>
              <a:lnSpc>
                <a:spcPct val="120000"/>
              </a:lnSpc>
              <a:buClr>
                <a:srgbClr val="000000"/>
              </a:buClr>
            </a:pP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The entire tracking process involves:</a:t>
            </a:r>
          </a:p>
          <a:p>
            <a:pPr marL="285750" indent="-285750">
              <a:lnSpc>
                <a:spcPct val="12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Load all time-series data (</a:t>
            </a:r>
            <a:r>
              <a:rPr lang="en-US" sz="1500" i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P_{tot}, P_{</a:t>
            </a:r>
            <a:r>
              <a:rPr lang="en-US" sz="1500" i="1" kern="0" dirty="0" err="1">
                <a:latin typeface="Aptos" panose="020B0004020202020204" pitchFamily="34" charset="0"/>
                <a:ea typeface="DM Sans"/>
                <a:cs typeface="DM Sans"/>
                <a:sym typeface="DM Sans"/>
              </a:rPr>
              <a:t>inc</a:t>
            </a:r>
            <a:r>
              <a:rPr lang="en-US" sz="1500" i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}</a:t>
            </a: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)</a:t>
            </a:r>
          </a:p>
          <a:p>
            <a:pPr marL="285750" indent="-285750">
              <a:lnSpc>
                <a:spcPct val="12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Loop </a:t>
            </a:r>
            <a:r>
              <a:rPr lang="en-US" sz="1500" i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T</a:t>
            </a: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 times (for each frame)</a:t>
            </a:r>
          </a:p>
          <a:p>
            <a:pPr marL="285750" indent="-285750">
              <a:lnSpc>
                <a:spcPct val="12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Solve the regularized inverse problem for </a:t>
            </a:r>
            <a:r>
              <a:rPr lang="en-US" sz="1500" i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O_{</a:t>
            </a:r>
            <a:r>
              <a:rPr lang="en-US" sz="1500" i="1" kern="0" dirty="0" err="1">
                <a:latin typeface="Aptos" panose="020B0004020202020204" pitchFamily="34" charset="0"/>
                <a:ea typeface="DM Sans"/>
                <a:cs typeface="DM Sans"/>
                <a:sym typeface="DM Sans"/>
              </a:rPr>
              <a:t>img</a:t>
            </a:r>
            <a:r>
              <a:rPr lang="en-US" sz="1500" i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}</a:t>
            </a:r>
            <a:endParaRPr lang="en-US" sz="1500" kern="0" dirty="0"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2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Extract the centroid (</a:t>
            </a:r>
            <a:r>
              <a:rPr lang="en-US" sz="1500" i="1" kern="0" dirty="0" err="1">
                <a:latin typeface="Aptos" panose="020B0004020202020204" pitchFamily="34" charset="0"/>
                <a:ea typeface="DM Sans"/>
                <a:cs typeface="DM Sans"/>
                <a:sym typeface="DM Sans"/>
              </a:rPr>
              <a:t>x_c</a:t>
            </a:r>
            <a:r>
              <a:rPr lang="en-US" sz="1500" i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, </a:t>
            </a:r>
            <a:r>
              <a:rPr lang="en-US" sz="1500" i="1" kern="0" dirty="0" err="1">
                <a:latin typeface="Aptos" panose="020B0004020202020204" pitchFamily="34" charset="0"/>
                <a:ea typeface="DM Sans"/>
                <a:cs typeface="DM Sans"/>
                <a:sym typeface="DM Sans"/>
              </a:rPr>
              <a:t>y_c</a:t>
            </a: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)</a:t>
            </a:r>
          </a:p>
          <a:p>
            <a:pPr marL="285750" indent="-285750">
              <a:lnSpc>
                <a:spcPct val="12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500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Animate the sequence of centroids to display the path</a:t>
            </a:r>
            <a:endParaRPr lang="en-US" sz="1500" kern="0" dirty="0">
              <a:latin typeface="Aptos" panose="020B0004020202020204" pitchFamily="34" charset="0"/>
              <a:cs typeface="Arial"/>
              <a:sym typeface="Arial"/>
            </a:endParaRPr>
          </a:p>
        </p:txBody>
      </p:sp>
      <p:pic>
        <p:nvPicPr>
          <p:cNvPr id="40" name="Google Shape;200;p20" descr="image.png">
            <a:extLst>
              <a:ext uri="{FF2B5EF4-FFF2-40B4-BE49-F238E27FC236}">
                <a16:creationId xmlns:a16="http://schemas.microsoft.com/office/drawing/2014/main" id="{C6843D0E-ADBE-D218-5211-20E42EC50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4382425"/>
            <a:ext cx="5238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08;p20">
            <a:extLst>
              <a:ext uri="{FF2B5EF4-FFF2-40B4-BE49-F238E27FC236}">
                <a16:creationId xmlns:a16="http://schemas.microsoft.com/office/drawing/2014/main" id="{EB84D6F5-53E2-3692-48B6-6F4814862849}"/>
              </a:ext>
            </a:extLst>
          </p:cNvPr>
          <p:cNvSpPr txBox="1"/>
          <p:nvPr/>
        </p:nvSpPr>
        <p:spPr>
          <a:xfrm>
            <a:off x="1743075" y="4534825"/>
            <a:ext cx="314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61AFEF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max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Google Shape;209;p20">
            <a:extLst>
              <a:ext uri="{FF2B5EF4-FFF2-40B4-BE49-F238E27FC236}">
                <a16:creationId xmlns:a16="http://schemas.microsoft.com/office/drawing/2014/main" id="{A3AA2FB8-B390-A556-02F4-6EBDF79671F0}"/>
              </a:ext>
            </a:extLst>
          </p:cNvPr>
          <p:cNvSpPr txBox="1"/>
          <p:nvPr/>
        </p:nvSpPr>
        <p:spPr>
          <a:xfrm>
            <a:off x="1743075" y="4763425"/>
            <a:ext cx="1152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61AFEF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Threshold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Google Shape;210;p20">
            <a:extLst>
              <a:ext uri="{FF2B5EF4-FFF2-40B4-BE49-F238E27FC236}">
                <a16:creationId xmlns:a16="http://schemas.microsoft.com/office/drawing/2014/main" id="{A7A106F7-4EDF-0FCD-A003-7DCBE04290B0}"/>
              </a:ext>
            </a:extLst>
          </p:cNvPr>
          <p:cNvSpPr txBox="1"/>
          <p:nvPr/>
        </p:nvSpPr>
        <p:spPr>
          <a:xfrm>
            <a:off x="3524250" y="4763425"/>
            <a:ext cx="314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61AFEF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sum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Google Shape;169;p17">
            <a:extLst>
              <a:ext uri="{FF2B5EF4-FFF2-40B4-BE49-F238E27FC236}">
                <a16:creationId xmlns:a16="http://schemas.microsoft.com/office/drawing/2014/main" id="{E4C13756-A6FE-5D20-ECCB-1C125CF16BAE}"/>
              </a:ext>
            </a:extLst>
          </p:cNvPr>
          <p:cNvSpPr txBox="1"/>
          <p:nvPr/>
        </p:nvSpPr>
        <p:spPr>
          <a:xfrm>
            <a:off x="898595" y="5296825"/>
            <a:ext cx="4086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Isolate pixels above 35% of the peak intensity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" name="Google Shape;160;p17">
            <a:extLst>
              <a:ext uri="{FF2B5EF4-FFF2-40B4-BE49-F238E27FC236}">
                <a16:creationId xmlns:a16="http://schemas.microsoft.com/office/drawing/2014/main" id="{7FBDB733-475B-BA0E-0D30-F997B7F24F82}"/>
              </a:ext>
            </a:extLst>
          </p:cNvPr>
          <p:cNvSpPr txBox="1"/>
          <p:nvPr/>
        </p:nvSpPr>
        <p:spPr>
          <a:xfrm>
            <a:off x="838199" y="3758841"/>
            <a:ext cx="565070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Step 1: Thresholding for Object Isolation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1" name="Google Shape;156;p17" descr="image.png">
            <a:extLst>
              <a:ext uri="{FF2B5EF4-FFF2-40B4-BE49-F238E27FC236}">
                <a16:creationId xmlns:a16="http://schemas.microsoft.com/office/drawing/2014/main" id="{31875893-2B95-2520-70E3-C117C9B301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621434"/>
            <a:ext cx="538162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162;p17">
            <a:extLst>
              <a:ext uri="{FF2B5EF4-FFF2-40B4-BE49-F238E27FC236}">
                <a16:creationId xmlns:a16="http://schemas.microsoft.com/office/drawing/2014/main" id="{88076503-1BA2-7968-F413-7CD54F6E8C2A}"/>
              </a:ext>
            </a:extLst>
          </p:cNvPr>
          <p:cNvSpPr txBox="1"/>
          <p:nvPr/>
        </p:nvSpPr>
        <p:spPr>
          <a:xfrm>
            <a:off x="6334125" y="1999383"/>
            <a:ext cx="565070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  <a:buClr>
                <a:srgbClr val="000000"/>
              </a:buClr>
              <a:defRPr/>
            </a:pPr>
            <a:r>
              <a:rPr lang="en-US" sz="2100" b="1" kern="0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Weighted Centroid Calculation</a:t>
            </a:r>
            <a:endParaRPr lang="en-US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" name="Google Shape;163;p17">
            <a:extLst>
              <a:ext uri="{FF2B5EF4-FFF2-40B4-BE49-F238E27FC236}">
                <a16:creationId xmlns:a16="http://schemas.microsoft.com/office/drawing/2014/main" id="{34CACFED-F3C2-D4E7-CF73-2109292808B2}"/>
              </a:ext>
            </a:extLst>
          </p:cNvPr>
          <p:cNvSpPr txBox="1"/>
          <p:nvPr/>
        </p:nvSpPr>
        <p:spPr>
          <a:xfrm>
            <a:off x="6334125" y="2620217"/>
            <a:ext cx="538162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We apply the </a:t>
            </a:r>
            <a:r>
              <a:rPr kumimoji="0" lang="en-US" sz="16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Center of Mass</a:t>
            </a:r>
            <a:r>
              <a:rPr lang="en-US" sz="1650" b="1" kern="0" dirty="0">
                <a:latin typeface="Aptos" panose="020B0004020202020204" pitchFamily="34" charset="0"/>
                <a:ea typeface="DM Sans"/>
                <a:cs typeface="DM Sans"/>
                <a:sym typeface="DM Sans"/>
              </a:rPr>
              <a:t> 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formula, where the pixel intensity (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I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) acts as the weight for its coordinate (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X_{grid}, Y_{grid}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).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54" name="Google Shape;164;p17">
            <a:extLst>
              <a:ext uri="{FF2B5EF4-FFF2-40B4-BE49-F238E27FC236}">
                <a16:creationId xmlns:a16="http://schemas.microsoft.com/office/drawing/2014/main" id="{352DBDE9-5D92-4150-F812-02EE2E2592BD}"/>
              </a:ext>
            </a:extLst>
          </p:cNvPr>
          <p:cNvSpPr txBox="1"/>
          <p:nvPr/>
        </p:nvSpPr>
        <p:spPr>
          <a:xfrm>
            <a:off x="6334125" y="5394180"/>
            <a:ext cx="53816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The result (</a:t>
            </a:r>
            <a:r>
              <a:rPr kumimoji="0" lang="en-US" sz="1650" b="0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x_c</a:t>
            </a:r>
            <a:r>
              <a:rPr kumimoji="0" lang="en-US" sz="165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, </a:t>
            </a:r>
            <a:r>
              <a:rPr kumimoji="0" lang="en-US" sz="1650" b="0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y_c</a:t>
            </a:r>
            <a:r>
              <a:rPr kumimoji="0" lang="en-US" sz="16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DM Sans"/>
                <a:cs typeface="DM Sans"/>
                <a:sym typeface="DM Sans"/>
              </a:rPr>
              <a:t>) is the estimated location of the object for that frame.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55" name="Google Shape;171;p17">
            <a:extLst>
              <a:ext uri="{FF2B5EF4-FFF2-40B4-BE49-F238E27FC236}">
                <a16:creationId xmlns:a16="http://schemas.microsoft.com/office/drawing/2014/main" id="{724E3CC6-197A-F096-3034-42DBE8AD9187}"/>
              </a:ext>
            </a:extLst>
          </p:cNvPr>
          <p:cNvSpPr txBox="1"/>
          <p:nvPr/>
        </p:nvSpPr>
        <p:spPr>
          <a:xfrm>
            <a:off x="6572250" y="3811934"/>
            <a:ext cx="450532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% Weighted Average Formula (Center of Mass)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7304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D2AF-3420-27B7-F1CC-5B24DEF6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478B6-8A08-8261-6928-04B12F10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425324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900" b="1"/>
              <a:t>R</a:t>
            </a:r>
            <a:r>
              <a:rPr lang="en-IN" sz="3900" b="1"/>
              <a:t>EGULARIZATION – TV </a:t>
            </a:r>
            <a:endParaRPr lang="en-IN" sz="3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32905-39AD-903D-AD77-B82AB4F6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20</a:t>
            </a:fld>
            <a:endParaRPr lang="en-IN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6887E6E-6C1E-70B2-D233-3437540F6D84}"/>
              </a:ext>
            </a:extLst>
          </p:cNvPr>
          <p:cNvSpPr txBox="1">
            <a:spLocks/>
          </p:cNvSpPr>
          <p:nvPr/>
        </p:nvSpPr>
        <p:spPr>
          <a:xfrm>
            <a:off x="838200" y="333447"/>
            <a:ext cx="10515600" cy="425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900" b="1"/>
              <a:t>F</a:t>
            </a:r>
            <a:r>
              <a:rPr lang="en-IN" sz="3900" b="1"/>
              <a:t>INAL RESULTS</a:t>
            </a:r>
            <a:endParaRPr lang="en-IN" sz="3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0CB0B3-4CDE-1BC9-3D1B-5A9E78876425}"/>
              </a:ext>
            </a:extLst>
          </p:cNvPr>
          <p:cNvSpPr txBox="1"/>
          <p:nvPr/>
        </p:nvSpPr>
        <p:spPr>
          <a:xfrm>
            <a:off x="612845" y="6416831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Source :   </a:t>
            </a:r>
            <a:r>
              <a:rPr lang="en-US" sz="800">
                <a:hlinkClick r:id="rId6"/>
              </a:rPr>
              <a:t>Reference</a:t>
            </a:r>
            <a:endParaRPr lang="en-IN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8ADA7-F3E4-4255-190A-E4A371892CB3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  <p:pic>
        <p:nvPicPr>
          <p:cNvPr id="8" name="Figures 2025-11-20 11-48-18">
            <a:hlinkClick r:id="" action="ppaction://media"/>
            <a:extLst>
              <a:ext uri="{FF2B5EF4-FFF2-40B4-BE49-F238E27FC236}">
                <a16:creationId xmlns:a16="http://schemas.microsoft.com/office/drawing/2014/main" id="{A9AB4AEF-7BDC-2E2A-0A6A-15148CA058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98347" y="1414669"/>
            <a:ext cx="5924068" cy="4735443"/>
          </a:xfrm>
          <a:prstGeom prst="rect">
            <a:avLst/>
          </a:prstGeom>
        </p:spPr>
      </p:pic>
      <p:pic>
        <p:nvPicPr>
          <p:cNvPr id="5" name="Figures 2025-11-20 11-37-14">
            <a:hlinkClick r:id="" action="ppaction://media"/>
            <a:extLst>
              <a:ext uri="{FF2B5EF4-FFF2-40B4-BE49-F238E27FC236}">
                <a16:creationId xmlns:a16="http://schemas.microsoft.com/office/drawing/2014/main" id="{1D7FB4F5-FA89-9EBC-3BB5-7089AB62E2E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4614" y="1414669"/>
            <a:ext cx="5959040" cy="47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3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5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8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>
                <p:cTn id="2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43B4-407C-8DA8-95E2-DDCE6EA8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25F25-4D8F-B274-83E6-C504AF59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DABA-0385-4836-87A9-ADB21EF0095B}" type="slidenum">
              <a:rPr lang="en-IN" smtClean="0"/>
              <a:t>21</a:t>
            </a:fld>
            <a:endParaRPr lang="en-IN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402FD31-BBD7-A295-E1FA-D27D47A50E2F}"/>
              </a:ext>
            </a:extLst>
          </p:cNvPr>
          <p:cNvSpPr txBox="1">
            <a:spLocks/>
          </p:cNvSpPr>
          <p:nvPr/>
        </p:nvSpPr>
        <p:spPr>
          <a:xfrm>
            <a:off x="725522" y="1981200"/>
            <a:ext cx="10515600" cy="23164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900" b="1" dirty="0"/>
              <a:t>THANK YOU</a:t>
            </a:r>
            <a:endParaRPr lang="en-IN" sz="3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5A4648-48A1-A8E7-5A3D-E990854735A0}"/>
              </a:ext>
            </a:extLst>
          </p:cNvPr>
          <p:cNvSpPr txBox="1"/>
          <p:nvPr/>
        </p:nvSpPr>
        <p:spPr>
          <a:xfrm>
            <a:off x="519436" y="80118"/>
            <a:ext cx="10740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BTP-RF IMAGING AND SENSING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262416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65FA00-7EC0-49FF-98E9-523A1C2EEFAC}">
  <we:reference id="4b785c87-866c-4bad-85d8-5d1ae467ac9a" version="3.19.0.0" store="EXCatalog" storeType="EXCatalog"/>
  <we:alternateReferences>
    <we:reference id="WA104381909" version="3.19.0.0" store="en-US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underover&gt;&lt;mo&gt;&amp;#x2211;&lt;/mo&gt;&lt;mrow&gt;&lt;mi&gt;j&lt;/mi&gt;&lt;mo&gt;=&lt;/mo&gt;&lt;mn&gt;1&lt;/mn&gt;&lt;/mrow&gt;&lt;mi&gt;N&lt;/mi&gt;&lt;/munderover&gt;&lt;/math&gt;\&quot;,\&quot;base64Image\&quot;:\&quot;iVBORw0KGgoAAAANSUhEUgAAAKUAAAEtCAYAAABpv6DbAAAACXBIWXMAAA7EAAAOxAGVKw4bAAAABGJhU0UAAAC1ey/VnQAADgxJREFUeNrtnXFoFVcWhw8iUpYgLSpaVCpFQhApQiyt6FIFkbCEEkJFF1saWRERKaEIZlExiywWV1xZxVLCIiWUgBaVtdSCiIgUWVxUVKxYJIiISMAtKipVcOduZnYn48y8ufPmvJm8+31w/tCXzPDO/WXm3HPPPVfEbZZ79tLCHng2qaB7d1neO2wHBJqWeZ4NevaDZ79mFMT6gu7d7tlRz25ZCvKGZ2sZOjcwT8DPPHtYQxQXFe493bOtKfc0fzA7PXubYXKT9gzCfE/p3nHCfOHZMoYF1tYQ5ddK9/0g5l57GA4IGK7xOp2m9BqPPiWnMxRgmJhh4rNd4b4rIvc4zlBAwIcZZsG3Fe67PnKPlQwFBByQbOmZzoLv+20kRJjEUEDAzZA4zqaI8nSB95zg2ZPQtb9jGCCgNSQMI5K3/AlHkjBblWbe6xkKCOgNCWPI/7/jKaLcW9B9/xy57psMBQT8EPO0+iBFlI8Liv3+FbrmZYYBAqKpoNmhz26I3nr4G5Hr7WQoICBcuXMz8tnGFFHW+2RbFbneIoYCAgYkuTzsN/6rOkmYi+u471DoOg8ZBghzNySOrpjP96WI8ps67ns/ZnIFIG0yNnE9scbPxK2H51mnbo9c5/cMBQR8LtmS4qel2PXwcLnaC3/SA/CK2Lak/FxniijvyOjKjA1nQr9/jmGAgEkydtWmvcbP304RZlcd993KUEBAd0gYIxl+fnOKKM9Y3De6eaydoYCAv1vOfqdIer1lW8b7hlNQ9xkGCHMvx+x3IEWU+zJeI7yT8RDDAAHvRASVdZvDAklfD3+txu+31hGLQpMTjg9tlwvPpQhzY43f3SQU9EIC4ZTMbsvfXZMiyis1fjdcDneaYYCAFhmbkllh+fsmJ3lX7NfDo9VInzMUELAq8gqdkOMaO1JEmTST78g5WwcHOBQSxj9yXmO6JG+XSNq3vTf0M7cYBggTTgV9Vsd1hsRuPfxK6PO/MQwQEK3OmVfHtRZJ9vXwNyOf/46hgIDtEeHUy8UUYXaHfm5tAXEsNCnhHGMRqynrJdt6+FABcSw0IZMjk5PuAq5p0jwjkr4ebp6K4TaDGxgKCFgVmSFPLui6uyV9PXxx5P9mMxQQ9wr9scDrviXp6+FfhP59jWGAMOGNWkXvsf4+RZjhkGE3wwAB0fTNBwVff5lk69hGy2j4H3tkbAMrjZTMjRqC1LovjFPChbWHle6xqYYo2dsNia/ujUr3qdVNYw1DAQFfRcTRoXivtG4aUxgKMJhtDtHNXpob/5O6afyToYCAgzEC0e5GEddN408MBRi6Jd8+mnqJ66bxHsPhNuZJaCrDk4pwTWrmj6JzUFNAuJvGCEPiLiYxfVbSG+hH7bqMpoiK7lKxRfSPz4NxwB8k/1naRe+/DnfT4LAmqNQky4QKLbgCAAAAAAAAAAAAAAAAAAAAAAAAAAC0MNtH+7Fxa0ubVZhpp21h1bb+Zn5aPmKAEWXV6GGAEWUVOcQgI8qqYXbo/cRAI8qqMZ/4ElFWkX4GG1FWjYmkiRBlFZnFaxxRVpF1yg491UQrK1/62YuTnl2V9BPLEGWdDCo61AzcjCb23VTPlnu22bMTnv0bURaXJvpZ+Wk50aFYvcP/Q3+KKOtjYYFOjLM+B31q3hC7Cnh6OitKQ69ybLTcUb/O8F/tiDLnq+e8oijvNHl8WQtziNRzRJkvTaQ5q3Qpvozj4xzCdF6UgeM0X+N9jvu3F1Hm45iiKJ/7EyuXGUKU1UsTuR5fvu7ZPUSZL030XFGYxxyPL1cjynxsVo4vNznu33OIMh8nFUVpEstzHPZtF6LMx1zRWdMN7ILjr/GriDIfHym/xnc57NseRNmYNEYe63Q40/EIUeZPY9wR3TI3V+PLQUSZn/eV00SuxpddiLI+tim/xnc66NOpKX/siDIjp5SFudRBn15ClPUxQzlNZOLLWY75tB9R6qcyKHMrJq5ElJZo9yba5lhqCFEW5EjNaiIT/Hc45M9hRFkM2tVEI/7s1AUGEeX4SROZ+PI1B/zYhyiLRbs3kQuD04koi2WWcprIhAhLHPAhoiyY1aL7tDRbCJp9G8XSiM1BVvWjXU10CheDLdrVRLzSIBfLldNErq6PQ8XTROZpPBU3gw3avYmMnRS39/dADsymM+0W1ptxM9iivenM9NVcgJvBFu1qonvEl2CLSRMNKwvzCPEl2LJAdFtYk7+EXPQpi9LkRt/HzWCLdjXRz364AJCZGZK9N2NeO4GbwRbtaiJjPbgZbDmiLEqTtG/DzWBDI9JEV4kvwZYFol9NtB83gy27GhBfbsDNYIt2msjsHZqPm8EGkybSPj/blNG14GqwQfukM2MDuBlsGWiAMDtxM9hgumBcakB8SZkbWKHdwjqILylzAyu0TzpztY011MkZ4kuoYppIu5qI9XGwphHVRBdwM9hyqAHC7MPNYIOZJV9tgDA7cDXYMF9oagAVZINwPApUEI2TzkyhMYXAkJuiTzoz+9CX4Faolw5hcxlUkP4CBDlIHAlFYsT0Ux2CNJXuFPxC4bRJvt5EJiadi/tAixNCEQZUiJ4cgtyG20CLuWKfGjrDxAa0MIlu2+OczaSILRCghu2JZvSsBFU2Cd0xoEKYU8xsU0CDuA20MPGg7XmPZqsuCXJQw7Y6yNRezsJtoEWe5v0kyEGNLrFvTNCP20ALs7ZtmyDnAFFQw/QUsj0B9x5xJGgyKPYJ8uW4DbRYJxRaQMXiSNsE+V+JI0ELkyC3LbSg8gdUOZZjYjMDt4EWeRLktFkBNZYKCXKoEOb1a1toQRwJakwU+269w8SRoMlfxL7FygLcBlrkKbTowW2gRZ6diIdwG2hhCi0uiP1ORFr1gRq2/cuJI0E9jrRNkHfhNtAiT8/yftwGWrSIfds+EuSgyhGh0AIqRK9QaAEV4n2xL9ilxcpYFgrbhwsjT6EFCfJXiSvpo3tcTk4KCfIiiHYqfopL8rFTSJAXRTSNdh6X2GPiHQotiovJo77aj1vsmCP2hRZf4jareHIdbslOnoJdEuTpxBWu0HDBgv1CgrxIZiWEQcy8M/KxkCAvmt6EDAVkjCNHhEKLoomrFTiFW2pDoYUOSaf0MvNWiCM5yyYbSUf7rcY16fQICXIN2iQ5z8shpynkKbTowW11PSVfEvYkYzZ+DQuFFhosSXlKMvNOwbZgl0KL7FzgD9se285oJkE+B7dlola3kE246FUWin2hBQny+l/bgX2Em8ZilgNtO+z247ZMzMroW944IcyM75ylIM8zU8wsyCyTxhFcNZZdQoJcg/mSfTWMwt4Qtp3ROOw9G6Ym0qbulJm3z1yxL7ToxW2pmBUt29N4mXmH4shLQgV5EZjFhh5fjM9zCPKlsDz7XwYsnXZVOOw9oMUPYcxbwywZPs0pxLA579ueHE4zAfsZh+2cn9Z5VIAAo3aHmKeYv2ysOHO6sPd1sS/YxfTN6cLeYwigkubszLuPwa+stbkoyCXEkZW1p+Lgcm2L2HdGwxpnThb2DjHwlbYjxJFY1WwncSRWNfvYFUHm6bCLMfNWI0/BLlaOOVPYu4vBHjfmRGFvnqOMsfKs6Qt78xTsYuVaX7PHkZcY5HFnTX1Q6gADzMy7SvQwuOPS7jXrmjcFuxT2VgqzWcmc+DWMjUtzankRAAAAAAAAAAAAAAAAAAAAAAASaBU6/EJFmOLZAc9eePYJ7oAyMZXoWzz7Rf5fDIwoPd7y7GvPHnv2xLNBz6bjFnW6Jf5kMudFabbp3o9xzF3PpqEbFdo9+1GSt004L8rDKc45iH4KZaaMNiOotZfHeVE+S3HOL+ioEMzeqh1+aPQSUdYnymfoqW7W+qGQaWS7zLMJfsh0E1EmczzFOd+hqbr4yrOjns2L+WwVokzGJGsfJLy6W9FVXUxJ+ewNRFlbmOb18th/ZR9HkA0BUQKiBECUgCgBECUgSgBECYgSUQKirCBmHdYsgZnm8Kahp0mgmzXZD9ELotRkkmfzPev0bI1ne33xXZPR0vs4p8xEL4hSkwNi15f7FlpBlNqYWr4W30zJ1CpfeM6eiIUoq8k7KQ5ZWeB9PpHxdXrDd4iy3DgzySHTECWiLIO2BGdcK/g+iBJRZmalNGajGKJElJnZm+CMbkSJKMvibIIzJjMhRpRlYNqExCXNL6MRRFkWyxIcsQ+NIMqy2J7gCNa7EWVpfB/jBPM6n4RGEGUZmKqgX2Oc8CP6QJRlsTjBCV+gD0RZFp8nOKETfSDKsvg2xgHmdT4RfSDKsngc44AzaANRlsWCBAfsULwny4yIMpUNCQ5YhigRZVkcTognJyBKRFkWIzFf/pTyPRElokykNeHLb0WUiLIsPk348ouYADP7LotvYr74E+V4EhBlKrdjvvhxNFEqE1wW5cyEL96LLkpleoooP232L590NMa76KKS42JsT7N/+UMJ8SSUy9kUUd5o9i9/PeZLH0YTpbJbaqenDjbrRHRKwhfegC4ahkm7rZDRdoumbnVYsudNh/1Xebd/jd/KaE+ocU13wpdtQyulPhTqsQPj3SlxbQBvoxUok8sxohzALVAWkxMe/x24BqoUTz4QlhahRAaaMUiG8c1dYRUHKsT8GEFexC2gRZv/xEuLDXfEiHINrgON2fRpGZvtT0qC34gI8jruAw3iEuFHY35ukdABAxrEwxixjcT83FAG4QIUwpMMT8roBMfMwKfhOtDihxhRvh363JwsdiX0mXmytuM20CQuVgxEZ2bj50P/f1/YqQgNwuzdeCa19y7PxlXQSFr9mfgtX6BP/Nf2gLBiAwXyH1gETfOzpXfIAAAAv3RFWHRNYXRoTUwAPG1hdGggeG1sbnM9Imh0dHA6Ly93d3cudzMub3JnLzE5OTgvTWF0aC9NYXRoTUwiPjxtc3R5bGUgbWF0aHNpemU9IjE2cHgiPjxtdW5kZXJvdmVyPjxtbz4mI3gyMjExOzwvbW8+PG1yb3c+PG1pPmo8L21pPjxtbz49PC9tbz48bW4+MTwvbW4+PC9tcm93PjxtaT5OPC9taT48L211bmRlcm92ZXI+PC9tc3R5bGU+PC9tYXRoPtWOPAUAAAAASUVORK5CYII=\&quot;,\&quot;slideId\&quot;:260,\&quot;accessibleText\&quot;:\&quot;sum from j equals 1 to N of\&quot;,\&quot;imageHeight\&quot;:48.16}]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e04149-8145-41f4-ab38-2b51e6a2c38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A694928C6184FA638D8834683875D" ma:contentTypeVersion="6" ma:contentTypeDescription="Create a new document." ma:contentTypeScope="" ma:versionID="e10fc50bd29f7463d92e6c4e03645c21">
  <xsd:schema xmlns:xsd="http://www.w3.org/2001/XMLSchema" xmlns:xs="http://www.w3.org/2001/XMLSchema" xmlns:p="http://schemas.microsoft.com/office/2006/metadata/properties" xmlns:ns3="b3e04149-8145-41f4-ab38-2b51e6a2c38d" targetNamespace="http://schemas.microsoft.com/office/2006/metadata/properties" ma:root="true" ma:fieldsID="af12d46b784e006421f82c6d2b0fe4b9" ns3:_="">
    <xsd:import namespace="b3e04149-8145-41f4-ab38-2b51e6a2c3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e04149-8145-41f4-ab38-2b51e6a2c3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28E5E0-FEDD-4A93-BF93-4347C5D7289F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b3e04149-8145-41f4-ab38-2b51e6a2c38d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28E711-329D-4BB1-8CA5-3E05FA364C97}">
  <ds:schemaRefs>
    <ds:schemaRef ds:uri="b3e04149-8145-41f4-ab38-2b51e6a2c3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C2CC6B0-D408-4492-8ACD-7E5DFD3484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3639</Words>
  <Application>Microsoft Office PowerPoint</Application>
  <PresentationFormat>Widescreen</PresentationFormat>
  <Paragraphs>336</Paragraphs>
  <Slides>21</Slides>
  <Notes>2</Notes>
  <HiddenSlides>0</HiddenSlides>
  <MMClips>5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 Math</vt:lpstr>
      <vt:lpstr>DM Sans</vt:lpstr>
      <vt:lpstr>Fira Code</vt:lpstr>
      <vt:lpstr>HelveticaNeue Regular</vt:lpstr>
      <vt:lpstr>Merriweather</vt:lpstr>
      <vt:lpstr>Roboto</vt:lpstr>
      <vt:lpstr>Wingdings</vt:lpstr>
      <vt:lpstr>Office Theme</vt:lpstr>
      <vt:lpstr>1_Office Theme</vt:lpstr>
      <vt:lpstr>PowerPoint Presentation</vt:lpstr>
      <vt:lpstr>B Tech Project END-Term Review Prof Amartansh Dubey</vt:lpstr>
      <vt:lpstr>What is Radio Tomographic Imaging (RTI)?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preliminary results should look like 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Sambhab Dalai</dc:creator>
  <cp:lastModifiedBy>Sambhab Dalai</cp:lastModifiedBy>
  <cp:revision>6</cp:revision>
  <dcterms:created xsi:type="dcterms:W3CDTF">2025-09-22T16:34:46Z</dcterms:created>
  <dcterms:modified xsi:type="dcterms:W3CDTF">2025-11-27T08:17:43Z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0x0101007BBA694928C6184FA638D8834683875D</vt:lpwstr>
  </property>
</Properties>
</file>